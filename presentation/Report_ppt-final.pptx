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69" r:id="rId2"/>
    <p:sldId id="257" r:id="rId3"/>
    <p:sldId id="258" r:id="rId4"/>
    <p:sldId id="270" r:id="rId5"/>
    <p:sldId id="262" r:id="rId6"/>
    <p:sldId id="256" r:id="rId7"/>
    <p:sldId id="277" r:id="rId8"/>
    <p:sldId id="278" r:id="rId9"/>
    <p:sldId id="279" r:id="rId10"/>
    <p:sldId id="261" r:id="rId11"/>
    <p:sldId id="283" r:id="rId12"/>
    <p:sldId id="282" r:id="rId13"/>
    <p:sldId id="264" r:id="rId14"/>
    <p:sldId id="274" r:id="rId15"/>
    <p:sldId id="280" r:id="rId16"/>
    <p:sldId id="265" r:id="rId17"/>
    <p:sldId id="266" r:id="rId18"/>
    <p:sldId id="267" r:id="rId19"/>
    <p:sldId id="275" r:id="rId20"/>
    <p:sldId id="271" r:id="rId21"/>
    <p:sldId id="272"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30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921" autoAdjust="0"/>
    <p:restoredTop sz="72422" autoAdjust="0"/>
  </p:normalViewPr>
  <p:slideViewPr>
    <p:cSldViewPr snapToGrid="0" snapToObjects="1">
      <p:cViewPr varScale="1">
        <p:scale>
          <a:sx n="125" d="100"/>
          <a:sy n="125" d="100"/>
        </p:scale>
        <p:origin x="8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5:14:10.255"/>
    </inkml:context>
    <inkml:brush xml:id="br0">
      <inkml:brushProperty name="width" value="0.35" units="cm"/>
      <inkml:brushProperty name="height" value="0.35" units="cm"/>
      <inkml:brushProperty name="color" value="#FFFFFF"/>
    </inkml:brush>
  </inkml:definitions>
  <inkml:trace contextRef="#ctx0" brushRef="#br0">0 15 24575,'157'-7'0,"-4"0"0,1162 7 0,-1304 0 0,0 1 0,-1 0 0,1 1 0,-1 0 0,18 6 0,-24-6 0,0-1 0,0 1 0,0-1 0,0 1 0,0 1 0,-1-1 0,1 0 0,-1 1 0,0 0 0,1 0 0,-1 0 0,-1 0 0,1 0 0,0 0 0,-1 1 0,1-1 0,1 5 0,-4-6 0,1-1 0,-1 1 0,0-1 0,1 1 0,-1-1 0,0 1 0,0 0 0,0-1 0,0 1 0,0-1 0,-1 1 0,1-1 0,0 1 0,-1-1 0,1 1 0,-1-1 0,1 1 0,-1-1 0,0 1 0,0-1 0,0 0 0,1 1 0,-1-1 0,-1 0 0,1 0 0,0 0 0,0 0 0,0 0 0,0 0 0,-1 0 0,1 0 0,-1 0 0,1 0 0,-3 0 0,-7 4 0,0 0 0,0-1 0,-19 4 0,16-4 0,-346 84 0,333-82 0,-37 16 0,2-2 0,40-16 0,0 0 0,0-2 0,0-1 0,-1-1 0,-26-2 0,-12 0 0,-35 9 0,63-3 0,-33 0 0,41-4 0,7-1 0,1 1 0,-1 0 0,0 1 0,1 1 0,-1 1 0,-29 9 0,-59 18 0,87-24 0,-1 0 0,1-2 0,-1 0 0,0-1 0,-25 0 0,30-2 0,-74 13 0,87-14-62,1 1 0,-1-1 0,1 0 0,0 0 0,-1 1 0,1-1 0,0 1 0,-1-1 0,1 1 0,0 0 0,0 0 0,-1-1-1,1 1 1,0 0 0,0 0 0,0 0 0,0 0 0,0 0 0,0 0 0,1 1 0,-2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5:14:26.909"/>
    </inkml:context>
    <inkml:brush xml:id="br0">
      <inkml:brushProperty name="width" value="0.35" units="cm"/>
      <inkml:brushProperty name="height" value="0.35" units="cm"/>
      <inkml:brushProperty name="color" value="#FFFFFF"/>
    </inkml:brush>
  </inkml:definitions>
  <inkml:trace contextRef="#ctx0" brushRef="#br0">11 0 24575,'-6'157'0,"2"-87"0,8 126 0,3-136 0,8 132 0,-16-177 0,0-6 0,1 0 0,0 0 0,0 0 0,1 0 0,0 0 0,0 0 0,1 0 0,0 0 0,1-1 0,0 1 0,0-1 0,6 9 0,-4-9 0,-1 0 0,1 0 0,-1 0 0,-1 1 0,1-1 0,-2 1 0,1 0 0,-1 0 0,0 0 0,-1 0 0,0 0 0,0 1 0,-2 10 0,2 7 0,0 1 0,7 35 0,-3-3 0,-5-43 0,1 0 0,6 28 0,-6-41 0,0 0 0,0 0 0,0 0 0,0 0 0,0 0 0,1 0 0,0 0 0,2 3 0,-3-5 0,1-1 0,-1 0 0,0 1 0,1-1 0,-1 0 0,1 0 0,0 0 0,-1 0 0,1 0 0,0-1 0,0 1 0,-1 0 0,1-1 0,0 0 0,0 1 0,0-1 0,0 0 0,3 0 0,167 0 0,-73-2 0,-58 2 0,67 2 0,-92-1 0,0 1 0,0 1 0,0 1 0,25 9 0,128 45 0,-140-54 0,1 0 0,0-2 0,-1-1 0,41-4 0,4 1 0,345 2 0,-412-1 0,1 1 0,-1-1 0,0-1 0,0 0 0,0 0 0,-1 0 0,1 0 0,12-8 0,2-2 0,25-20 0,-42 29 0,0-1 0,-1 0 0,0 0 0,0-1 0,0 1 0,-1-1 0,1 1 0,2-9 0,4-5 0,-7 13 0,-1 0 0,1 1 0,-1-1 0,0 0 0,0 0 0,0-1 0,-1 1 0,0 0 0,0 0 0,0 0 0,-1-6 0,-1 3 0,1-1 0,-1 0 0,0 0 0,-1 1 0,-6-14 0,3 10 0,0-1 0,1 0 0,0 0 0,1 0 0,0-1 0,2 0 0,-3-17 0,5-137 0,-1-5 0,-2 154 0,-2 1 0,0-1 0,0 1 0,-2 0 0,0 1 0,-18-30 0,18 34 0,-1 1 0,-1 1 0,0-1 0,-1 1 0,0 1 0,-1 0 0,0 0 0,0 1 0,-1 1 0,0 0 0,0 0 0,-1 1 0,0 1 0,-1 0 0,1 1 0,-1 0 0,0 1 0,0 0 0,-16-1 0,-78-20 0,7 1 0,-10-6 0,46 11 0,38 11 0,0 3 0,-1 0 0,1 1 0,-51 1 0,59 3 0,1-1 0,-1-1 0,1-1 0,-1 0 0,1-1 0,0-2 0,0 1 0,-27-14 0,34 15 0,-1 0 0,0 1 0,0 0 0,0 0 0,0 2 0,0-1 0,0 2 0,-1 0 0,1 0 0,-15 3 0,7 0 0,0 1 0,0 0 0,1 2 0,-1 0 0,-25 13 0,27-10 0,4-3 0,0 1 0,1 0 0,-14 11 0,23-14 0,0 0 0,0 0 0,0 1 0,0-1 0,1 1 0,0 0 0,0 0 0,0 0 0,1 0 0,0 1 0,0-1 0,0 1 0,0-1 0,-1 12 0,1 5 0,0 1 0,3 33 0,0-28 0,0-7 0,1 0 0,1 0 0,0 0 0,2 0 0,1-1 0,0 0 0,2 0 0,14 28 0,-9-21 0,32 58 0,-26-54 0,-12-18 0,0 0 0,1-1 0,1 0 0,19 20 0,-23-27 0,1 1 0,0-1 0,0 0 0,0 0 0,1-1 0,0 1 0,-1-1 0,1-1 0,1 0 0,-1 0 0,0 0 0,1-1 0,0 0 0,-1 0 0,1-1 0,0 0 0,15 0 0,21-2 0,1-2 0,78-15 0,87-13 0,-164 26 0,-33 4 0,-5 0 0,-1 1 0,1-1 0,-1-1 0,0 1 0,13-6 0,-19 7 0,0-1 0,0 1 0,1-1 0,-1 0 0,0 1 0,0-1 0,-1 0 0,1 0 0,0 0 0,0 0 0,0 0 0,0 0 0,-1 0 0,1 0 0,-1 0 0,1 0 0,0 0 0,-1 0 0,0-1 0,1 1 0,-1 0 0,0 0 0,0 0 0,1-1 0,-1 1 0,0 0 0,0 0 0,0-1 0,-1 1 0,1 0 0,0 0 0,0-1 0,-1 1 0,1 0 0,-1 0 0,1 0 0,-1 0 0,1-1 0,-1 1 0,0 0 0,0-1 0,-5-6 0,1 0 0,-1 0 0,0 0 0,-1 1 0,0 0 0,0 0 0,0 1 0,-16-11 0,5 6 0,-1-1 0,-38-15 0,40 21 0,0 0 0,-1 1 0,0 1 0,0 1 0,0 1 0,-1 0 0,1 1 0,0 1 0,-1 0 0,-29 6 0,40-4 0,0 0 0,0 1 0,0 0 0,1 0 0,-1 0 0,1 1 0,-13 9 0,-1 3 0,-21 21 0,31-27 0,11-10 0,-1 1 0,0-1 0,1 1 0,-1-1 0,1 1 0,-1-1 0,1 1 0,-1 0 0,1-1 0,0 1 0,-1 0 0,1-1 0,0 1 0,-1 0 0,1-1 0,0 1 0,0 0 0,-1 1 0,1-2 0,1 0 0,-1 1 0,0-1 0,0 0 0,0 1 0,1-1 0,-1 0 0,0 1 0,0-1 0,1 0 0,-1 1 0,0-1 0,0 0 0,1 0 0,-1 1 0,0-1 0,1 0 0,-1 0 0,0 0 0,1 1 0,-1-1 0,1 0 0,-1 0 0,1 0 0,33 3 0,-24-3 0,44 6 0,-1 3 0,55 15 0,-4 0 0,-100-23 0,34 7 0,1-2 0,0-1 0,42 0 0,-61-5 0,-9 0 0,-1 0 0,1-1 0,11-2 0,-17 2 0,-2 0 0,1 0 0,0-1 0,0 1 0,0-1 0,-1 0 0,1 0 0,-1-1 0,1 1 0,-1-1 0,5-4 0,4-5 0,0-1 0,0 0 0,-2 0 0,16-25 0,-14 18 0,-8 14 0,1-1 0,-1 0 0,0 0 0,-1 0 0,5-14 0,-7 19 0,-1 0 0,0 0 0,0 1 0,1-1 0,-1 0 0,0 0 0,-1 1 0,1-1 0,0 0 0,0 1 0,-1-1 0,1 0 0,-1 1 0,0-1 0,1 0 0,-1 1 0,0-1 0,0 1 0,0-1 0,0 1 0,0 0 0,0-1 0,0 1 0,-1 0 0,1 0 0,0-1 0,-1 1 0,1 0 0,-1 1 0,1-1 0,-1 0 0,-2-1 0,3 2 0,0-1 0,0 1 0,0 0 0,0-1 0,0 1 0,0 0 0,0-1 0,0 1 0,0 0 0,0 0 0,0 0 0,0 0 0,0 0 0,0 0 0,0 0 0,0 1 0,0-1 0,0 0 0,0 1 0,0-1 0,0 0 0,0 1 0,0-1 0,0 1 0,-2 1 0,1 0 0,0 0 0,0 0 0,1 0 0,-1 1 0,0-1 0,1 0 0,-1 1 0,1 0 0,-2 4 0,0 4 0,0 0 0,0 1 0,-2 20 0,4 52 0,1-5 0,-2-61 0,-2 1 0,-5 18 0,5-22 0,0 1 0,1 0 0,-1 23 0,3-23 0,3 71 0,-2-86 0,0 1 0,0-1 0,0 0 0,0 0 0,1 0 0,-1 0 0,0 1 0,1-1 0,-1 0 0,1 0 0,-1 0 0,1 0 0,0 0 0,-1 0 0,1 0 0,0-1 0,0 1 0,-1 0 0,1 0 0,0 0 0,0-1 0,1 2 0,0-2 0,0 1 0,0 0 0,0-1 0,0 0 0,0 1 0,0-1 0,0 0 0,0 0 0,0 0 0,0 0 0,0 0 0,2-1 0,7-2 0,1-1 0,-1 1 0,18-11 0,-19 9 0,3 0 0,0 0 0,0 1 0,1 0 0,-1 1 0,1 0 0,0 1 0,0 1 0,0 0 0,16 1 0,-27 0 0,-1 1 0,0-1 0,1 0 0,-1-1 0,1 1 0,-1 0 0,0-1 0,1 1 0,-1-1 0,0 0 0,0 1 0,0-1 0,1 0 0,-1-1 0,0 1 0,0 0 0,-1-1 0,1 1 0,0-1 0,3-2 0,-3 0 0,-1 1 0,1 0 0,-1-1 0,1 1 0,-1-1 0,0 1 0,0-1 0,-1 0 0,1 1 0,-1-1 0,0 0 0,0-6 0,-1-41 0,0 21 0,0 0 0,3 0 0,5-38 0,-2 31 0,-2 1 0,-1-1 0,-4-45 0,0 8 0,2 30-1365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5:14:30.892"/>
    </inkml:context>
    <inkml:brush xml:id="br0">
      <inkml:brushProperty name="width" value="0.35" units="cm"/>
      <inkml:brushProperty name="height" value="0.35" units="cm"/>
      <inkml:brushProperty name="color" value="#FFFFFF"/>
    </inkml:brush>
  </inkml:definitions>
  <inkml:trace contextRef="#ctx0" brushRef="#br0">0 0 24575,'160'8'0,"6"-1"0,-130-8 0,32 0 0,-62 1 0,1 1 0,-1 0 0,0 0 0,0 1 0,1 0 0,-1 0 0,0 0 0,6 4 0,-8-3 0,0 0 0,0 0 0,0 1 0,0-1 0,-1 1 0,1 0 0,-1 0 0,3 6 0,-3-6 0,0 0 0,0 0 0,0 0 0,1 0 0,-1 0 0,1-1 0,0 1 0,0-1 0,8 5 0,-9-7 0,82 45 0,-82-44 0,0 0 0,0 1 0,0-1 0,-1 1 0,1-1 0,-1 1 0,0 0 0,0 0 0,0 0 0,0 0 0,0 0 0,-1 0 0,0 1 0,1-1 0,-1 1 0,0-1 0,1 7 0,-1 4 0,0 0 0,-1 0 0,-2 19 0,0 2 0,2-27 0,-2 0 0,1 0 0,-1-1 0,0 1 0,-6 14 0,5-14 0,0 1 0,1-1 0,-1 1 0,-1 14 0,-2 41 0,-2 35 0,7-84 0,-1 0 0,0 0 0,-1 0 0,-1-1 0,-6 17 0,4-13 0,1-1 0,-5 35 0,-6 37 0,0-1 0,2 30 0,7-76 0,4-28 0,1 0 0,-1 19 0,2-19 0,0 0 0,-4 16 0,2-15 0,1-1 0,-1 17 0,4 33 0,-2 49 0,-1-100-1365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5:14:42.52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5:14:43.79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5:14:45.42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6504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943DA-A0B4-585B-3C48-F696003356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25A41-93E9-61C3-FAD8-952EBAB2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0B328-38E3-184C-0E66-0D5F4DD89ECC}"/>
              </a:ext>
            </a:extLst>
          </p:cNvPr>
          <p:cNvSpPr>
            <a:spLocks noGrp="1"/>
          </p:cNvSpPr>
          <p:nvPr>
            <p:ph type="body" idx="1"/>
          </p:nvPr>
        </p:nvSpPr>
        <p:spPr/>
        <p:txBody>
          <a:bodyPr/>
          <a:lstStyle/>
          <a:p>
            <a:endParaRPr lang="en-AE"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9D2682B-11AC-53CA-B99B-E894E204698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94666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6D0ED-6D5C-CC5B-ADD2-8C06FADDF6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81DFE-0444-1715-E56F-2185BCF10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EE8AE8-AE92-D641-1591-67B0739394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B1650E-ABFA-83C1-B325-34895C96BAC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845563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feature layers from the codebase, used as the basis for the ablation study. Each ablation recipe (base6, diffusion9, with_pollutants, base+pollutants) adds layers cumulatively so we can isolate how much predictive value each layer contributes on its own. Be ready to clarify: layer 4 lists pm25_lag1 through lag12 plus two rolling means - if asked why that's labeled (7) rather than (14), clarify which specific lag subset and rolling windows are actually used in the deployed recipe.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addresses 'real-time analytics features' from the demo rubric criterion even outside the live demo itself. Be ready to explain why latency grows with load - likely Kafka consumer group rebalancing and model inference queueing, not a fundamental architecture flaw.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5F149-9ECA-64A0-931F-486A41D09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2A4ED-17F4-B522-49E5-2B0D7A27AF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0025B-F4B0-E048-8FB2-8C09B4E82273}"/>
              </a:ext>
            </a:extLst>
          </p:cNvPr>
          <p:cNvSpPr>
            <a:spLocks noGrp="1"/>
          </p:cNvSpPr>
          <p:nvPr>
            <p:ph type="body" idx="1"/>
          </p:nvPr>
        </p:nvSpPr>
        <p:spPr/>
        <p:txBody>
          <a:bodyPr/>
          <a:lstStyle/>
          <a:p>
            <a:r>
              <a:rPr lang="en-US" dirty="0"/>
              <a:t>This addresses 'real-time analytics features' from the demo rubric criterion even outside the live demo itself. Be ready to explain why latency grows with load - likely Kafka consumer group rebalancing and model inference queueing, not a fundamental architecture flaw.</a:t>
            </a:r>
          </a:p>
        </p:txBody>
      </p:sp>
      <p:sp>
        <p:nvSpPr>
          <p:cNvPr id="4" name="Slide Number Placeholder 3">
            <a:extLst>
              <a:ext uri="{FF2B5EF4-FFF2-40B4-BE49-F238E27FC236}">
                <a16:creationId xmlns:a16="http://schemas.microsoft.com/office/drawing/2014/main" id="{4F23ABB6-DA7D-6747-9F6A-99C57C8A7E8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66202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point 3 (LSTM underperforming) is the most likely follow-up question. Be ready: with only a 12-hour lookback and explicit lag/rolling features already in the input, the LSTM's recurrence may be redundant with information already present in the engineered features.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critical self-awareness, which the rubric rewards under Technical Content. If asked directly about STGNN reliability or model limitations beyond what's shown here, acknowledge openly that further validation across more stations and longer time spans would strengthen confidence in the findings.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single sentence takeaway: physically informed feature engineering is a practical, interpretable alternative to increasingly complex forecasting architectures. Then open the floor for Q&amp;A.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5.xml"/><Relationship Id="rId3" Type="http://schemas.openxmlformats.org/officeDocument/2006/relationships/image" Target="../media/image1.png"/><Relationship Id="rId7" Type="http://schemas.openxmlformats.org/officeDocument/2006/relationships/customXml" Target="../ink/ink2.xml"/><Relationship Id="rId12"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customXml" Target="../ink/ink3.xml"/><Relationship Id="rId14" Type="http://schemas.openxmlformats.org/officeDocument/2006/relationships/customXml" Target="../ink/ink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emro.who.int/ceha/ceha-news/air-pollution-deaths.html" TargetMode="External"/><Relationship Id="rId2" Type="http://schemas.openxmlformats.org/officeDocument/2006/relationships/hyperlink" Target="https://doi.org/10.1038/s44407-026-00052-x"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aqs.epa.gov/aqsweb/documents/codetables/aqi_breakpoint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1.png" descr="University of Ontario Institute of Technology logo">
            <a:extLst>
              <a:ext uri="{FF2B5EF4-FFF2-40B4-BE49-F238E27FC236}">
                <a16:creationId xmlns:a16="http://schemas.microsoft.com/office/drawing/2014/main" id="{80EA19B4-82FD-94E5-9A32-BB44520B6E61}"/>
              </a:ext>
            </a:extLst>
          </p:cNvPr>
          <p:cNvPicPr/>
          <p:nvPr/>
        </p:nvPicPr>
        <p:blipFill>
          <a:blip r:embed="rId2"/>
          <a:srcRect/>
          <a:stretch>
            <a:fillRect/>
          </a:stretch>
        </p:blipFill>
        <p:spPr>
          <a:xfrm>
            <a:off x="521328" y="171450"/>
            <a:ext cx="1688472" cy="514350"/>
          </a:xfrm>
          <a:prstGeom prst="rect">
            <a:avLst/>
          </a:prstGeom>
          <a:ln/>
        </p:spPr>
      </p:pic>
      <p:sp>
        <p:nvSpPr>
          <p:cNvPr id="9" name="Text 6"/>
          <p:cNvSpPr/>
          <p:nvPr/>
        </p:nvSpPr>
        <p:spPr>
          <a:xfrm>
            <a:off x="653983" y="1443164"/>
            <a:ext cx="4716712" cy="1289938"/>
          </a:xfrm>
          <a:prstGeom prst="rect">
            <a:avLst/>
          </a:prstGeom>
          <a:noFill/>
          <a:ln/>
        </p:spPr>
        <p:txBody>
          <a:bodyPr wrap="square" lIns="0" tIns="0" rIns="0" bIns="0" rtlCol="0" anchor="ctr"/>
          <a:lstStyle/>
          <a:p>
            <a:pPr algn="ctr"/>
            <a:r>
              <a:rPr lang="en-US" sz="2100" b="1" dirty="0">
                <a:latin typeface="Cambria" pitchFamily="34" charset="0"/>
                <a:ea typeface="Cambria" pitchFamily="34" charset="-122"/>
                <a:cs typeface="Cambria" pitchFamily="34" charset="-120"/>
              </a:rPr>
              <a:t>Real-Time </a:t>
            </a:r>
            <a:r>
              <a:rPr lang="en-US" sz="2100" b="1" dirty="0">
                <a:latin typeface="Cambria" pitchFamily="34" charset="0"/>
                <a:ea typeface="Cambria" pitchFamily="34" charset="-122"/>
              </a:rPr>
              <a:t>Air Quality Forecasting Using Wind-Aware Diffusion Features from IoT Streams</a:t>
            </a:r>
          </a:p>
          <a:p>
            <a:endParaRPr lang="en-US" sz="2100" dirty="0"/>
          </a:p>
        </p:txBody>
      </p:sp>
      <p:sp>
        <p:nvSpPr>
          <p:cNvPr id="12" name="Shape 9"/>
          <p:cNvSpPr/>
          <p:nvPr/>
        </p:nvSpPr>
        <p:spPr>
          <a:xfrm>
            <a:off x="805073" y="2704439"/>
            <a:ext cx="4377192" cy="0"/>
          </a:xfrm>
          <a:prstGeom prst="line">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a:lstStyle/>
          <a:p>
            <a:endParaRPr lang="en-AE" sz="1350" dirty="0">
              <a:ln w="57150">
                <a:solidFill>
                  <a:schemeClr val="tx1"/>
                </a:solidFill>
              </a:ln>
            </a:endParaRPr>
          </a:p>
        </p:txBody>
      </p:sp>
      <p:sp>
        <p:nvSpPr>
          <p:cNvPr id="13" name="Text 10"/>
          <p:cNvSpPr/>
          <p:nvPr/>
        </p:nvSpPr>
        <p:spPr>
          <a:xfrm>
            <a:off x="1657849" y="2954218"/>
            <a:ext cx="2850542" cy="1184564"/>
          </a:xfrm>
          <a:prstGeom prst="rect">
            <a:avLst/>
          </a:prstGeom>
          <a:noFill/>
          <a:ln/>
        </p:spPr>
        <p:txBody>
          <a:bodyPr wrap="square" lIns="0" tIns="0" rIns="0" bIns="0" rtlCol="0" anchor="ctr"/>
          <a:lstStyle/>
          <a:p>
            <a:pPr algn="ctr"/>
            <a:r>
              <a:rPr lang="en-US" sz="1500" b="1" dirty="0">
                <a:solidFill>
                  <a:schemeClr val="accent1">
                    <a:lumMod val="75000"/>
                  </a:schemeClr>
                </a:solidFill>
                <a:latin typeface="Calibri" pitchFamily="34" charset="0"/>
                <a:ea typeface="Calibri" pitchFamily="34" charset="-122"/>
                <a:cs typeface="Calibri" pitchFamily="34" charset="-120"/>
              </a:rPr>
              <a:t>Presenters: </a:t>
            </a:r>
          </a:p>
          <a:p>
            <a:pPr algn="ctr"/>
            <a:r>
              <a:rPr lang="en-US" sz="1500" dirty="0">
                <a:latin typeface="Calibri" pitchFamily="34" charset="0"/>
                <a:ea typeface="Calibri" pitchFamily="34" charset="-122"/>
                <a:cs typeface="Calibri" pitchFamily="34" charset="-120"/>
              </a:rPr>
              <a:t>Reza </a:t>
            </a:r>
            <a:r>
              <a:rPr lang="en-US" sz="1500" dirty="0" err="1">
                <a:latin typeface="Calibri" pitchFamily="34" charset="0"/>
                <a:ea typeface="Calibri" pitchFamily="34" charset="-122"/>
                <a:cs typeface="Calibri" pitchFamily="34" charset="-120"/>
              </a:rPr>
              <a:t>Alavian</a:t>
            </a:r>
            <a:r>
              <a:rPr lang="en-US" sz="1500" dirty="0">
                <a:latin typeface="Calibri" pitchFamily="34" charset="0"/>
                <a:ea typeface="Calibri" pitchFamily="34" charset="-122"/>
                <a:cs typeface="Calibri" pitchFamily="34" charset="-120"/>
              </a:rPr>
              <a:t> – 100981000</a:t>
            </a:r>
          </a:p>
          <a:p>
            <a:pPr algn="ctr"/>
            <a:r>
              <a:rPr lang="en-US" sz="1500" dirty="0">
                <a:latin typeface="Calibri" pitchFamily="34" charset="0"/>
                <a:ea typeface="Calibri" pitchFamily="34" charset="-122"/>
                <a:cs typeface="Calibri" pitchFamily="34" charset="-120"/>
              </a:rPr>
              <a:t>Kiran Ahmed Quidwai – 100999782</a:t>
            </a:r>
          </a:p>
          <a:p>
            <a:pPr algn="ctr"/>
            <a:r>
              <a:rPr lang="en-US" sz="1500" dirty="0">
                <a:latin typeface="Calibri" pitchFamily="34" charset="0"/>
                <a:ea typeface="Calibri" pitchFamily="34" charset="-122"/>
                <a:cs typeface="Calibri" pitchFamily="34" charset="-120"/>
              </a:rPr>
              <a:t>Emmanuel Omole – 101004432</a:t>
            </a:r>
          </a:p>
        </p:txBody>
      </p:sp>
      <p:pic>
        <p:nvPicPr>
          <p:cNvPr id="2" name="Picture 1">
            <a:extLst>
              <a:ext uri="{FF2B5EF4-FFF2-40B4-BE49-F238E27FC236}">
                <a16:creationId xmlns:a16="http://schemas.microsoft.com/office/drawing/2014/main" id="{875859FA-6D58-918A-AB13-6AA20188BA2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rcRect l="52874" t="8220" r="3012" b="9604"/>
          <a:stretch>
            <a:fillRect/>
          </a:stretch>
        </p:blipFill>
        <p:spPr>
          <a:xfrm>
            <a:off x="5370695" y="447261"/>
            <a:ext cx="3653635" cy="4263887"/>
          </a:xfrm>
          <a:prstGeom prst="rect">
            <a:avLst/>
          </a:prstGeom>
        </p:spPr>
      </p:pic>
    </p:spTree>
    <p:extLst>
      <p:ext uri="{BB962C8B-B14F-4D97-AF65-F5344CB8AC3E}">
        <p14:creationId xmlns:p14="http://schemas.microsoft.com/office/powerpoint/2010/main" val="1586426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F"/>
        </a:solidFill>
        <a:effectLst/>
      </p:bgPr>
    </p:bg>
    <p:spTree>
      <p:nvGrpSpPr>
        <p:cNvPr id="1" name=""/>
        <p:cNvGrpSpPr/>
        <p:nvPr/>
      </p:nvGrpSpPr>
      <p:grpSpPr>
        <a:xfrm>
          <a:off x="0" y="0"/>
          <a:ext cx="0" cy="0"/>
          <a:chOff x="0" y="0"/>
          <a:chExt cx="0" cy="0"/>
        </a:xfrm>
      </p:grpSpPr>
      <p:sp>
        <p:nvSpPr>
          <p:cNvPr id="5" name="Shape 3"/>
          <p:cNvSpPr/>
          <p:nvPr/>
        </p:nvSpPr>
        <p:spPr>
          <a:xfrm>
            <a:off x="320040" y="1143000"/>
            <a:ext cx="2560320" cy="1051560"/>
          </a:xfrm>
          <a:prstGeom prst="roundRect">
            <a:avLst>
              <a:gd name="adj" fmla="val 10435"/>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Text 4"/>
          <p:cNvSpPr/>
          <p:nvPr/>
        </p:nvSpPr>
        <p:spPr>
          <a:xfrm>
            <a:off x="411480" y="1188720"/>
            <a:ext cx="1005840" cy="777240"/>
          </a:xfrm>
          <a:prstGeom prst="rect">
            <a:avLst/>
          </a:prstGeom>
          <a:noFill/>
          <a:ln/>
        </p:spPr>
        <p:txBody>
          <a:bodyPr wrap="square" rtlCol="0" anchor="ctr"/>
          <a:lstStyle/>
          <a:p>
            <a:pPr marL="0" indent="0" algn="ctr">
              <a:buNone/>
            </a:pPr>
            <a:r>
              <a:rPr lang="en-US" sz="3800" b="1" dirty="0">
                <a:solidFill>
                  <a:srgbClr val="1C4E80"/>
                </a:solidFill>
                <a:latin typeface="Calibri" pitchFamily="34" charset="0"/>
                <a:ea typeface="Calibri" pitchFamily="34" charset="-122"/>
                <a:cs typeface="Calibri" pitchFamily="34" charset="-120"/>
              </a:rPr>
              <a:t>7M</a:t>
            </a:r>
            <a:endParaRPr lang="en-US" sz="3800" dirty="0"/>
          </a:p>
        </p:txBody>
      </p:sp>
      <p:sp>
        <p:nvSpPr>
          <p:cNvPr id="7" name="Text 5"/>
          <p:cNvSpPr/>
          <p:nvPr/>
        </p:nvSpPr>
        <p:spPr>
          <a:xfrm>
            <a:off x="1463040" y="1207008"/>
            <a:ext cx="1325880" cy="7498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premature deaths/yr from air pollution (WHO)</a:t>
            </a:r>
            <a:endParaRPr lang="en-US" sz="1100" dirty="0"/>
          </a:p>
        </p:txBody>
      </p:sp>
      <p:sp>
        <p:nvSpPr>
          <p:cNvPr id="8" name="Shape 6"/>
          <p:cNvSpPr/>
          <p:nvPr/>
        </p:nvSpPr>
        <p:spPr>
          <a:xfrm>
            <a:off x="320040" y="2377440"/>
            <a:ext cx="2560320" cy="1051560"/>
          </a:xfrm>
          <a:prstGeom prst="roundRect">
            <a:avLst>
              <a:gd name="adj" fmla="val 10435"/>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9" name="Text 7"/>
          <p:cNvSpPr/>
          <p:nvPr/>
        </p:nvSpPr>
        <p:spPr>
          <a:xfrm>
            <a:off x="411480" y="2423160"/>
            <a:ext cx="1005840" cy="777240"/>
          </a:xfrm>
          <a:prstGeom prst="rect">
            <a:avLst/>
          </a:prstGeom>
          <a:noFill/>
          <a:ln/>
        </p:spPr>
        <p:txBody>
          <a:bodyPr wrap="square" rtlCol="0" anchor="ctr"/>
          <a:lstStyle/>
          <a:p>
            <a:pPr marL="0" indent="0" algn="ctr">
              <a:buNone/>
            </a:pPr>
            <a:r>
              <a:rPr lang="en-US" sz="3800" b="1" dirty="0">
                <a:solidFill>
                  <a:srgbClr val="1C4E80"/>
                </a:solidFill>
                <a:latin typeface="Calibri" pitchFamily="34" charset="0"/>
                <a:ea typeface="Calibri" pitchFamily="34" charset="-122"/>
                <a:cs typeface="Calibri" pitchFamily="34" charset="-120"/>
              </a:rPr>
              <a:t>3</a:t>
            </a:r>
            <a:endParaRPr lang="en-US" sz="3800" dirty="0"/>
          </a:p>
        </p:txBody>
      </p:sp>
      <p:sp>
        <p:nvSpPr>
          <p:cNvPr id="10" name="Text 8"/>
          <p:cNvSpPr/>
          <p:nvPr/>
        </p:nvSpPr>
        <p:spPr>
          <a:xfrm>
            <a:off x="1463040" y="2441448"/>
            <a:ext cx="1325880" cy="7498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Toronto monitoring</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stations used in this study</a:t>
            </a:r>
            <a:endParaRPr lang="en-US" sz="1100" dirty="0"/>
          </a:p>
        </p:txBody>
      </p:sp>
      <p:sp>
        <p:nvSpPr>
          <p:cNvPr id="11" name="Shape 9"/>
          <p:cNvSpPr/>
          <p:nvPr/>
        </p:nvSpPr>
        <p:spPr>
          <a:xfrm>
            <a:off x="320040" y="3611880"/>
            <a:ext cx="2560320" cy="1051560"/>
          </a:xfrm>
          <a:prstGeom prst="roundRect">
            <a:avLst>
              <a:gd name="adj" fmla="val 10435"/>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2" name="Text 10"/>
          <p:cNvSpPr/>
          <p:nvPr/>
        </p:nvSpPr>
        <p:spPr>
          <a:xfrm>
            <a:off x="411480" y="3657600"/>
            <a:ext cx="1005840" cy="777240"/>
          </a:xfrm>
          <a:prstGeom prst="rect">
            <a:avLst/>
          </a:prstGeom>
          <a:noFill/>
          <a:ln/>
        </p:spPr>
        <p:txBody>
          <a:bodyPr wrap="square" rtlCol="0" anchor="ctr"/>
          <a:lstStyle/>
          <a:p>
            <a:pPr marL="0" indent="0" algn="ctr">
              <a:buNone/>
            </a:pPr>
            <a:r>
              <a:rPr lang="en-US" sz="3800" b="1" dirty="0">
                <a:solidFill>
                  <a:srgbClr val="1C4E80"/>
                </a:solidFill>
                <a:latin typeface="Calibri" pitchFamily="34" charset="0"/>
                <a:ea typeface="Calibri" pitchFamily="34" charset="-122"/>
                <a:cs typeface="Calibri" pitchFamily="34" charset="-120"/>
              </a:rPr>
              <a:t>3</a:t>
            </a:r>
            <a:endParaRPr lang="en-US" sz="3800" dirty="0"/>
          </a:p>
        </p:txBody>
      </p:sp>
      <p:sp>
        <p:nvSpPr>
          <p:cNvPr id="13" name="Text 11"/>
          <p:cNvSpPr/>
          <p:nvPr/>
        </p:nvSpPr>
        <p:spPr>
          <a:xfrm>
            <a:off x="1463040" y="3675888"/>
            <a:ext cx="1325880" cy="74980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forecast horizons:</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1h, 2h, and 3h ahead</a:t>
            </a:r>
            <a:endParaRPr lang="en-US" sz="1100" dirty="0"/>
          </a:p>
        </p:txBody>
      </p:sp>
      <p:sp>
        <p:nvSpPr>
          <p:cNvPr id="14" name="Shape 12"/>
          <p:cNvSpPr/>
          <p:nvPr/>
        </p:nvSpPr>
        <p:spPr>
          <a:xfrm>
            <a:off x="3200400" y="1143000"/>
            <a:ext cx="5623560" cy="3611880"/>
          </a:xfrm>
          <a:prstGeom prst="roundRect">
            <a:avLst>
              <a:gd name="adj" fmla="val 3038"/>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5" name="Text 13"/>
          <p:cNvSpPr/>
          <p:nvPr/>
        </p:nvSpPr>
        <p:spPr>
          <a:xfrm>
            <a:off x="3383280" y="1234440"/>
            <a:ext cx="5212080" cy="365760"/>
          </a:xfrm>
          <a:prstGeom prst="rect">
            <a:avLst/>
          </a:prstGeom>
          <a:noFill/>
          <a:ln/>
        </p:spPr>
        <p:txBody>
          <a:bodyPr wrap="square" rtlCol="0" anchor="ctr"/>
          <a:lstStyle/>
          <a:p>
            <a:pPr marL="0" indent="0">
              <a:buNone/>
            </a:pPr>
            <a:r>
              <a:rPr lang="en-US" sz="1600" b="1" dirty="0">
                <a:solidFill>
                  <a:srgbClr val="1C4E80"/>
                </a:solidFill>
                <a:latin typeface="Calibri" pitchFamily="34" charset="0"/>
                <a:ea typeface="Calibri" pitchFamily="34" charset="-122"/>
                <a:cs typeface="Calibri" pitchFamily="34" charset="-120"/>
              </a:rPr>
              <a:t>The Problem</a:t>
            </a:r>
            <a:endParaRPr lang="en-US" sz="1600" dirty="0"/>
          </a:p>
        </p:txBody>
      </p:sp>
      <p:sp>
        <p:nvSpPr>
          <p:cNvPr id="16" name="Shape 14"/>
          <p:cNvSpPr/>
          <p:nvPr/>
        </p:nvSpPr>
        <p:spPr>
          <a:xfrm>
            <a:off x="3383280" y="1691640"/>
            <a:ext cx="402336" cy="402336"/>
          </a:xfrm>
          <a:prstGeom prst="ellipse">
            <a:avLst/>
          </a:prstGeom>
          <a:solidFill>
            <a:srgbClr val="00A8E8"/>
          </a:solidFill>
          <a:ln w="12700">
            <a:solidFill>
              <a:srgbClr val="00A8E8"/>
            </a:solidFill>
            <a:prstDash val="solid"/>
          </a:ln>
        </p:spPr>
        <p:txBody>
          <a:bodyPr/>
          <a:lstStyle/>
          <a:p>
            <a:endParaRPr lang="en-AE"/>
          </a:p>
        </p:txBody>
      </p:sp>
      <p:sp>
        <p:nvSpPr>
          <p:cNvPr id="17" name="Text 15"/>
          <p:cNvSpPr/>
          <p:nvPr/>
        </p:nvSpPr>
        <p:spPr>
          <a:xfrm>
            <a:off x="3383280" y="169164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6"/>
          <p:cNvSpPr/>
          <p:nvPr/>
        </p:nvSpPr>
        <p:spPr>
          <a:xfrm>
            <a:off x="3840480" y="1787121"/>
            <a:ext cx="4754880" cy="2788920"/>
          </a:xfrm>
          <a:prstGeom prst="rect">
            <a:avLst/>
          </a:prstGeom>
          <a:noFill/>
          <a:ln/>
        </p:spPr>
        <p:txBody>
          <a:bodyPr wrap="square" rtlCol="0" anchor="ctr"/>
          <a:lstStyle/>
          <a:p>
            <a:r>
              <a:rPr lang="en-AE" sz="1200" dirty="0">
                <a:solidFill>
                  <a:srgbClr val="1E293B"/>
                </a:solidFill>
                <a:latin typeface="Calibri" pitchFamily="34" charset="0"/>
                <a:ea typeface="Calibri" pitchFamily="34" charset="-122"/>
                <a:cs typeface="Calibri" pitchFamily="34" charset="-120"/>
              </a:rPr>
              <a:t>PM2.5 depends on weather, emissions, wind transport, and station location.</a:t>
            </a:r>
          </a:p>
          <a:p>
            <a:endParaRPr lang="en-AE" sz="1600" dirty="0">
              <a:solidFill>
                <a:srgbClr val="1E293B"/>
              </a:solidFill>
              <a:latin typeface="Calibri" pitchFamily="34" charset="0"/>
              <a:ea typeface="Calibri" pitchFamily="34" charset="-122"/>
              <a:cs typeface="Calibri" pitchFamily="34" charset="-120"/>
            </a:endParaRPr>
          </a:p>
          <a:p>
            <a:r>
              <a:rPr lang="en-AE" sz="1200" dirty="0">
                <a:solidFill>
                  <a:srgbClr val="1E293B"/>
                </a:solidFill>
                <a:latin typeface="Calibri" pitchFamily="34" charset="0"/>
                <a:ea typeface="Calibri" pitchFamily="34" charset="-122"/>
                <a:cs typeface="Calibri" pitchFamily="34" charset="-120"/>
              </a:rPr>
              <a:t>Traditional models may miss wind-driven movement between monitoring stations.</a:t>
            </a:r>
          </a:p>
          <a:p>
            <a:endParaRPr lang="en-AE" sz="1600" dirty="0">
              <a:solidFill>
                <a:srgbClr val="1E293B"/>
              </a:solidFill>
              <a:latin typeface="Calibri" pitchFamily="34" charset="0"/>
              <a:ea typeface="Calibri" pitchFamily="34" charset="-122"/>
              <a:cs typeface="Calibri" pitchFamily="34" charset="-120"/>
            </a:endParaRPr>
          </a:p>
          <a:p>
            <a:r>
              <a:rPr lang="en-AE" sz="1200" dirty="0">
                <a:solidFill>
                  <a:srgbClr val="1E293B"/>
                </a:solidFill>
                <a:latin typeface="Calibri" pitchFamily="34" charset="0"/>
                <a:ea typeface="Calibri" pitchFamily="34" charset="-122"/>
                <a:cs typeface="Calibri" pitchFamily="34" charset="-120"/>
              </a:rPr>
              <a:t>Advanced GNN/Transformer models can model spatial transport, but they are complex and computationally heavy.</a:t>
            </a:r>
          </a:p>
          <a:p>
            <a:endParaRPr lang="en-AE" dirty="0">
              <a:solidFill>
                <a:srgbClr val="1E293B"/>
              </a:solidFill>
              <a:latin typeface="Calibri" pitchFamily="34" charset="0"/>
              <a:ea typeface="Calibri" pitchFamily="34" charset="-122"/>
              <a:cs typeface="Calibri" pitchFamily="34" charset="-120"/>
            </a:endParaRPr>
          </a:p>
          <a:p>
            <a:r>
              <a:rPr lang="en-AE" sz="1200" dirty="0">
                <a:solidFill>
                  <a:srgbClr val="1E293B"/>
                </a:solidFill>
                <a:latin typeface="Calibri" pitchFamily="34" charset="0"/>
                <a:ea typeface="Calibri" pitchFamily="34" charset="-122"/>
                <a:cs typeface="Calibri" pitchFamily="34" charset="-120"/>
              </a:rPr>
              <a:t>It is unclear whether accuracy gains come from model complexity or from the physical transport information.</a:t>
            </a:r>
          </a:p>
          <a:p>
            <a:endParaRPr lang="en-AE" sz="2000" dirty="0">
              <a:solidFill>
                <a:srgbClr val="1E293B"/>
              </a:solidFill>
              <a:latin typeface="Calibri" pitchFamily="34" charset="0"/>
              <a:ea typeface="Calibri" pitchFamily="34" charset="-122"/>
              <a:cs typeface="Calibri" pitchFamily="34" charset="-120"/>
            </a:endParaRPr>
          </a:p>
          <a:p>
            <a:r>
              <a:rPr lang="en-AE" sz="1200" dirty="0">
                <a:solidFill>
                  <a:srgbClr val="1E293B"/>
                </a:solidFill>
                <a:latin typeface="Calibri" pitchFamily="34" charset="0"/>
                <a:ea typeface="Calibri" pitchFamily="34" charset="-122"/>
                <a:cs typeface="Calibri" pitchFamily="34" charset="-120"/>
              </a:rPr>
              <a:t>This study tests lightweight wind-aware diffusion features as an interpretable alternative.</a:t>
            </a:r>
            <a:endParaRPr lang="en-US" sz="1200" dirty="0">
              <a:solidFill>
                <a:srgbClr val="1E293B"/>
              </a:solidFill>
              <a:latin typeface="Calibri" pitchFamily="34" charset="0"/>
              <a:ea typeface="Calibri" pitchFamily="34" charset="-122"/>
              <a:cs typeface="Calibri" pitchFamily="34" charset="-120"/>
            </a:endParaRPr>
          </a:p>
        </p:txBody>
      </p:sp>
      <p:sp>
        <p:nvSpPr>
          <p:cNvPr id="19" name="Shape 17"/>
          <p:cNvSpPr/>
          <p:nvPr/>
        </p:nvSpPr>
        <p:spPr>
          <a:xfrm>
            <a:off x="3383280" y="2322576"/>
            <a:ext cx="402336" cy="402336"/>
          </a:xfrm>
          <a:prstGeom prst="ellipse">
            <a:avLst/>
          </a:prstGeom>
          <a:solidFill>
            <a:srgbClr val="00A8E8"/>
          </a:solidFill>
          <a:ln w="12700">
            <a:solidFill>
              <a:srgbClr val="00A8E8"/>
            </a:solidFill>
            <a:prstDash val="solid"/>
          </a:ln>
        </p:spPr>
        <p:txBody>
          <a:bodyPr/>
          <a:lstStyle/>
          <a:p>
            <a:endParaRPr lang="en-AE"/>
          </a:p>
        </p:txBody>
      </p:sp>
      <p:sp>
        <p:nvSpPr>
          <p:cNvPr id="20" name="Text 18"/>
          <p:cNvSpPr/>
          <p:nvPr/>
        </p:nvSpPr>
        <p:spPr>
          <a:xfrm>
            <a:off x="3383280" y="232257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Shape 20"/>
          <p:cNvSpPr/>
          <p:nvPr/>
        </p:nvSpPr>
        <p:spPr>
          <a:xfrm>
            <a:off x="3383280" y="2953512"/>
            <a:ext cx="402336" cy="402336"/>
          </a:xfrm>
          <a:prstGeom prst="ellipse">
            <a:avLst/>
          </a:prstGeom>
          <a:solidFill>
            <a:srgbClr val="00A8E8"/>
          </a:solidFill>
          <a:ln w="12700">
            <a:solidFill>
              <a:srgbClr val="00A8E8"/>
            </a:solidFill>
            <a:prstDash val="solid"/>
          </a:ln>
        </p:spPr>
        <p:txBody>
          <a:bodyPr/>
          <a:lstStyle/>
          <a:p>
            <a:endParaRPr lang="en-AE"/>
          </a:p>
        </p:txBody>
      </p:sp>
      <p:sp>
        <p:nvSpPr>
          <p:cNvPr id="23" name="Text 21"/>
          <p:cNvSpPr/>
          <p:nvPr/>
        </p:nvSpPr>
        <p:spPr>
          <a:xfrm>
            <a:off x="3383280" y="29535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Shape 23"/>
          <p:cNvSpPr/>
          <p:nvPr/>
        </p:nvSpPr>
        <p:spPr>
          <a:xfrm>
            <a:off x="3383280" y="3584448"/>
            <a:ext cx="402336" cy="402336"/>
          </a:xfrm>
          <a:prstGeom prst="ellipse">
            <a:avLst/>
          </a:prstGeom>
          <a:solidFill>
            <a:srgbClr val="00A8E8"/>
          </a:solidFill>
          <a:ln w="12700">
            <a:solidFill>
              <a:srgbClr val="00A8E8"/>
            </a:solidFill>
            <a:prstDash val="solid"/>
          </a:ln>
        </p:spPr>
        <p:txBody>
          <a:bodyPr/>
          <a:lstStyle/>
          <a:p>
            <a:endParaRPr lang="en-AE"/>
          </a:p>
        </p:txBody>
      </p:sp>
      <p:sp>
        <p:nvSpPr>
          <p:cNvPr id="26" name="Text 24"/>
          <p:cNvSpPr/>
          <p:nvPr/>
        </p:nvSpPr>
        <p:spPr>
          <a:xfrm>
            <a:off x="3383280" y="35844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Shape 26"/>
          <p:cNvSpPr/>
          <p:nvPr/>
        </p:nvSpPr>
        <p:spPr>
          <a:xfrm>
            <a:off x="3383280" y="4215384"/>
            <a:ext cx="402336" cy="402336"/>
          </a:xfrm>
          <a:prstGeom prst="ellipse">
            <a:avLst/>
          </a:prstGeom>
          <a:solidFill>
            <a:srgbClr val="00A8E8"/>
          </a:solidFill>
          <a:ln w="12700">
            <a:solidFill>
              <a:srgbClr val="00A8E8"/>
            </a:solidFill>
            <a:prstDash val="solid"/>
          </a:ln>
        </p:spPr>
        <p:txBody>
          <a:bodyPr/>
          <a:lstStyle/>
          <a:p>
            <a:endParaRPr lang="en-AE"/>
          </a:p>
        </p:txBody>
      </p:sp>
      <p:sp>
        <p:nvSpPr>
          <p:cNvPr id="29" name="Text 27"/>
          <p:cNvSpPr/>
          <p:nvPr/>
        </p:nvSpPr>
        <p:spPr>
          <a:xfrm>
            <a:off x="3383280" y="42153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29"/>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pic>
        <p:nvPicPr>
          <p:cNvPr id="31" name="image1.png" descr="University of Ontario Institute of Technology logo">
            <a:extLst>
              <a:ext uri="{FF2B5EF4-FFF2-40B4-BE49-F238E27FC236}">
                <a16:creationId xmlns:a16="http://schemas.microsoft.com/office/drawing/2014/main" id="{E11AD470-7705-7411-A811-17214319AD2A}"/>
              </a:ext>
            </a:extLst>
          </p:cNvPr>
          <p:cNvPicPr/>
          <p:nvPr/>
        </p:nvPicPr>
        <p:blipFill>
          <a:blip r:embed="rId3"/>
          <a:srcRect/>
          <a:stretch>
            <a:fillRect/>
          </a:stretch>
        </p:blipFill>
        <p:spPr>
          <a:xfrm>
            <a:off x="7570692" y="98790"/>
            <a:ext cx="1416424" cy="404310"/>
          </a:xfrm>
          <a:prstGeom prst="rect">
            <a:avLst/>
          </a:prstGeom>
          <a:ln/>
        </p:spPr>
      </p:pic>
      <p:sp>
        <p:nvSpPr>
          <p:cNvPr id="33" name="Text 1"/>
          <p:cNvSpPr/>
          <p:nvPr/>
        </p:nvSpPr>
        <p:spPr>
          <a:xfrm>
            <a:off x="320040" y="351057"/>
            <a:ext cx="8503920" cy="548640"/>
          </a:xfrm>
          <a:prstGeom prst="rect">
            <a:avLst/>
          </a:prstGeom>
          <a:noFill/>
          <a:ln/>
        </p:spPr>
        <p:txBody>
          <a:bodyPr wrap="square" lIns="0" tIns="0" rIns="0" bIns="0" rtlCol="0" anchor="ctr"/>
          <a:lstStyle/>
          <a:p>
            <a:pPr marL="0" indent="0">
              <a:buNone/>
            </a:pPr>
            <a:r>
              <a:rPr lang="en-US" sz="2200" b="1" dirty="0">
                <a:solidFill>
                  <a:schemeClr val="tx1">
                    <a:lumMod val="85000"/>
                    <a:lumOff val="15000"/>
                  </a:schemeClr>
                </a:solidFill>
                <a:latin typeface="Calibri" pitchFamily="34" charset="0"/>
                <a:ea typeface="Calibri" pitchFamily="34" charset="-122"/>
                <a:cs typeface="Calibri" pitchFamily="34" charset="-120"/>
              </a:rPr>
              <a:t>Problem Statement &amp; Motivation</a:t>
            </a:r>
            <a:endParaRPr lang="en-US" sz="2200" dirty="0">
              <a:solidFill>
                <a:schemeClr val="tx1">
                  <a:lumMod val="85000"/>
                  <a:lumOff val="1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F"/>
        </a:solidFill>
        <a:effectLst/>
      </p:bgPr>
    </p:bg>
    <p:spTree>
      <p:nvGrpSpPr>
        <p:cNvPr id="1" name=""/>
        <p:cNvGrpSpPr/>
        <p:nvPr/>
      </p:nvGrpSpPr>
      <p:grpSpPr>
        <a:xfrm>
          <a:off x="0" y="0"/>
          <a:ext cx="0" cy="0"/>
          <a:chOff x="0" y="0"/>
          <a:chExt cx="0" cy="0"/>
        </a:xfrm>
      </p:grpSpPr>
      <p:sp>
        <p:nvSpPr>
          <p:cNvPr id="9" name="Shape 7"/>
          <p:cNvSpPr/>
          <p:nvPr/>
        </p:nvSpPr>
        <p:spPr>
          <a:xfrm>
            <a:off x="320040" y="1357775"/>
            <a:ext cx="2697480" cy="2468880"/>
          </a:xfrm>
          <a:prstGeom prst="roundRect">
            <a:avLst>
              <a:gd name="adj" fmla="val 4444"/>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0" name="Shape 8"/>
          <p:cNvSpPr/>
          <p:nvPr/>
        </p:nvSpPr>
        <p:spPr>
          <a:xfrm>
            <a:off x="502920" y="1476647"/>
            <a:ext cx="502920" cy="502920"/>
          </a:xfrm>
          <a:prstGeom prst="ellipse">
            <a:avLst/>
          </a:prstGeom>
          <a:solidFill>
            <a:srgbClr val="1C4E80"/>
          </a:solidFill>
          <a:ln w="12700">
            <a:solidFill>
              <a:srgbClr val="1C4E80"/>
            </a:solidFill>
            <a:prstDash val="solid"/>
          </a:ln>
        </p:spPr>
        <p:txBody>
          <a:bodyPr/>
          <a:lstStyle/>
          <a:p>
            <a:endParaRPr lang="en-AE"/>
          </a:p>
        </p:txBody>
      </p:sp>
      <p:sp>
        <p:nvSpPr>
          <p:cNvPr id="11" name="Text 9"/>
          <p:cNvSpPr/>
          <p:nvPr/>
        </p:nvSpPr>
        <p:spPr>
          <a:xfrm>
            <a:off x="502920" y="1476647"/>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OBJ 1</a:t>
            </a:r>
            <a:endParaRPr lang="en-US" sz="1000" dirty="0"/>
          </a:p>
        </p:txBody>
      </p:sp>
      <p:sp>
        <p:nvSpPr>
          <p:cNvPr id="12" name="Text 10"/>
          <p:cNvSpPr/>
          <p:nvPr/>
        </p:nvSpPr>
        <p:spPr>
          <a:xfrm>
            <a:off x="1097280" y="1494935"/>
            <a:ext cx="1783080" cy="457200"/>
          </a:xfrm>
          <a:prstGeom prst="rect">
            <a:avLst/>
          </a:prstGeom>
          <a:noFill/>
          <a:ln/>
        </p:spPr>
        <p:txBody>
          <a:bodyPr wrap="square" lIns="0" tIns="0" rIns="0" bIns="0"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Test Feature Transfer</a:t>
            </a:r>
            <a:endParaRPr lang="en-US" sz="1300" dirty="0"/>
          </a:p>
        </p:txBody>
      </p:sp>
      <p:sp>
        <p:nvSpPr>
          <p:cNvPr id="13" name="Text 11"/>
          <p:cNvSpPr/>
          <p:nvPr/>
        </p:nvSpPr>
        <p:spPr>
          <a:xfrm>
            <a:off x="502920" y="2061863"/>
            <a:ext cx="2377440" cy="169164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Apply wind-aware diffusion features (wind alignment, transport potential, distance, upwind PM₂.₅) identically across all five models.</a:t>
            </a:r>
            <a:endParaRPr lang="en-US" sz="1200" dirty="0"/>
          </a:p>
        </p:txBody>
      </p:sp>
      <p:sp>
        <p:nvSpPr>
          <p:cNvPr id="14" name="Shape 12"/>
          <p:cNvSpPr/>
          <p:nvPr/>
        </p:nvSpPr>
        <p:spPr>
          <a:xfrm>
            <a:off x="3200400" y="1357775"/>
            <a:ext cx="2697480" cy="2468880"/>
          </a:xfrm>
          <a:prstGeom prst="roundRect">
            <a:avLst>
              <a:gd name="adj" fmla="val 4444"/>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5" name="Shape 13"/>
          <p:cNvSpPr/>
          <p:nvPr/>
        </p:nvSpPr>
        <p:spPr>
          <a:xfrm>
            <a:off x="3383280" y="1476647"/>
            <a:ext cx="502920" cy="502920"/>
          </a:xfrm>
          <a:prstGeom prst="ellipse">
            <a:avLst/>
          </a:prstGeom>
          <a:solidFill>
            <a:srgbClr val="1C4E80"/>
          </a:solidFill>
          <a:ln w="12700">
            <a:solidFill>
              <a:srgbClr val="1C4E80"/>
            </a:solidFill>
            <a:prstDash val="solid"/>
          </a:ln>
        </p:spPr>
        <p:txBody>
          <a:bodyPr/>
          <a:lstStyle/>
          <a:p>
            <a:endParaRPr lang="en-AE"/>
          </a:p>
        </p:txBody>
      </p:sp>
      <p:sp>
        <p:nvSpPr>
          <p:cNvPr id="16" name="Text 14"/>
          <p:cNvSpPr/>
          <p:nvPr/>
        </p:nvSpPr>
        <p:spPr>
          <a:xfrm>
            <a:off x="3383280" y="1476647"/>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OBJ 2</a:t>
            </a:r>
            <a:endParaRPr lang="en-US" sz="1000" dirty="0"/>
          </a:p>
        </p:txBody>
      </p:sp>
      <p:sp>
        <p:nvSpPr>
          <p:cNvPr id="17" name="Text 15"/>
          <p:cNvSpPr/>
          <p:nvPr/>
        </p:nvSpPr>
        <p:spPr>
          <a:xfrm>
            <a:off x="3977640" y="1494935"/>
            <a:ext cx="1783080" cy="457200"/>
          </a:xfrm>
          <a:prstGeom prst="rect">
            <a:avLst/>
          </a:prstGeom>
          <a:noFill/>
          <a:ln/>
        </p:spPr>
        <p:txBody>
          <a:bodyPr wrap="square" lIns="0" tIns="0" rIns="0" bIns="0"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Isolate Architecture Value</a:t>
            </a:r>
            <a:endParaRPr lang="en-US" sz="1300" dirty="0"/>
          </a:p>
        </p:txBody>
      </p:sp>
      <p:sp>
        <p:nvSpPr>
          <p:cNvPr id="18" name="Text 16"/>
          <p:cNvSpPr/>
          <p:nvPr/>
        </p:nvSpPr>
        <p:spPr>
          <a:xfrm>
            <a:off x="3383280" y="2061863"/>
            <a:ext cx="2377440" cy="1691640"/>
          </a:xfrm>
          <a:prstGeom prst="rect">
            <a:avLst/>
          </a:prstGeom>
          <a:noFill/>
          <a:ln/>
        </p:spPr>
        <p:txBody>
          <a:bodyPr wrap="square" rtlCol="0" anchor="t"/>
          <a:lstStyle/>
          <a:p>
            <a:r>
              <a:rPr lang="en-US" sz="1200" dirty="0">
                <a:solidFill>
                  <a:srgbClr val="1E293B"/>
                </a:solidFill>
                <a:latin typeface="Calibri" pitchFamily="34" charset="0"/>
                <a:ea typeface="Calibri" pitchFamily="34" charset="-122"/>
                <a:cs typeface="Calibri" pitchFamily="34" charset="-120"/>
              </a:rPr>
              <a:t>Evaluate 1-, 2-, and 3-hour forecasts to see whether diffusion features let simple models rival complex graph-based ones.</a:t>
            </a:r>
          </a:p>
        </p:txBody>
      </p:sp>
      <p:sp>
        <p:nvSpPr>
          <p:cNvPr id="19" name="Shape 17"/>
          <p:cNvSpPr/>
          <p:nvPr/>
        </p:nvSpPr>
        <p:spPr>
          <a:xfrm>
            <a:off x="6080760" y="1357775"/>
            <a:ext cx="2697480" cy="2468880"/>
          </a:xfrm>
          <a:prstGeom prst="roundRect">
            <a:avLst>
              <a:gd name="adj" fmla="val 4444"/>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dirty="0"/>
          </a:p>
        </p:txBody>
      </p:sp>
      <p:sp>
        <p:nvSpPr>
          <p:cNvPr id="20" name="Shape 18"/>
          <p:cNvSpPr/>
          <p:nvPr/>
        </p:nvSpPr>
        <p:spPr>
          <a:xfrm>
            <a:off x="6263640" y="1476647"/>
            <a:ext cx="502920" cy="502920"/>
          </a:xfrm>
          <a:prstGeom prst="ellipse">
            <a:avLst/>
          </a:prstGeom>
          <a:solidFill>
            <a:srgbClr val="1C4E80"/>
          </a:solidFill>
          <a:ln w="12700">
            <a:solidFill>
              <a:srgbClr val="1C4E80"/>
            </a:solidFill>
            <a:prstDash val="solid"/>
          </a:ln>
        </p:spPr>
        <p:txBody>
          <a:bodyPr/>
          <a:lstStyle/>
          <a:p>
            <a:endParaRPr lang="en-AE"/>
          </a:p>
        </p:txBody>
      </p:sp>
      <p:sp>
        <p:nvSpPr>
          <p:cNvPr id="21" name="Text 19"/>
          <p:cNvSpPr/>
          <p:nvPr/>
        </p:nvSpPr>
        <p:spPr>
          <a:xfrm>
            <a:off x="6263640" y="1476647"/>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OBJ 3</a:t>
            </a:r>
            <a:endParaRPr lang="en-US" sz="1000" dirty="0"/>
          </a:p>
        </p:txBody>
      </p:sp>
      <p:sp>
        <p:nvSpPr>
          <p:cNvPr id="22" name="Text 20"/>
          <p:cNvSpPr/>
          <p:nvPr/>
        </p:nvSpPr>
        <p:spPr>
          <a:xfrm>
            <a:off x="6858000" y="1494935"/>
            <a:ext cx="1783080" cy="457200"/>
          </a:xfrm>
          <a:prstGeom prst="rect">
            <a:avLst/>
          </a:prstGeom>
          <a:noFill/>
          <a:ln/>
        </p:spPr>
        <p:txBody>
          <a:bodyPr wrap="square" lIns="0" tIns="0" rIns="0" bIns="0"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Deploy in Real-Time IoT</a:t>
            </a:r>
            <a:endParaRPr lang="en-US" sz="1300" dirty="0"/>
          </a:p>
        </p:txBody>
      </p:sp>
      <p:sp>
        <p:nvSpPr>
          <p:cNvPr id="23" name="Text 21"/>
          <p:cNvSpPr/>
          <p:nvPr/>
        </p:nvSpPr>
        <p:spPr>
          <a:xfrm>
            <a:off x="6263640" y="2061863"/>
            <a:ext cx="2377440" cy="1691640"/>
          </a:xfrm>
          <a:prstGeom prst="rect">
            <a:avLst/>
          </a:prstGeom>
          <a:noFill/>
          <a:ln/>
        </p:spPr>
        <p:txBody>
          <a:bodyPr wrap="square" rtlCol="0" anchor="t"/>
          <a:lstStyle/>
          <a:p>
            <a:pPr marL="0" indent="0">
              <a:buNone/>
            </a:pPr>
            <a:r>
              <a:rPr lang="en-US" sz="1200" dirty="0">
                <a:solidFill>
                  <a:srgbClr val="1E293B"/>
                </a:solidFill>
                <a:latin typeface="Calibri" pitchFamily="34" charset="0"/>
                <a:ea typeface="Calibri" pitchFamily="34" charset="-122"/>
                <a:cs typeface="Calibri" pitchFamily="34" charset="-120"/>
              </a:rPr>
              <a:t>Operationalize the framework in a Kafka streaming pipeline and evaluate latency, throughput, ablation, and reliability under load.</a:t>
            </a:r>
            <a:endParaRPr lang="en-US" sz="1200" dirty="0"/>
          </a:p>
        </p:txBody>
      </p:sp>
      <p:sp>
        <p:nvSpPr>
          <p:cNvPr id="25" name="Text 22"/>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pic>
        <p:nvPicPr>
          <p:cNvPr id="24" name="image1.png" descr="University of Ontario Institute of Technology logo">
            <a:extLst>
              <a:ext uri="{FF2B5EF4-FFF2-40B4-BE49-F238E27FC236}">
                <a16:creationId xmlns:a16="http://schemas.microsoft.com/office/drawing/2014/main" id="{C5469075-601A-99FE-95D1-3EDF04B849B4}"/>
              </a:ext>
            </a:extLst>
          </p:cNvPr>
          <p:cNvPicPr/>
          <p:nvPr/>
        </p:nvPicPr>
        <p:blipFill>
          <a:blip r:embed="rId3"/>
          <a:srcRect/>
          <a:stretch>
            <a:fillRect/>
          </a:stretch>
        </p:blipFill>
        <p:spPr>
          <a:xfrm>
            <a:off x="7570692" y="98790"/>
            <a:ext cx="1416424" cy="404310"/>
          </a:xfrm>
          <a:prstGeom prst="rect">
            <a:avLst/>
          </a:prstGeom>
          <a:ln/>
        </p:spPr>
      </p:pic>
      <p:sp>
        <p:nvSpPr>
          <p:cNvPr id="26" name="Text 1">
            <a:extLst>
              <a:ext uri="{FF2B5EF4-FFF2-40B4-BE49-F238E27FC236}">
                <a16:creationId xmlns:a16="http://schemas.microsoft.com/office/drawing/2014/main" id="{8E2504F0-65F5-F82B-8674-66BAE4BF5D5E}"/>
              </a:ext>
            </a:extLst>
          </p:cNvPr>
          <p:cNvSpPr/>
          <p:nvPr/>
        </p:nvSpPr>
        <p:spPr>
          <a:xfrm>
            <a:off x="315558" y="485524"/>
            <a:ext cx="8503920" cy="548640"/>
          </a:xfrm>
          <a:prstGeom prst="rect">
            <a:avLst/>
          </a:prstGeom>
          <a:noFill/>
          <a:ln/>
        </p:spPr>
        <p:txBody>
          <a:bodyPr wrap="square" lIns="0" tIns="0" rIns="0" bIns="0" rtlCol="0" anchor="ctr"/>
          <a:lstStyle/>
          <a:p>
            <a:r>
              <a:rPr lang="en-US" sz="2200" b="1" dirty="0">
                <a:solidFill>
                  <a:schemeClr val="tx1">
                    <a:lumMod val="85000"/>
                    <a:lumOff val="15000"/>
                  </a:schemeClr>
                </a:solidFill>
                <a:latin typeface="Calibri" pitchFamily="34" charset="0"/>
                <a:ea typeface="Calibri" pitchFamily="34" charset="-122"/>
                <a:cs typeface="Calibri" pitchFamily="34" charset="-120"/>
              </a:rPr>
              <a:t>Objectives</a:t>
            </a:r>
          </a:p>
          <a:p>
            <a:pPr marL="0" indent="0">
              <a:buNone/>
            </a:pPr>
            <a:endParaRPr lang="en-US" sz="2200" dirty="0">
              <a:solidFill>
                <a:schemeClr val="tx1">
                  <a:lumMod val="85000"/>
                  <a:lumOff val="1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353409" y="445770"/>
            <a:ext cx="7406640" cy="377190"/>
          </a:xfrm>
          <a:prstGeom prst="rect">
            <a:avLst/>
          </a:prstGeom>
          <a:noFill/>
          <a:ln/>
        </p:spPr>
        <p:txBody>
          <a:bodyPr wrap="square" lIns="0" tIns="0" rIns="0" bIns="0" rtlCol="0" anchor="ctr"/>
          <a:lstStyle/>
          <a:p>
            <a:r>
              <a:rPr lang="en-US" sz="1950" b="1" dirty="0">
                <a:solidFill>
                  <a:srgbClr val="16243B"/>
                </a:solidFill>
                <a:latin typeface="Cambria" pitchFamily="34" charset="0"/>
                <a:ea typeface="Cambria" pitchFamily="34" charset="-122"/>
                <a:cs typeface="Cambria" pitchFamily="34" charset="-120"/>
              </a:rPr>
              <a:t>Real-Time System Architecture</a:t>
            </a:r>
            <a:endParaRPr lang="en-US" sz="1950" dirty="0"/>
          </a:p>
        </p:txBody>
      </p:sp>
      <p:sp>
        <p:nvSpPr>
          <p:cNvPr id="6" name="Text 3"/>
          <p:cNvSpPr/>
          <p:nvPr/>
        </p:nvSpPr>
        <p:spPr>
          <a:xfrm>
            <a:off x="411480" y="1028700"/>
            <a:ext cx="8318754" cy="274320"/>
          </a:xfrm>
          <a:prstGeom prst="rect">
            <a:avLst/>
          </a:prstGeom>
          <a:noFill/>
          <a:ln/>
        </p:spPr>
        <p:txBody>
          <a:bodyPr wrap="square" lIns="0" tIns="0" rIns="0" bIns="0" rtlCol="0" anchor="ctr"/>
          <a:lstStyle/>
          <a:p>
            <a:r>
              <a:rPr lang="en-US" sz="1200" dirty="0">
                <a:solidFill>
                  <a:srgbClr val="5B6B7C"/>
                </a:solidFill>
                <a:latin typeface="Calibri" pitchFamily="34" charset="0"/>
                <a:ea typeface="Calibri" pitchFamily="34" charset="-122"/>
                <a:cs typeface="Calibri" pitchFamily="34" charset="-120"/>
              </a:rPr>
              <a:t>A Kafka-based streaming pipeline carries each observation from sensor to forecast in a single 60-minute polling cycle.</a:t>
            </a:r>
            <a:endParaRPr lang="en-US" sz="1200" dirty="0"/>
          </a:p>
        </p:txBody>
      </p:sp>
      <p:sp>
        <p:nvSpPr>
          <p:cNvPr id="37" name="Text 34"/>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pic>
        <p:nvPicPr>
          <p:cNvPr id="2" name="image1.png" descr="University of Ontario Institute of Technology logo">
            <a:extLst>
              <a:ext uri="{FF2B5EF4-FFF2-40B4-BE49-F238E27FC236}">
                <a16:creationId xmlns:a16="http://schemas.microsoft.com/office/drawing/2014/main" id="{362389AB-23AC-412E-70E4-1F4A9E5C942D}"/>
              </a:ext>
            </a:extLst>
          </p:cNvPr>
          <p:cNvPicPr/>
          <p:nvPr/>
        </p:nvPicPr>
        <p:blipFill>
          <a:blip r:embed="rId3"/>
          <a:srcRect/>
          <a:stretch>
            <a:fillRect/>
          </a:stretch>
        </p:blipFill>
        <p:spPr>
          <a:xfrm>
            <a:off x="7570692" y="98790"/>
            <a:ext cx="1416424" cy="404310"/>
          </a:xfrm>
          <a:prstGeom prst="rect">
            <a:avLst/>
          </a:prstGeom>
          <a:ln/>
        </p:spPr>
      </p:pic>
      <p:pic>
        <p:nvPicPr>
          <p:cNvPr id="3" name="Picture 2">
            <a:extLst>
              <a:ext uri="{FF2B5EF4-FFF2-40B4-BE49-F238E27FC236}">
                <a16:creationId xmlns:a16="http://schemas.microsoft.com/office/drawing/2014/main" id="{B64A287C-C116-7CA7-41BC-0426D85DCE6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4494" y="1303021"/>
            <a:ext cx="6844863" cy="37666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7AAB736A-1968-0705-CFB7-45A684317DC2}"/>
                  </a:ext>
                </a:extLst>
              </p14:cNvPr>
              <p14:cNvContentPartPr/>
              <p14:nvPr/>
            </p14:nvContentPartPr>
            <p14:xfrm>
              <a:off x="4056296" y="4513169"/>
              <a:ext cx="637200" cy="145080"/>
            </p14:xfrm>
          </p:contentPart>
        </mc:Choice>
        <mc:Fallback xmlns="">
          <p:pic>
            <p:nvPicPr>
              <p:cNvPr id="11" name="Ink 10">
                <a:extLst>
                  <a:ext uri="{FF2B5EF4-FFF2-40B4-BE49-F238E27FC236}">
                    <a16:creationId xmlns:a16="http://schemas.microsoft.com/office/drawing/2014/main" id="{7AAB736A-1968-0705-CFB7-45A684317DC2}"/>
                  </a:ext>
                </a:extLst>
              </p:cNvPr>
              <p:cNvPicPr/>
              <p:nvPr/>
            </p:nvPicPr>
            <p:blipFill>
              <a:blip r:embed="rId6"/>
              <a:stretch>
                <a:fillRect/>
              </a:stretch>
            </p:blipFill>
            <p:spPr>
              <a:xfrm>
                <a:off x="3993296" y="4450529"/>
                <a:ext cx="76284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9664C36E-F6D8-D2B2-FDE2-6D1AFE01229B}"/>
                  </a:ext>
                </a:extLst>
              </p14:cNvPr>
              <p14:cNvContentPartPr/>
              <p14:nvPr/>
            </p14:nvContentPartPr>
            <p14:xfrm>
              <a:off x="2058656" y="4311569"/>
              <a:ext cx="620280" cy="486000"/>
            </p14:xfrm>
          </p:contentPart>
        </mc:Choice>
        <mc:Fallback xmlns="">
          <p:pic>
            <p:nvPicPr>
              <p:cNvPr id="12" name="Ink 11">
                <a:extLst>
                  <a:ext uri="{FF2B5EF4-FFF2-40B4-BE49-F238E27FC236}">
                    <a16:creationId xmlns:a16="http://schemas.microsoft.com/office/drawing/2014/main" id="{9664C36E-F6D8-D2B2-FDE2-6D1AFE01229B}"/>
                  </a:ext>
                </a:extLst>
              </p:cNvPr>
              <p:cNvPicPr/>
              <p:nvPr/>
            </p:nvPicPr>
            <p:blipFill>
              <a:blip r:embed="rId8"/>
              <a:stretch>
                <a:fillRect/>
              </a:stretch>
            </p:blipFill>
            <p:spPr>
              <a:xfrm>
                <a:off x="1996016" y="4248569"/>
                <a:ext cx="745920" cy="611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6486E44E-1405-AB12-BCFE-DEC7E4386F4C}"/>
                  </a:ext>
                </a:extLst>
              </p14:cNvPr>
              <p14:cNvContentPartPr/>
              <p14:nvPr/>
            </p14:nvContentPartPr>
            <p14:xfrm>
              <a:off x="2471936" y="4322009"/>
              <a:ext cx="251640" cy="541800"/>
            </p14:xfrm>
          </p:contentPart>
        </mc:Choice>
        <mc:Fallback xmlns="">
          <p:pic>
            <p:nvPicPr>
              <p:cNvPr id="13" name="Ink 12">
                <a:extLst>
                  <a:ext uri="{FF2B5EF4-FFF2-40B4-BE49-F238E27FC236}">
                    <a16:creationId xmlns:a16="http://schemas.microsoft.com/office/drawing/2014/main" id="{6486E44E-1405-AB12-BCFE-DEC7E4386F4C}"/>
                  </a:ext>
                </a:extLst>
              </p:cNvPr>
              <p:cNvPicPr/>
              <p:nvPr/>
            </p:nvPicPr>
            <p:blipFill>
              <a:blip r:embed="rId10"/>
              <a:stretch>
                <a:fillRect/>
              </a:stretch>
            </p:blipFill>
            <p:spPr>
              <a:xfrm>
                <a:off x="2408936" y="4259009"/>
                <a:ext cx="377280" cy="667440"/>
              </a:xfrm>
              <a:prstGeom prst="rect">
                <a:avLst/>
              </a:prstGeom>
            </p:spPr>
          </p:pic>
        </mc:Fallback>
      </mc:AlternateContent>
      <p:grpSp>
        <p:nvGrpSpPr>
          <p:cNvPr id="19" name="Group 18">
            <a:extLst>
              <a:ext uri="{FF2B5EF4-FFF2-40B4-BE49-F238E27FC236}">
                <a16:creationId xmlns:a16="http://schemas.microsoft.com/office/drawing/2014/main" id="{8F93A99E-3079-36EB-8A28-12CB8159FE0C}"/>
              </a:ext>
            </a:extLst>
          </p:cNvPr>
          <p:cNvGrpSpPr/>
          <p:nvPr/>
        </p:nvGrpSpPr>
        <p:grpSpPr>
          <a:xfrm>
            <a:off x="2732576" y="4646369"/>
            <a:ext cx="10800" cy="111960"/>
            <a:chOff x="2732576" y="4646369"/>
            <a:chExt cx="10800" cy="111960"/>
          </a:xfrm>
        </p:grpSpPr>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CA60B507-FCE2-8AEE-C930-8D343508E631}"/>
                    </a:ext>
                  </a:extLst>
                </p14:cNvPr>
                <p14:cNvContentPartPr/>
                <p14:nvPr/>
              </p14:nvContentPartPr>
              <p14:xfrm>
                <a:off x="2732576" y="4673009"/>
                <a:ext cx="360" cy="360"/>
              </p14:xfrm>
            </p:contentPart>
          </mc:Choice>
          <mc:Fallback xmlns="">
            <p:pic>
              <p:nvPicPr>
                <p:cNvPr id="15" name="Ink 14">
                  <a:extLst>
                    <a:ext uri="{FF2B5EF4-FFF2-40B4-BE49-F238E27FC236}">
                      <a16:creationId xmlns:a16="http://schemas.microsoft.com/office/drawing/2014/main" id="{CA60B507-FCE2-8AEE-C930-8D343508E631}"/>
                    </a:ext>
                  </a:extLst>
                </p:cNvPr>
                <p:cNvPicPr/>
                <p:nvPr/>
              </p:nvPicPr>
              <p:blipFill>
                <a:blip r:embed="rId12"/>
                <a:stretch>
                  <a:fillRect/>
                </a:stretch>
              </p:blipFill>
              <p:spPr>
                <a:xfrm>
                  <a:off x="2669576" y="461000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070898DA-A6A8-45F8-B764-8A4C71DC4E14}"/>
                    </a:ext>
                  </a:extLst>
                </p14:cNvPr>
                <p14:cNvContentPartPr/>
                <p14:nvPr/>
              </p14:nvContentPartPr>
              <p14:xfrm>
                <a:off x="2732576" y="4646369"/>
                <a:ext cx="360" cy="360"/>
              </p14:xfrm>
            </p:contentPart>
          </mc:Choice>
          <mc:Fallback xmlns="">
            <p:pic>
              <p:nvPicPr>
                <p:cNvPr id="16" name="Ink 15">
                  <a:extLst>
                    <a:ext uri="{FF2B5EF4-FFF2-40B4-BE49-F238E27FC236}">
                      <a16:creationId xmlns:a16="http://schemas.microsoft.com/office/drawing/2014/main" id="{070898DA-A6A8-45F8-B764-8A4C71DC4E14}"/>
                    </a:ext>
                  </a:extLst>
                </p:cNvPr>
                <p:cNvPicPr/>
                <p:nvPr/>
              </p:nvPicPr>
              <p:blipFill>
                <a:blip r:embed="rId12"/>
                <a:stretch>
                  <a:fillRect/>
                </a:stretch>
              </p:blipFill>
              <p:spPr>
                <a:xfrm>
                  <a:off x="2669576" y="4583369"/>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5DABB3B3-C2A1-2482-0EC2-55B89AE3FDE8}"/>
                    </a:ext>
                  </a:extLst>
                </p14:cNvPr>
                <p14:cNvContentPartPr/>
                <p14:nvPr/>
              </p14:nvContentPartPr>
              <p14:xfrm>
                <a:off x="2743016" y="4757969"/>
                <a:ext cx="360" cy="360"/>
              </p14:xfrm>
            </p:contentPart>
          </mc:Choice>
          <mc:Fallback xmlns="">
            <p:pic>
              <p:nvPicPr>
                <p:cNvPr id="18" name="Ink 17">
                  <a:extLst>
                    <a:ext uri="{FF2B5EF4-FFF2-40B4-BE49-F238E27FC236}">
                      <a16:creationId xmlns:a16="http://schemas.microsoft.com/office/drawing/2014/main" id="{5DABB3B3-C2A1-2482-0EC2-55B89AE3FDE8}"/>
                    </a:ext>
                  </a:extLst>
                </p:cNvPr>
                <p:cNvPicPr/>
                <p:nvPr/>
              </p:nvPicPr>
              <p:blipFill>
                <a:blip r:embed="rId12"/>
                <a:stretch>
                  <a:fillRect/>
                </a:stretch>
              </p:blipFill>
              <p:spPr>
                <a:xfrm>
                  <a:off x="2680376" y="4694969"/>
                  <a:ext cx="126000" cy="126000"/>
                </a:xfrm>
                <a:prstGeom prst="rect">
                  <a:avLst/>
                </a:prstGeom>
              </p:spPr>
            </p:pic>
          </mc:Fallback>
        </mc:AlternateContent>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7FBFF"/>
        </a:solidFill>
        <a:effectLst/>
      </p:bgPr>
    </p:bg>
    <p:spTree>
      <p:nvGrpSpPr>
        <p:cNvPr id="1" name=""/>
        <p:cNvGrpSpPr/>
        <p:nvPr/>
      </p:nvGrpSpPr>
      <p:grpSpPr>
        <a:xfrm>
          <a:off x="0" y="0"/>
          <a:ext cx="0" cy="0"/>
          <a:chOff x="0" y="0"/>
          <a:chExt cx="0" cy="0"/>
        </a:xfrm>
      </p:grpSpPr>
      <p:sp>
        <p:nvSpPr>
          <p:cNvPr id="3" name="Text 1"/>
          <p:cNvSpPr/>
          <p:nvPr/>
        </p:nvSpPr>
        <p:spPr>
          <a:xfrm>
            <a:off x="320040" y="327450"/>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Dataset</a:t>
            </a:r>
            <a:endParaRPr lang="en-US" sz="2200" dirty="0"/>
          </a:p>
        </p:txBody>
      </p:sp>
      <p:sp>
        <p:nvSpPr>
          <p:cNvPr id="5" name="Shape 3"/>
          <p:cNvSpPr/>
          <p:nvPr/>
        </p:nvSpPr>
        <p:spPr>
          <a:xfrm>
            <a:off x="274320" y="1143000"/>
            <a:ext cx="1538248" cy="1005840"/>
          </a:xfrm>
          <a:prstGeom prst="roundRect">
            <a:avLst>
              <a:gd name="adj" fmla="val 1090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Shape 4"/>
          <p:cNvSpPr/>
          <p:nvPr/>
        </p:nvSpPr>
        <p:spPr>
          <a:xfrm>
            <a:off x="411480" y="1234440"/>
            <a:ext cx="457200" cy="457200"/>
          </a:xfrm>
          <a:prstGeom prst="ellipse">
            <a:avLst/>
          </a:prstGeom>
          <a:solidFill>
            <a:srgbClr val="00A8E8"/>
          </a:solidFill>
          <a:ln w="12700">
            <a:solidFill>
              <a:srgbClr val="00A8E8"/>
            </a:solidFill>
            <a:prstDash val="solid"/>
          </a:ln>
        </p:spPr>
        <p:txBody>
          <a:bodyPr/>
          <a:lstStyle/>
          <a:p>
            <a:endParaRPr lang="en-AE"/>
          </a:p>
        </p:txBody>
      </p:sp>
      <p:sp>
        <p:nvSpPr>
          <p:cNvPr id="7" name="Text 5"/>
          <p:cNvSpPr/>
          <p:nvPr/>
        </p:nvSpPr>
        <p:spPr>
          <a:xfrm>
            <a:off x="411480" y="12344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8" name="Text 6"/>
          <p:cNvSpPr/>
          <p:nvPr/>
        </p:nvSpPr>
        <p:spPr>
          <a:xfrm>
            <a:off x="987552" y="1252728"/>
            <a:ext cx="777240" cy="320040"/>
          </a:xfrm>
          <a:prstGeom prst="rect">
            <a:avLst/>
          </a:prstGeom>
          <a:noFill/>
          <a:ln/>
        </p:spPr>
        <p:txBody>
          <a:bodyPr wrap="square" lIns="0" tIns="0" rIns="0" bIns="0" rtlCol="0" anchor="ctr"/>
          <a:lstStyle/>
          <a:p>
            <a:pPr marL="0" indent="0" algn="ctr">
              <a:buNone/>
            </a:pPr>
            <a:r>
              <a:rPr lang="en-US" sz="1300" b="1" dirty="0">
                <a:solidFill>
                  <a:srgbClr val="1C4E80"/>
                </a:solidFill>
                <a:latin typeface="Calibri" pitchFamily="34" charset="0"/>
                <a:ea typeface="Calibri" pitchFamily="34" charset="-122"/>
                <a:cs typeface="Calibri" pitchFamily="34" charset="-120"/>
              </a:rPr>
              <a:t>Downtown Toronto</a:t>
            </a:r>
            <a:endParaRPr lang="en-US" sz="1300" dirty="0"/>
          </a:p>
        </p:txBody>
      </p:sp>
      <p:sp>
        <p:nvSpPr>
          <p:cNvPr id="9" name="Text 7"/>
          <p:cNvSpPr/>
          <p:nvPr/>
        </p:nvSpPr>
        <p:spPr>
          <a:xfrm>
            <a:off x="731520" y="1747640"/>
            <a:ext cx="246888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Target station </a:t>
            </a:r>
            <a:endParaRPr lang="en-US" sz="1100" dirty="0"/>
          </a:p>
        </p:txBody>
      </p:sp>
      <p:sp>
        <p:nvSpPr>
          <p:cNvPr id="10" name="Shape 8"/>
          <p:cNvSpPr/>
          <p:nvPr/>
        </p:nvSpPr>
        <p:spPr>
          <a:xfrm>
            <a:off x="1904604" y="1126415"/>
            <a:ext cx="1475683" cy="1005840"/>
          </a:xfrm>
          <a:prstGeom prst="roundRect">
            <a:avLst>
              <a:gd name="adj" fmla="val 1090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1" name="Shape 9"/>
          <p:cNvSpPr/>
          <p:nvPr/>
        </p:nvSpPr>
        <p:spPr>
          <a:xfrm>
            <a:off x="2041764" y="1217855"/>
            <a:ext cx="457200" cy="457200"/>
          </a:xfrm>
          <a:prstGeom prst="ellipse">
            <a:avLst/>
          </a:prstGeom>
          <a:solidFill>
            <a:srgbClr val="1C4E80"/>
          </a:solidFill>
          <a:ln w="12700">
            <a:solidFill>
              <a:srgbClr val="1C4E80"/>
            </a:solidFill>
            <a:prstDash val="solid"/>
          </a:ln>
        </p:spPr>
        <p:txBody>
          <a:bodyPr/>
          <a:lstStyle/>
          <a:p>
            <a:endParaRPr lang="en-AE"/>
          </a:p>
        </p:txBody>
      </p:sp>
      <p:sp>
        <p:nvSpPr>
          <p:cNvPr id="13" name="Text 11"/>
          <p:cNvSpPr/>
          <p:nvPr/>
        </p:nvSpPr>
        <p:spPr>
          <a:xfrm>
            <a:off x="2542084" y="1236143"/>
            <a:ext cx="768437" cy="320040"/>
          </a:xfrm>
          <a:prstGeom prst="rect">
            <a:avLst/>
          </a:prstGeom>
          <a:noFill/>
          <a:ln/>
        </p:spPr>
        <p:txBody>
          <a:bodyPr wrap="square" lIns="0" tIns="0" rIns="0" bIns="0" rtlCol="0" anchor="ctr"/>
          <a:lstStyle/>
          <a:p>
            <a:pPr marL="0" indent="0" algn="ctr">
              <a:buNone/>
            </a:pPr>
            <a:r>
              <a:rPr lang="en-US" sz="1300" b="1" dirty="0">
                <a:solidFill>
                  <a:srgbClr val="1C4E80"/>
                </a:solidFill>
                <a:latin typeface="Calibri" pitchFamily="34" charset="0"/>
                <a:ea typeface="Calibri" pitchFamily="34" charset="-122"/>
                <a:cs typeface="Calibri" pitchFamily="34" charset="-120"/>
              </a:rPr>
              <a:t>Station North</a:t>
            </a:r>
            <a:endParaRPr lang="en-US" sz="1300" dirty="0"/>
          </a:p>
        </p:txBody>
      </p:sp>
      <p:sp>
        <p:nvSpPr>
          <p:cNvPr id="14" name="Text 12"/>
          <p:cNvSpPr/>
          <p:nvPr/>
        </p:nvSpPr>
        <p:spPr>
          <a:xfrm>
            <a:off x="2388052" y="1735493"/>
            <a:ext cx="1475682" cy="274320"/>
          </a:xfrm>
          <a:prstGeom prst="rect">
            <a:avLst/>
          </a:prstGeom>
          <a:noFill/>
          <a:ln/>
        </p:spPr>
        <p:txBody>
          <a:bodyPr wrap="square" lIns="0" tIns="0" rIns="0" bIns="0" rtlCol="0" anchor="ctr"/>
          <a:lstStyle/>
          <a:p>
            <a:pPr marL="0" indent="0">
              <a:buNone/>
            </a:pPr>
            <a:r>
              <a:rPr lang="en-US" sz="1100" i="1" dirty="0" err="1">
                <a:solidFill>
                  <a:srgbClr val="64748B"/>
                </a:solidFill>
                <a:latin typeface="Calibri" pitchFamily="34" charset="0"/>
                <a:ea typeface="Calibri" pitchFamily="34" charset="-122"/>
                <a:cs typeface="Calibri" pitchFamily="34" charset="-120"/>
              </a:rPr>
              <a:t>Neighbour</a:t>
            </a:r>
            <a:r>
              <a:rPr lang="en-US" sz="1100" i="1" dirty="0">
                <a:solidFill>
                  <a:srgbClr val="64748B"/>
                </a:solidFill>
                <a:latin typeface="Calibri" pitchFamily="34" charset="0"/>
                <a:ea typeface="Calibri" pitchFamily="34" charset="-122"/>
                <a:cs typeface="Calibri" pitchFamily="34" charset="-120"/>
              </a:rPr>
              <a:t> (A)</a:t>
            </a:r>
            <a:endParaRPr lang="en-US" sz="1100" dirty="0"/>
          </a:p>
        </p:txBody>
      </p:sp>
      <p:sp>
        <p:nvSpPr>
          <p:cNvPr id="15" name="Shape 13"/>
          <p:cNvSpPr/>
          <p:nvPr/>
        </p:nvSpPr>
        <p:spPr>
          <a:xfrm>
            <a:off x="3489922" y="1126415"/>
            <a:ext cx="1612318" cy="1005840"/>
          </a:xfrm>
          <a:prstGeom prst="roundRect">
            <a:avLst>
              <a:gd name="adj" fmla="val 1090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6" name="Shape 14"/>
          <p:cNvSpPr/>
          <p:nvPr/>
        </p:nvSpPr>
        <p:spPr>
          <a:xfrm>
            <a:off x="3627082" y="1211580"/>
            <a:ext cx="457200" cy="457200"/>
          </a:xfrm>
          <a:prstGeom prst="ellipse">
            <a:avLst/>
          </a:prstGeom>
          <a:solidFill>
            <a:srgbClr val="1C4E80"/>
          </a:solidFill>
          <a:ln w="12700">
            <a:solidFill>
              <a:srgbClr val="1C4E80"/>
            </a:solidFill>
            <a:prstDash val="solid"/>
          </a:ln>
        </p:spPr>
        <p:txBody>
          <a:bodyPr/>
          <a:lstStyle/>
          <a:p>
            <a:endParaRPr lang="en-AE"/>
          </a:p>
        </p:txBody>
      </p:sp>
      <p:sp>
        <p:nvSpPr>
          <p:cNvPr id="17" name="Text 15"/>
          <p:cNvSpPr/>
          <p:nvPr/>
        </p:nvSpPr>
        <p:spPr>
          <a:xfrm>
            <a:off x="3627082" y="12115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8" name="Text 16"/>
          <p:cNvSpPr/>
          <p:nvPr/>
        </p:nvSpPr>
        <p:spPr>
          <a:xfrm>
            <a:off x="4036845" y="1236143"/>
            <a:ext cx="848972" cy="320040"/>
          </a:xfrm>
          <a:prstGeom prst="rect">
            <a:avLst/>
          </a:prstGeom>
          <a:noFill/>
          <a:ln/>
        </p:spPr>
        <p:txBody>
          <a:bodyPr wrap="square" lIns="0" tIns="0" rIns="0" bIns="0" rtlCol="0" anchor="ctr"/>
          <a:lstStyle/>
          <a:p>
            <a:pPr marL="0" indent="0" algn="ctr">
              <a:buNone/>
            </a:pPr>
            <a:r>
              <a:rPr lang="en-US" sz="1300" b="1" dirty="0">
                <a:solidFill>
                  <a:srgbClr val="1C4E80"/>
                </a:solidFill>
                <a:latin typeface="Calibri" pitchFamily="34" charset="0"/>
                <a:ea typeface="Calibri" pitchFamily="34" charset="-122"/>
                <a:cs typeface="Calibri" pitchFamily="34" charset="-120"/>
              </a:rPr>
              <a:t>Station West</a:t>
            </a:r>
            <a:endParaRPr lang="en-US" sz="1300" dirty="0"/>
          </a:p>
        </p:txBody>
      </p:sp>
      <p:sp>
        <p:nvSpPr>
          <p:cNvPr id="19" name="Text 17"/>
          <p:cNvSpPr/>
          <p:nvPr/>
        </p:nvSpPr>
        <p:spPr>
          <a:xfrm>
            <a:off x="4047945" y="1735494"/>
            <a:ext cx="1475680" cy="274320"/>
          </a:xfrm>
          <a:prstGeom prst="rect">
            <a:avLst/>
          </a:prstGeom>
          <a:noFill/>
          <a:ln/>
        </p:spPr>
        <p:txBody>
          <a:bodyPr wrap="square" lIns="0" tIns="0" rIns="0" bIns="0" rtlCol="0" anchor="ctr"/>
          <a:lstStyle/>
          <a:p>
            <a:pPr marL="0" indent="0">
              <a:buNone/>
            </a:pPr>
            <a:r>
              <a:rPr lang="en-US" sz="1100" i="1" dirty="0" err="1">
                <a:solidFill>
                  <a:srgbClr val="64748B"/>
                </a:solidFill>
                <a:latin typeface="Calibri" pitchFamily="34" charset="0"/>
                <a:ea typeface="Calibri" pitchFamily="34" charset="-122"/>
                <a:cs typeface="Calibri" pitchFamily="34" charset="-120"/>
              </a:rPr>
              <a:t>Neighbour</a:t>
            </a:r>
            <a:r>
              <a:rPr lang="en-US" sz="1100" i="1" dirty="0">
                <a:solidFill>
                  <a:srgbClr val="64748B"/>
                </a:solidFill>
                <a:latin typeface="Calibri" pitchFamily="34" charset="0"/>
                <a:ea typeface="Calibri" pitchFamily="34" charset="-122"/>
                <a:cs typeface="Calibri" pitchFamily="34" charset="-120"/>
              </a:rPr>
              <a:t> (B)</a:t>
            </a:r>
            <a:endParaRPr lang="en-US" sz="1100" dirty="0"/>
          </a:p>
        </p:txBody>
      </p:sp>
      <p:sp>
        <p:nvSpPr>
          <p:cNvPr id="20" name="Shape 18"/>
          <p:cNvSpPr/>
          <p:nvPr/>
        </p:nvSpPr>
        <p:spPr>
          <a:xfrm>
            <a:off x="588137" y="2331720"/>
            <a:ext cx="1993392" cy="914400"/>
          </a:xfrm>
          <a:prstGeom prst="roundRect">
            <a:avLst>
              <a:gd name="adj" fmla="val 120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1" name="Text 19"/>
          <p:cNvSpPr/>
          <p:nvPr/>
        </p:nvSpPr>
        <p:spPr>
          <a:xfrm>
            <a:off x="679577" y="2377440"/>
            <a:ext cx="1810512" cy="457200"/>
          </a:xfrm>
          <a:prstGeom prst="rect">
            <a:avLst/>
          </a:prstGeom>
          <a:noFill/>
          <a:ln/>
        </p:spPr>
        <p:txBody>
          <a:bodyPr wrap="square" rtlCol="0" anchor="ctr"/>
          <a:lstStyle/>
          <a:p>
            <a:pPr marL="0" indent="0" algn="ctr">
              <a:buNone/>
            </a:pPr>
            <a:r>
              <a:rPr lang="en-US" sz="2200" b="1" dirty="0">
                <a:solidFill>
                  <a:srgbClr val="00A8E8"/>
                </a:solidFill>
                <a:latin typeface="Calibri" pitchFamily="34" charset="0"/>
                <a:ea typeface="Calibri" pitchFamily="34" charset="-122"/>
                <a:cs typeface="Calibri" pitchFamily="34" charset="-120"/>
              </a:rPr>
              <a:t>25,535</a:t>
            </a:r>
            <a:endParaRPr lang="en-US" sz="2200" dirty="0"/>
          </a:p>
        </p:txBody>
      </p:sp>
      <p:sp>
        <p:nvSpPr>
          <p:cNvPr id="22" name="Text 20"/>
          <p:cNvSpPr/>
          <p:nvPr/>
        </p:nvSpPr>
        <p:spPr>
          <a:xfrm>
            <a:off x="679577" y="2834640"/>
            <a:ext cx="1810512" cy="36576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Hourly</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observations</a:t>
            </a:r>
            <a:endParaRPr lang="en-US" sz="1000" dirty="0"/>
          </a:p>
        </p:txBody>
      </p:sp>
      <p:sp>
        <p:nvSpPr>
          <p:cNvPr id="23" name="Shape 21"/>
          <p:cNvSpPr/>
          <p:nvPr/>
        </p:nvSpPr>
        <p:spPr>
          <a:xfrm>
            <a:off x="579209" y="3429000"/>
            <a:ext cx="1993392" cy="914400"/>
          </a:xfrm>
          <a:prstGeom prst="roundRect">
            <a:avLst>
              <a:gd name="adj" fmla="val 120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4" name="Text 22"/>
          <p:cNvSpPr/>
          <p:nvPr/>
        </p:nvSpPr>
        <p:spPr>
          <a:xfrm>
            <a:off x="670649" y="3474720"/>
            <a:ext cx="1810512" cy="457200"/>
          </a:xfrm>
          <a:prstGeom prst="rect">
            <a:avLst/>
          </a:prstGeom>
          <a:noFill/>
          <a:ln/>
        </p:spPr>
        <p:txBody>
          <a:bodyPr wrap="square" rtlCol="0" anchor="ctr"/>
          <a:lstStyle/>
          <a:p>
            <a:pPr marL="0" indent="0" algn="ctr">
              <a:buNone/>
            </a:pPr>
            <a:r>
              <a:rPr lang="en-US" sz="2200" b="1" dirty="0">
                <a:solidFill>
                  <a:srgbClr val="00A8E8"/>
                </a:solidFill>
                <a:latin typeface="Calibri" pitchFamily="34" charset="0"/>
                <a:ea typeface="Calibri" pitchFamily="34" charset="-122"/>
                <a:cs typeface="Calibri" pitchFamily="34" charset="-120"/>
              </a:rPr>
              <a:t>3</a:t>
            </a:r>
            <a:endParaRPr lang="en-US" sz="2200" dirty="0"/>
          </a:p>
        </p:txBody>
      </p:sp>
      <p:sp>
        <p:nvSpPr>
          <p:cNvPr id="25" name="Text 23"/>
          <p:cNvSpPr/>
          <p:nvPr/>
        </p:nvSpPr>
        <p:spPr>
          <a:xfrm>
            <a:off x="670649" y="3931920"/>
            <a:ext cx="1810512" cy="36576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Toronto</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stations</a:t>
            </a:r>
            <a:endParaRPr lang="en-US" sz="1000" dirty="0"/>
          </a:p>
        </p:txBody>
      </p:sp>
      <p:sp>
        <p:nvSpPr>
          <p:cNvPr id="26" name="Shape 24"/>
          <p:cNvSpPr/>
          <p:nvPr/>
        </p:nvSpPr>
        <p:spPr>
          <a:xfrm>
            <a:off x="2722315" y="2331720"/>
            <a:ext cx="1993392" cy="914400"/>
          </a:xfrm>
          <a:prstGeom prst="roundRect">
            <a:avLst>
              <a:gd name="adj" fmla="val 120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7" name="Text 25"/>
          <p:cNvSpPr/>
          <p:nvPr/>
        </p:nvSpPr>
        <p:spPr>
          <a:xfrm>
            <a:off x="2813755" y="2377440"/>
            <a:ext cx="1810512" cy="457200"/>
          </a:xfrm>
          <a:prstGeom prst="rect">
            <a:avLst/>
          </a:prstGeom>
          <a:noFill/>
          <a:ln/>
        </p:spPr>
        <p:txBody>
          <a:bodyPr wrap="square" rtlCol="0" anchor="ctr"/>
          <a:lstStyle/>
          <a:p>
            <a:pPr marL="0" indent="0" algn="ctr">
              <a:buNone/>
            </a:pPr>
            <a:r>
              <a:rPr lang="en-US" sz="2200" b="1" dirty="0">
                <a:solidFill>
                  <a:srgbClr val="00A8E8"/>
                </a:solidFill>
                <a:latin typeface="Calibri" pitchFamily="34" charset="0"/>
                <a:ea typeface="Calibri" pitchFamily="34" charset="-122"/>
                <a:cs typeface="Calibri" pitchFamily="34" charset="-120"/>
              </a:rPr>
              <a:t>Jul 2023</a:t>
            </a:r>
            <a:endParaRPr lang="en-US" sz="2200" dirty="0"/>
          </a:p>
        </p:txBody>
      </p:sp>
      <p:sp>
        <p:nvSpPr>
          <p:cNvPr id="28" name="Text 26"/>
          <p:cNvSpPr/>
          <p:nvPr/>
        </p:nvSpPr>
        <p:spPr>
          <a:xfrm>
            <a:off x="2813755" y="2834640"/>
            <a:ext cx="1810512" cy="36576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Dataset</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start</a:t>
            </a:r>
            <a:endParaRPr lang="en-US" sz="1000" dirty="0"/>
          </a:p>
        </p:txBody>
      </p:sp>
      <p:sp>
        <p:nvSpPr>
          <p:cNvPr id="29" name="Shape 27"/>
          <p:cNvSpPr/>
          <p:nvPr/>
        </p:nvSpPr>
        <p:spPr>
          <a:xfrm>
            <a:off x="2722315" y="3429000"/>
            <a:ext cx="1993392" cy="914400"/>
          </a:xfrm>
          <a:prstGeom prst="roundRect">
            <a:avLst>
              <a:gd name="adj" fmla="val 120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0" name="Text 28"/>
          <p:cNvSpPr/>
          <p:nvPr/>
        </p:nvSpPr>
        <p:spPr>
          <a:xfrm>
            <a:off x="2813755" y="3474720"/>
            <a:ext cx="1810512" cy="457200"/>
          </a:xfrm>
          <a:prstGeom prst="rect">
            <a:avLst/>
          </a:prstGeom>
          <a:noFill/>
          <a:ln/>
        </p:spPr>
        <p:txBody>
          <a:bodyPr wrap="square" rtlCol="0" anchor="ctr"/>
          <a:lstStyle/>
          <a:p>
            <a:pPr marL="0" indent="0" algn="ctr">
              <a:buNone/>
            </a:pPr>
            <a:r>
              <a:rPr lang="en-US" sz="2200" b="1" dirty="0">
                <a:solidFill>
                  <a:srgbClr val="00A8E8"/>
                </a:solidFill>
                <a:latin typeface="Calibri" pitchFamily="34" charset="0"/>
                <a:ea typeface="Calibri" pitchFamily="34" charset="-122"/>
                <a:cs typeface="Calibri" pitchFamily="34" charset="-120"/>
              </a:rPr>
              <a:t>Jun 2026</a:t>
            </a:r>
            <a:endParaRPr lang="en-US" sz="2200" dirty="0"/>
          </a:p>
        </p:txBody>
      </p:sp>
      <p:sp>
        <p:nvSpPr>
          <p:cNvPr id="31" name="Text 29"/>
          <p:cNvSpPr/>
          <p:nvPr/>
        </p:nvSpPr>
        <p:spPr>
          <a:xfrm>
            <a:off x="2813755" y="3931920"/>
            <a:ext cx="1810512" cy="36576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Dataset</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end</a:t>
            </a:r>
            <a:endParaRPr lang="en-US" sz="1000" dirty="0"/>
          </a:p>
        </p:txBody>
      </p:sp>
      <p:sp>
        <p:nvSpPr>
          <p:cNvPr id="41" name="Text 38"/>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t>5</a:t>
            </a:r>
          </a:p>
        </p:txBody>
      </p:sp>
      <p:pic>
        <p:nvPicPr>
          <p:cNvPr id="40" name="image1.png" descr="University of Ontario Institute of Technology logo">
            <a:extLst>
              <a:ext uri="{FF2B5EF4-FFF2-40B4-BE49-F238E27FC236}">
                <a16:creationId xmlns:a16="http://schemas.microsoft.com/office/drawing/2014/main" id="{FC6ACF66-9526-13D8-5496-90D7D1501F50}"/>
              </a:ext>
            </a:extLst>
          </p:cNvPr>
          <p:cNvPicPr/>
          <p:nvPr/>
        </p:nvPicPr>
        <p:blipFill>
          <a:blip r:embed="rId3"/>
          <a:srcRect/>
          <a:stretch>
            <a:fillRect/>
          </a:stretch>
        </p:blipFill>
        <p:spPr>
          <a:xfrm>
            <a:off x="7570692" y="98790"/>
            <a:ext cx="1416424" cy="404310"/>
          </a:xfrm>
          <a:prstGeom prst="rect">
            <a:avLst/>
          </a:prstGeom>
          <a:ln/>
        </p:spPr>
      </p:pic>
      <p:pic>
        <p:nvPicPr>
          <p:cNvPr id="42" name="Picture 41">
            <a:extLst>
              <a:ext uri="{FF2B5EF4-FFF2-40B4-BE49-F238E27FC236}">
                <a16:creationId xmlns:a16="http://schemas.microsoft.com/office/drawing/2014/main" id="{A12C88AE-BD72-73B2-6414-6E5AAB34F4B3}"/>
              </a:ext>
            </a:extLst>
          </p:cNvPr>
          <p:cNvPicPr>
            <a:picLocks noChangeAspect="1"/>
          </p:cNvPicPr>
          <p:nvPr/>
        </p:nvPicPr>
        <p:blipFill>
          <a:blip r:embed="rId4"/>
          <a:srcRect r="8537"/>
          <a:stretch>
            <a:fillRect/>
          </a:stretch>
        </p:blipFill>
        <p:spPr>
          <a:xfrm>
            <a:off x="5156597" y="817936"/>
            <a:ext cx="3941684" cy="3941967"/>
          </a:xfrm>
          <a:prstGeom prst="rect">
            <a:avLst/>
          </a:prstGeom>
        </p:spPr>
      </p:pic>
      <p:sp>
        <p:nvSpPr>
          <p:cNvPr id="43" name="Text 15">
            <a:extLst>
              <a:ext uri="{FF2B5EF4-FFF2-40B4-BE49-F238E27FC236}">
                <a16:creationId xmlns:a16="http://schemas.microsoft.com/office/drawing/2014/main" id="{00D18480-EE1D-158D-037C-757EA3E8865D}"/>
              </a:ext>
            </a:extLst>
          </p:cNvPr>
          <p:cNvSpPr/>
          <p:nvPr/>
        </p:nvSpPr>
        <p:spPr>
          <a:xfrm>
            <a:off x="2024801" y="12084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373469"/>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The Dynamic Graph</a:t>
            </a:r>
            <a:endParaRPr lang="en-US" sz="2200" dirty="0"/>
          </a:p>
        </p:txBody>
      </p:sp>
      <p:sp>
        <p:nvSpPr>
          <p:cNvPr id="4" name="Text 2"/>
          <p:cNvSpPr/>
          <p:nvPr/>
        </p:nvSpPr>
        <p:spPr>
          <a:xfrm>
            <a:off x="544158" y="1949828"/>
            <a:ext cx="8503920" cy="329184"/>
          </a:xfrm>
          <a:prstGeom prst="rect">
            <a:avLst/>
          </a:prstGeom>
          <a:noFill/>
          <a:ln/>
        </p:spPr>
        <p:txBody>
          <a:bodyPr wrap="square" lIns="0" tIns="0" rIns="0" bIns="0" rtlCol="0" anchor="ctr"/>
          <a:lstStyle/>
          <a:p>
            <a:pPr marL="0" indent="0">
              <a:buNone/>
            </a:pPr>
            <a:r>
              <a:rPr lang="en-US" sz="1200" dirty="0">
                <a:solidFill>
                  <a:srgbClr val="00A8E8"/>
                </a:solidFill>
                <a:latin typeface="Calibri" pitchFamily="34" charset="0"/>
                <a:ea typeface="Calibri" pitchFamily="34" charset="-122"/>
                <a:cs typeface="Calibri" pitchFamily="34" charset="-120"/>
              </a:rPr>
              <a:t>Stations as nodes, wind-conditioned edges that change every timestep</a:t>
            </a:r>
            <a:endParaRPr lang="en-US" sz="1200" dirty="0"/>
          </a:p>
        </p:txBody>
      </p:sp>
      <p:sp>
        <p:nvSpPr>
          <p:cNvPr id="7" name="Text 5"/>
          <p:cNvSpPr/>
          <p:nvPr/>
        </p:nvSpPr>
        <p:spPr>
          <a:xfrm>
            <a:off x="621792" y="132588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Noe 1</a:t>
            </a:r>
            <a:endParaRPr lang="en-US" sz="1000" dirty="0"/>
          </a:p>
        </p:txBody>
      </p:sp>
      <p:sp>
        <p:nvSpPr>
          <p:cNvPr id="12" name="Text 10"/>
          <p:cNvSpPr/>
          <p:nvPr/>
        </p:nvSpPr>
        <p:spPr>
          <a:xfrm>
            <a:off x="3502152" y="1325880"/>
            <a:ext cx="50292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Node 2</a:t>
            </a:r>
            <a:endParaRPr lang="en-US" sz="1000" dirty="0"/>
          </a:p>
        </p:txBody>
      </p:sp>
      <p:sp>
        <p:nvSpPr>
          <p:cNvPr id="20" name="Shape 18"/>
          <p:cNvSpPr/>
          <p:nvPr/>
        </p:nvSpPr>
        <p:spPr>
          <a:xfrm>
            <a:off x="354107" y="2331720"/>
            <a:ext cx="5463987" cy="777240"/>
          </a:xfrm>
          <a:prstGeom prst="roundRect">
            <a:avLst>
              <a:gd name="adj" fmla="val 14118"/>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dirty="0"/>
          </a:p>
        </p:txBody>
      </p:sp>
      <p:sp>
        <p:nvSpPr>
          <p:cNvPr id="21" name="Text 19"/>
          <p:cNvSpPr/>
          <p:nvPr/>
        </p:nvSpPr>
        <p:spPr>
          <a:xfrm>
            <a:off x="536988" y="2395728"/>
            <a:ext cx="2743200" cy="640080"/>
          </a:xfrm>
          <a:prstGeom prst="rect">
            <a:avLst/>
          </a:prstGeom>
          <a:noFill/>
          <a:ln/>
        </p:spPr>
        <p:txBody>
          <a:bodyPr wrap="square" rtlCol="0" anchor="ctr"/>
          <a:lstStyle/>
          <a:p>
            <a:pPr marL="0" indent="0">
              <a:buNone/>
            </a:pPr>
            <a:r>
              <a:rPr lang="en-US" sz="1800" b="1" i="1" dirty="0">
                <a:solidFill>
                  <a:srgbClr val="00A8E8"/>
                </a:solidFill>
                <a:latin typeface="Courier New" pitchFamily="34" charset="0"/>
                <a:ea typeface="Courier New" pitchFamily="34" charset="-122"/>
                <a:cs typeface="Courier New" pitchFamily="34" charset="-120"/>
              </a:rPr>
              <a:t>G = (V, E, A(t))</a:t>
            </a:r>
            <a:endParaRPr lang="en-US" sz="1800" dirty="0"/>
          </a:p>
        </p:txBody>
      </p:sp>
      <p:sp>
        <p:nvSpPr>
          <p:cNvPr id="22" name="Text 20"/>
          <p:cNvSpPr/>
          <p:nvPr/>
        </p:nvSpPr>
        <p:spPr>
          <a:xfrm>
            <a:off x="3212059" y="2395728"/>
            <a:ext cx="5326828" cy="64008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V = monitoring stations    E = possible links    </a:t>
            </a:r>
          </a:p>
          <a:p>
            <a:pPr marL="0" indent="0">
              <a:buNone/>
            </a:pPr>
            <a:r>
              <a:rPr lang="en-US" sz="1100" b="1" dirty="0">
                <a:solidFill>
                  <a:srgbClr val="FFFFFF"/>
                </a:solidFill>
                <a:latin typeface="Calibri" pitchFamily="34" charset="0"/>
                <a:ea typeface="Calibri" pitchFamily="34" charset="-122"/>
                <a:cs typeface="Calibri" pitchFamily="34" charset="-120"/>
              </a:rPr>
              <a:t>A(t) = dynamic adjacency matrix at time t</a:t>
            </a:r>
            <a:endParaRPr lang="en-US" sz="1100" dirty="0"/>
          </a:p>
        </p:txBody>
      </p:sp>
      <p:sp>
        <p:nvSpPr>
          <p:cNvPr id="23" name="Text 21"/>
          <p:cNvSpPr/>
          <p:nvPr/>
        </p:nvSpPr>
        <p:spPr>
          <a:xfrm>
            <a:off x="457200" y="3310128"/>
            <a:ext cx="8229600" cy="292608"/>
          </a:xfrm>
          <a:prstGeom prst="rect">
            <a:avLst/>
          </a:prstGeom>
          <a:noFill/>
          <a:ln/>
        </p:spPr>
        <p:txBody>
          <a:bodyPr wrap="square" rtlCol="0" anchor="ctr"/>
          <a:lstStyle/>
          <a:p>
            <a:pPr marL="0" indent="0">
              <a:buNone/>
            </a:pPr>
            <a:r>
              <a:rPr lang="en-US" sz="1250" i="1" dirty="0">
                <a:solidFill>
                  <a:srgbClr val="1C4E80"/>
                </a:solidFill>
                <a:latin typeface="Calibri" pitchFamily="34" charset="0"/>
                <a:ea typeface="Calibri" pitchFamily="34" charset="-122"/>
                <a:cs typeface="Calibri" pitchFamily="34" charset="-120"/>
              </a:rPr>
              <a:t>Why is it dynamic? The influence of a station depends on current wind, not fixed geography.</a:t>
            </a:r>
            <a:endParaRPr lang="en-US" sz="1250" dirty="0"/>
          </a:p>
        </p:txBody>
      </p:sp>
      <p:sp>
        <p:nvSpPr>
          <p:cNvPr id="24" name="Shape 22"/>
          <p:cNvSpPr/>
          <p:nvPr/>
        </p:nvSpPr>
        <p:spPr>
          <a:xfrm>
            <a:off x="457200" y="3657600"/>
            <a:ext cx="4023360" cy="1234440"/>
          </a:xfrm>
          <a:prstGeom prst="roundRect">
            <a:avLst>
              <a:gd name="adj" fmla="val 888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5" name="Text 23"/>
          <p:cNvSpPr/>
          <p:nvPr/>
        </p:nvSpPr>
        <p:spPr>
          <a:xfrm>
            <a:off x="640080" y="3730752"/>
            <a:ext cx="365760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Case 1 — Wind: West → Downtown</a:t>
            </a:r>
            <a:endParaRPr lang="en-US" sz="1200" dirty="0"/>
          </a:p>
        </p:txBody>
      </p:sp>
      <p:sp>
        <p:nvSpPr>
          <p:cNvPr id="26" name="Text 24"/>
          <p:cNvSpPr/>
          <p:nvPr/>
        </p:nvSpPr>
        <p:spPr>
          <a:xfrm>
            <a:off x="640080" y="4041648"/>
            <a:ext cx="3657600" cy="36576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West station strongly influences Downtown</a:t>
            </a:r>
            <a:endParaRPr lang="en-US" sz="1150" dirty="0"/>
          </a:p>
        </p:txBody>
      </p:sp>
      <p:sp>
        <p:nvSpPr>
          <p:cNvPr id="27" name="Text 25"/>
          <p:cNvSpPr/>
          <p:nvPr/>
        </p:nvSpPr>
        <p:spPr>
          <a:xfrm>
            <a:off x="640080" y="4443984"/>
            <a:ext cx="3657600" cy="320040"/>
          </a:xfrm>
          <a:prstGeom prst="rect">
            <a:avLst/>
          </a:prstGeom>
          <a:noFill/>
          <a:ln/>
        </p:spPr>
        <p:txBody>
          <a:bodyPr wrap="square" rtlCol="0" anchor="ctr"/>
          <a:lstStyle/>
          <a:p>
            <a:pPr marL="0" indent="0">
              <a:buNone/>
            </a:pPr>
            <a:r>
              <a:rPr lang="en-US" sz="1100" b="1" dirty="0">
                <a:solidFill>
                  <a:srgbClr val="059669"/>
                </a:solidFill>
                <a:latin typeface="Courier New" pitchFamily="34" charset="0"/>
                <a:ea typeface="Courier New" pitchFamily="34" charset="-122"/>
                <a:cs typeface="Courier New" pitchFamily="34" charset="-120"/>
              </a:rPr>
              <a:t>Alignment ≈ +1  →  high edge weight</a:t>
            </a:r>
            <a:endParaRPr lang="en-US" sz="1100" dirty="0"/>
          </a:p>
        </p:txBody>
      </p:sp>
      <p:sp>
        <p:nvSpPr>
          <p:cNvPr id="28" name="Shape 26"/>
          <p:cNvSpPr/>
          <p:nvPr/>
        </p:nvSpPr>
        <p:spPr>
          <a:xfrm>
            <a:off x="4663440" y="3657600"/>
            <a:ext cx="4023360" cy="1234440"/>
          </a:xfrm>
          <a:prstGeom prst="roundRect">
            <a:avLst>
              <a:gd name="adj" fmla="val 888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9" name="Text 27"/>
          <p:cNvSpPr/>
          <p:nvPr/>
        </p:nvSpPr>
        <p:spPr>
          <a:xfrm>
            <a:off x="4846320" y="3730752"/>
            <a:ext cx="3657600" cy="292608"/>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Case 2 — Wind: Downtown → West</a:t>
            </a:r>
            <a:endParaRPr lang="en-US" sz="1200" dirty="0"/>
          </a:p>
        </p:txBody>
      </p:sp>
      <p:sp>
        <p:nvSpPr>
          <p:cNvPr id="30" name="Text 28"/>
          <p:cNvSpPr/>
          <p:nvPr/>
        </p:nvSpPr>
        <p:spPr>
          <a:xfrm>
            <a:off x="4846320" y="4041648"/>
            <a:ext cx="3657600" cy="365760"/>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West station weakly influences Downtown</a:t>
            </a:r>
            <a:endParaRPr lang="en-US" sz="1150" dirty="0"/>
          </a:p>
        </p:txBody>
      </p:sp>
      <p:sp>
        <p:nvSpPr>
          <p:cNvPr id="31" name="Text 29"/>
          <p:cNvSpPr/>
          <p:nvPr/>
        </p:nvSpPr>
        <p:spPr>
          <a:xfrm>
            <a:off x="4846320" y="4443984"/>
            <a:ext cx="3657600" cy="320040"/>
          </a:xfrm>
          <a:prstGeom prst="rect">
            <a:avLst/>
          </a:prstGeom>
          <a:noFill/>
          <a:ln/>
        </p:spPr>
        <p:txBody>
          <a:bodyPr wrap="square" rtlCol="0" anchor="ctr"/>
          <a:lstStyle/>
          <a:p>
            <a:pPr marL="0" indent="0">
              <a:buNone/>
            </a:pPr>
            <a:r>
              <a:rPr lang="en-US" sz="1100" b="1" dirty="0">
                <a:solidFill>
                  <a:srgbClr val="D97706"/>
                </a:solidFill>
                <a:latin typeface="Courier New" pitchFamily="34" charset="0"/>
                <a:ea typeface="Courier New" pitchFamily="34" charset="-122"/>
                <a:cs typeface="Courier New" pitchFamily="34" charset="-120"/>
              </a:rPr>
              <a:t>Alignment ≈ −1  →  near-zero edge weight</a:t>
            </a:r>
            <a:endParaRPr lang="en-US" sz="1100" dirty="0"/>
          </a:p>
        </p:txBody>
      </p:sp>
      <p:sp>
        <p:nvSpPr>
          <p:cNvPr id="35" name="Shape 3">
            <a:extLst>
              <a:ext uri="{FF2B5EF4-FFF2-40B4-BE49-F238E27FC236}">
                <a16:creationId xmlns:a16="http://schemas.microsoft.com/office/drawing/2014/main" id="{6A2502EE-C502-2B29-7FEA-859DF28579F3}"/>
              </a:ext>
            </a:extLst>
          </p:cNvPr>
          <p:cNvSpPr/>
          <p:nvPr/>
        </p:nvSpPr>
        <p:spPr>
          <a:xfrm>
            <a:off x="359484" y="950259"/>
            <a:ext cx="1538248" cy="1005840"/>
          </a:xfrm>
          <a:prstGeom prst="roundRect">
            <a:avLst>
              <a:gd name="adj" fmla="val 1090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6" name="Shape 4">
            <a:extLst>
              <a:ext uri="{FF2B5EF4-FFF2-40B4-BE49-F238E27FC236}">
                <a16:creationId xmlns:a16="http://schemas.microsoft.com/office/drawing/2014/main" id="{524D0799-0DC2-82FB-0467-646E5F9F2C4F}"/>
              </a:ext>
            </a:extLst>
          </p:cNvPr>
          <p:cNvSpPr/>
          <p:nvPr/>
        </p:nvSpPr>
        <p:spPr>
          <a:xfrm>
            <a:off x="464747" y="1036383"/>
            <a:ext cx="576072" cy="513200"/>
          </a:xfrm>
          <a:prstGeom prst="ellipse">
            <a:avLst/>
          </a:prstGeom>
          <a:solidFill>
            <a:srgbClr val="00A8E8"/>
          </a:solidFill>
          <a:ln w="12700">
            <a:solidFill>
              <a:srgbClr val="00A8E8"/>
            </a:solidFill>
            <a:prstDash val="solid"/>
          </a:ln>
        </p:spPr>
        <p:txBody>
          <a:bodyPr/>
          <a:lstStyle/>
          <a:p>
            <a:endParaRPr lang="en-AE"/>
          </a:p>
        </p:txBody>
      </p:sp>
      <p:sp>
        <p:nvSpPr>
          <p:cNvPr id="37" name="Text 5">
            <a:extLst>
              <a:ext uri="{FF2B5EF4-FFF2-40B4-BE49-F238E27FC236}">
                <a16:creationId xmlns:a16="http://schemas.microsoft.com/office/drawing/2014/main" id="{F8DF5F53-4C54-8099-37B2-860EA92EA497}"/>
              </a:ext>
            </a:extLst>
          </p:cNvPr>
          <p:cNvSpPr/>
          <p:nvPr/>
        </p:nvSpPr>
        <p:spPr>
          <a:xfrm>
            <a:off x="410560" y="1057482"/>
            <a:ext cx="699437"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Target node</a:t>
            </a:r>
            <a:endParaRPr lang="en-US" sz="1200" dirty="0"/>
          </a:p>
        </p:txBody>
      </p:sp>
      <p:sp>
        <p:nvSpPr>
          <p:cNvPr id="38" name="Text 6">
            <a:extLst>
              <a:ext uri="{FF2B5EF4-FFF2-40B4-BE49-F238E27FC236}">
                <a16:creationId xmlns:a16="http://schemas.microsoft.com/office/drawing/2014/main" id="{44BB3BDF-9473-DEF7-19F2-61332CD940F2}"/>
              </a:ext>
            </a:extLst>
          </p:cNvPr>
          <p:cNvSpPr/>
          <p:nvPr/>
        </p:nvSpPr>
        <p:spPr>
          <a:xfrm>
            <a:off x="1072716" y="1059987"/>
            <a:ext cx="777240" cy="320040"/>
          </a:xfrm>
          <a:prstGeom prst="rect">
            <a:avLst/>
          </a:prstGeom>
          <a:noFill/>
          <a:ln/>
        </p:spPr>
        <p:txBody>
          <a:bodyPr wrap="square" lIns="0" tIns="0" rIns="0" bIns="0" rtlCol="0" anchor="ctr"/>
          <a:lstStyle/>
          <a:p>
            <a:pPr marL="0" indent="0" algn="ctr">
              <a:buNone/>
            </a:pPr>
            <a:r>
              <a:rPr lang="en-US" sz="1300" b="1" dirty="0">
                <a:solidFill>
                  <a:srgbClr val="1C4E80"/>
                </a:solidFill>
                <a:latin typeface="Calibri" pitchFamily="34" charset="0"/>
                <a:ea typeface="Calibri" pitchFamily="34" charset="-122"/>
                <a:cs typeface="Calibri" pitchFamily="34" charset="-120"/>
              </a:rPr>
              <a:t>Downtown Toronto</a:t>
            </a:r>
            <a:endParaRPr lang="en-US" sz="1300" dirty="0"/>
          </a:p>
        </p:txBody>
      </p:sp>
      <p:sp>
        <p:nvSpPr>
          <p:cNvPr id="39" name="Text 7">
            <a:extLst>
              <a:ext uri="{FF2B5EF4-FFF2-40B4-BE49-F238E27FC236}">
                <a16:creationId xmlns:a16="http://schemas.microsoft.com/office/drawing/2014/main" id="{E4B89F95-A035-E140-DC97-61CC4D97A884}"/>
              </a:ext>
            </a:extLst>
          </p:cNvPr>
          <p:cNvSpPr/>
          <p:nvPr/>
        </p:nvSpPr>
        <p:spPr>
          <a:xfrm>
            <a:off x="816684" y="1554899"/>
            <a:ext cx="246888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Target station </a:t>
            </a:r>
            <a:endParaRPr lang="en-US" sz="1100" dirty="0"/>
          </a:p>
        </p:txBody>
      </p:sp>
      <p:sp>
        <p:nvSpPr>
          <p:cNvPr id="40" name="Shape 8">
            <a:extLst>
              <a:ext uri="{FF2B5EF4-FFF2-40B4-BE49-F238E27FC236}">
                <a16:creationId xmlns:a16="http://schemas.microsoft.com/office/drawing/2014/main" id="{366C8306-EF73-5E6B-593F-4E79EB9DEEA2}"/>
              </a:ext>
            </a:extLst>
          </p:cNvPr>
          <p:cNvSpPr/>
          <p:nvPr/>
        </p:nvSpPr>
        <p:spPr>
          <a:xfrm>
            <a:off x="1989768" y="933674"/>
            <a:ext cx="1475683" cy="1005840"/>
          </a:xfrm>
          <a:prstGeom prst="roundRect">
            <a:avLst>
              <a:gd name="adj" fmla="val 1090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41" name="Shape 9">
            <a:extLst>
              <a:ext uri="{FF2B5EF4-FFF2-40B4-BE49-F238E27FC236}">
                <a16:creationId xmlns:a16="http://schemas.microsoft.com/office/drawing/2014/main" id="{70769D21-1BC4-DA41-74AB-6327D4BC0584}"/>
              </a:ext>
            </a:extLst>
          </p:cNvPr>
          <p:cNvSpPr/>
          <p:nvPr/>
        </p:nvSpPr>
        <p:spPr>
          <a:xfrm>
            <a:off x="2126928" y="1025114"/>
            <a:ext cx="457200" cy="457200"/>
          </a:xfrm>
          <a:prstGeom prst="ellipse">
            <a:avLst/>
          </a:prstGeom>
          <a:solidFill>
            <a:srgbClr val="1C4E80"/>
          </a:solidFill>
          <a:ln w="12700">
            <a:solidFill>
              <a:srgbClr val="1C4E80"/>
            </a:solidFill>
            <a:prstDash val="solid"/>
          </a:ln>
        </p:spPr>
        <p:txBody>
          <a:bodyPr/>
          <a:lstStyle/>
          <a:p>
            <a:endParaRPr lang="en-AE"/>
          </a:p>
        </p:txBody>
      </p:sp>
      <p:sp>
        <p:nvSpPr>
          <p:cNvPr id="42" name="Text 11">
            <a:extLst>
              <a:ext uri="{FF2B5EF4-FFF2-40B4-BE49-F238E27FC236}">
                <a16:creationId xmlns:a16="http://schemas.microsoft.com/office/drawing/2014/main" id="{DE5A509D-A4AA-96AC-902E-DADBFEFCF542}"/>
              </a:ext>
            </a:extLst>
          </p:cNvPr>
          <p:cNvSpPr/>
          <p:nvPr/>
        </p:nvSpPr>
        <p:spPr>
          <a:xfrm>
            <a:off x="2627248" y="1043402"/>
            <a:ext cx="768437" cy="320040"/>
          </a:xfrm>
          <a:prstGeom prst="rect">
            <a:avLst/>
          </a:prstGeom>
          <a:noFill/>
          <a:ln/>
        </p:spPr>
        <p:txBody>
          <a:bodyPr wrap="square" lIns="0" tIns="0" rIns="0" bIns="0" rtlCol="0" anchor="ctr"/>
          <a:lstStyle/>
          <a:p>
            <a:pPr marL="0" indent="0" algn="ctr">
              <a:buNone/>
            </a:pPr>
            <a:r>
              <a:rPr lang="en-US" sz="1300" b="1" dirty="0">
                <a:solidFill>
                  <a:srgbClr val="1C4E80"/>
                </a:solidFill>
                <a:latin typeface="Calibri" pitchFamily="34" charset="0"/>
                <a:ea typeface="Calibri" pitchFamily="34" charset="-122"/>
                <a:cs typeface="Calibri" pitchFamily="34" charset="-120"/>
              </a:rPr>
              <a:t>Station North</a:t>
            </a:r>
            <a:endParaRPr lang="en-US" sz="1300" dirty="0"/>
          </a:p>
        </p:txBody>
      </p:sp>
      <p:sp>
        <p:nvSpPr>
          <p:cNvPr id="43" name="Text 12">
            <a:extLst>
              <a:ext uri="{FF2B5EF4-FFF2-40B4-BE49-F238E27FC236}">
                <a16:creationId xmlns:a16="http://schemas.microsoft.com/office/drawing/2014/main" id="{C31CAF26-0ADA-F41C-E824-FD785270699C}"/>
              </a:ext>
            </a:extLst>
          </p:cNvPr>
          <p:cNvSpPr/>
          <p:nvPr/>
        </p:nvSpPr>
        <p:spPr>
          <a:xfrm>
            <a:off x="2473216" y="1542752"/>
            <a:ext cx="1475682" cy="274320"/>
          </a:xfrm>
          <a:prstGeom prst="rect">
            <a:avLst/>
          </a:prstGeom>
          <a:noFill/>
          <a:ln/>
        </p:spPr>
        <p:txBody>
          <a:bodyPr wrap="square" lIns="0" tIns="0" rIns="0" bIns="0" rtlCol="0" anchor="ctr"/>
          <a:lstStyle/>
          <a:p>
            <a:pPr marL="0" indent="0">
              <a:buNone/>
            </a:pPr>
            <a:r>
              <a:rPr lang="en-US" sz="1100" i="1" dirty="0" err="1">
                <a:solidFill>
                  <a:srgbClr val="64748B"/>
                </a:solidFill>
                <a:latin typeface="Calibri" pitchFamily="34" charset="0"/>
                <a:ea typeface="Calibri" pitchFamily="34" charset="-122"/>
                <a:cs typeface="Calibri" pitchFamily="34" charset="-120"/>
              </a:rPr>
              <a:t>Neighbour</a:t>
            </a:r>
            <a:r>
              <a:rPr lang="en-US" sz="1100" i="1" dirty="0">
                <a:solidFill>
                  <a:srgbClr val="64748B"/>
                </a:solidFill>
                <a:latin typeface="Calibri" pitchFamily="34" charset="0"/>
                <a:ea typeface="Calibri" pitchFamily="34" charset="-122"/>
                <a:cs typeface="Calibri" pitchFamily="34" charset="-120"/>
              </a:rPr>
              <a:t> (A)</a:t>
            </a:r>
            <a:endParaRPr lang="en-US" sz="1100" dirty="0"/>
          </a:p>
        </p:txBody>
      </p:sp>
      <p:sp>
        <p:nvSpPr>
          <p:cNvPr id="44" name="Shape 13">
            <a:extLst>
              <a:ext uri="{FF2B5EF4-FFF2-40B4-BE49-F238E27FC236}">
                <a16:creationId xmlns:a16="http://schemas.microsoft.com/office/drawing/2014/main" id="{21C0F840-F408-8321-4564-97AA2A1D6474}"/>
              </a:ext>
            </a:extLst>
          </p:cNvPr>
          <p:cNvSpPr/>
          <p:nvPr/>
        </p:nvSpPr>
        <p:spPr>
          <a:xfrm>
            <a:off x="3575086" y="933674"/>
            <a:ext cx="1612318" cy="1005840"/>
          </a:xfrm>
          <a:prstGeom prst="roundRect">
            <a:avLst>
              <a:gd name="adj" fmla="val 1090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45" name="Shape 14">
            <a:extLst>
              <a:ext uri="{FF2B5EF4-FFF2-40B4-BE49-F238E27FC236}">
                <a16:creationId xmlns:a16="http://schemas.microsoft.com/office/drawing/2014/main" id="{35CF0942-49EF-1F67-7944-7CBA24545E59}"/>
              </a:ext>
            </a:extLst>
          </p:cNvPr>
          <p:cNvSpPr/>
          <p:nvPr/>
        </p:nvSpPr>
        <p:spPr>
          <a:xfrm>
            <a:off x="3712246" y="1018839"/>
            <a:ext cx="457200" cy="457200"/>
          </a:xfrm>
          <a:prstGeom prst="ellipse">
            <a:avLst/>
          </a:prstGeom>
          <a:solidFill>
            <a:srgbClr val="1C4E80"/>
          </a:solidFill>
          <a:ln w="12700">
            <a:solidFill>
              <a:srgbClr val="1C4E80"/>
            </a:solidFill>
            <a:prstDash val="solid"/>
          </a:ln>
        </p:spPr>
        <p:txBody>
          <a:bodyPr/>
          <a:lstStyle/>
          <a:p>
            <a:endParaRPr lang="en-AE"/>
          </a:p>
        </p:txBody>
      </p:sp>
      <p:sp>
        <p:nvSpPr>
          <p:cNvPr id="46" name="Text 15">
            <a:extLst>
              <a:ext uri="{FF2B5EF4-FFF2-40B4-BE49-F238E27FC236}">
                <a16:creationId xmlns:a16="http://schemas.microsoft.com/office/drawing/2014/main" id="{EAB1649C-A0EF-1A0A-22BC-350E181DEF27}"/>
              </a:ext>
            </a:extLst>
          </p:cNvPr>
          <p:cNvSpPr/>
          <p:nvPr/>
        </p:nvSpPr>
        <p:spPr>
          <a:xfrm>
            <a:off x="3712246" y="1018839"/>
            <a:ext cx="457200" cy="457200"/>
          </a:xfrm>
          <a:prstGeom prst="rect">
            <a:avLst/>
          </a:prstGeom>
          <a:noFill/>
          <a:ln/>
        </p:spPr>
        <p:txBody>
          <a:bodyPr wrap="square" lIns="0" tIns="0" rIns="0" bIns="0" rtlCol="0" anchor="ctr"/>
          <a:lstStyle/>
          <a:p>
            <a:pPr marL="0" indent="0" algn="ctr">
              <a:buNone/>
            </a:pPr>
            <a:endParaRPr lang="en-US" sz="1500" dirty="0"/>
          </a:p>
        </p:txBody>
      </p:sp>
      <p:sp>
        <p:nvSpPr>
          <p:cNvPr id="47" name="Text 16">
            <a:extLst>
              <a:ext uri="{FF2B5EF4-FFF2-40B4-BE49-F238E27FC236}">
                <a16:creationId xmlns:a16="http://schemas.microsoft.com/office/drawing/2014/main" id="{8369F84C-3958-41D0-5F59-C21E7DB3F72B}"/>
              </a:ext>
            </a:extLst>
          </p:cNvPr>
          <p:cNvSpPr/>
          <p:nvPr/>
        </p:nvSpPr>
        <p:spPr>
          <a:xfrm>
            <a:off x="4122009" y="1043402"/>
            <a:ext cx="848972" cy="320040"/>
          </a:xfrm>
          <a:prstGeom prst="rect">
            <a:avLst/>
          </a:prstGeom>
          <a:noFill/>
          <a:ln/>
        </p:spPr>
        <p:txBody>
          <a:bodyPr wrap="square" lIns="0" tIns="0" rIns="0" bIns="0" rtlCol="0" anchor="ctr"/>
          <a:lstStyle/>
          <a:p>
            <a:pPr marL="0" indent="0" algn="ctr">
              <a:buNone/>
            </a:pPr>
            <a:r>
              <a:rPr lang="en-US" sz="1300" b="1" dirty="0">
                <a:solidFill>
                  <a:srgbClr val="1C4E80"/>
                </a:solidFill>
                <a:latin typeface="Calibri" pitchFamily="34" charset="0"/>
                <a:ea typeface="Calibri" pitchFamily="34" charset="-122"/>
                <a:cs typeface="Calibri" pitchFamily="34" charset="-120"/>
              </a:rPr>
              <a:t>Station West</a:t>
            </a:r>
            <a:endParaRPr lang="en-US" sz="1300" dirty="0"/>
          </a:p>
        </p:txBody>
      </p:sp>
      <p:sp>
        <p:nvSpPr>
          <p:cNvPr id="48" name="Text 17">
            <a:extLst>
              <a:ext uri="{FF2B5EF4-FFF2-40B4-BE49-F238E27FC236}">
                <a16:creationId xmlns:a16="http://schemas.microsoft.com/office/drawing/2014/main" id="{EADB9BE5-24DC-51A5-C344-6250D585846E}"/>
              </a:ext>
            </a:extLst>
          </p:cNvPr>
          <p:cNvSpPr/>
          <p:nvPr/>
        </p:nvSpPr>
        <p:spPr>
          <a:xfrm>
            <a:off x="4133109" y="1542753"/>
            <a:ext cx="1475680" cy="274320"/>
          </a:xfrm>
          <a:prstGeom prst="rect">
            <a:avLst/>
          </a:prstGeom>
          <a:noFill/>
          <a:ln/>
        </p:spPr>
        <p:txBody>
          <a:bodyPr wrap="square" lIns="0" tIns="0" rIns="0" bIns="0" rtlCol="0" anchor="ctr"/>
          <a:lstStyle/>
          <a:p>
            <a:pPr marL="0" indent="0">
              <a:buNone/>
            </a:pPr>
            <a:r>
              <a:rPr lang="en-US" sz="1100" i="1" dirty="0" err="1">
                <a:solidFill>
                  <a:srgbClr val="64748B"/>
                </a:solidFill>
                <a:latin typeface="Calibri" pitchFamily="34" charset="0"/>
                <a:ea typeface="Calibri" pitchFamily="34" charset="-122"/>
                <a:cs typeface="Calibri" pitchFamily="34" charset="-120"/>
              </a:rPr>
              <a:t>Neighbour</a:t>
            </a:r>
            <a:r>
              <a:rPr lang="en-US" sz="1100" i="1" dirty="0">
                <a:solidFill>
                  <a:srgbClr val="64748B"/>
                </a:solidFill>
                <a:latin typeface="Calibri" pitchFamily="34" charset="0"/>
                <a:ea typeface="Calibri" pitchFamily="34" charset="-122"/>
                <a:cs typeface="Calibri" pitchFamily="34" charset="-120"/>
              </a:rPr>
              <a:t> (B)</a:t>
            </a:r>
            <a:endParaRPr lang="en-US" sz="1100" dirty="0"/>
          </a:p>
        </p:txBody>
      </p:sp>
      <p:pic>
        <p:nvPicPr>
          <p:cNvPr id="49" name="Picture 48">
            <a:extLst>
              <a:ext uri="{FF2B5EF4-FFF2-40B4-BE49-F238E27FC236}">
                <a16:creationId xmlns:a16="http://schemas.microsoft.com/office/drawing/2014/main" id="{E9CD27CF-E0A2-DDFE-470E-78A574F9A74C}"/>
              </a:ext>
            </a:extLst>
          </p:cNvPr>
          <p:cNvPicPr>
            <a:picLocks noChangeAspect="1"/>
          </p:cNvPicPr>
          <p:nvPr/>
        </p:nvPicPr>
        <p:blipFill>
          <a:blip r:embed="rId3"/>
          <a:srcRect r="8537"/>
          <a:stretch>
            <a:fillRect/>
          </a:stretch>
        </p:blipFill>
        <p:spPr>
          <a:xfrm>
            <a:off x="6065056" y="576252"/>
            <a:ext cx="2767385" cy="2767583"/>
          </a:xfrm>
          <a:prstGeom prst="rect">
            <a:avLst/>
          </a:prstGeom>
        </p:spPr>
      </p:pic>
      <p:pic>
        <p:nvPicPr>
          <p:cNvPr id="51" name="image1.png" descr="University of Ontario Institute of Technology logo">
            <a:extLst>
              <a:ext uri="{FF2B5EF4-FFF2-40B4-BE49-F238E27FC236}">
                <a16:creationId xmlns:a16="http://schemas.microsoft.com/office/drawing/2014/main" id="{FF75FC03-AA92-FFA7-3CC2-88F8C5A149EF}"/>
              </a:ext>
            </a:extLst>
          </p:cNvPr>
          <p:cNvPicPr/>
          <p:nvPr/>
        </p:nvPicPr>
        <p:blipFill>
          <a:blip r:embed="rId4"/>
          <a:srcRect/>
          <a:stretch>
            <a:fillRect/>
          </a:stretch>
        </p:blipFill>
        <p:spPr>
          <a:xfrm>
            <a:off x="7570692" y="98790"/>
            <a:ext cx="1416424" cy="404310"/>
          </a:xfrm>
          <a:prstGeom prst="rect">
            <a:avLst/>
          </a:prstGeom>
          <a:ln/>
        </p:spPr>
      </p:pic>
      <p:sp>
        <p:nvSpPr>
          <p:cNvPr id="55" name="Text 38">
            <a:extLst>
              <a:ext uri="{FF2B5EF4-FFF2-40B4-BE49-F238E27FC236}">
                <a16:creationId xmlns:a16="http://schemas.microsoft.com/office/drawing/2014/main" id="{43B540BC-0D26-EADD-F2DC-9E064F8FC1FC}"/>
              </a:ext>
            </a:extLst>
          </p:cNvPr>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t>6</a:t>
            </a:r>
          </a:p>
        </p:txBody>
      </p:sp>
      <p:sp>
        <p:nvSpPr>
          <p:cNvPr id="56" name="Text 5">
            <a:extLst>
              <a:ext uri="{FF2B5EF4-FFF2-40B4-BE49-F238E27FC236}">
                <a16:creationId xmlns:a16="http://schemas.microsoft.com/office/drawing/2014/main" id="{E2DA93FE-E7A2-0A17-F22F-5429C919EB14}"/>
              </a:ext>
            </a:extLst>
          </p:cNvPr>
          <p:cNvSpPr/>
          <p:nvPr/>
        </p:nvSpPr>
        <p:spPr>
          <a:xfrm>
            <a:off x="2003677" y="1034443"/>
            <a:ext cx="699437"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Node </a:t>
            </a:r>
          </a:p>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7" name="Text 5">
            <a:extLst>
              <a:ext uri="{FF2B5EF4-FFF2-40B4-BE49-F238E27FC236}">
                <a16:creationId xmlns:a16="http://schemas.microsoft.com/office/drawing/2014/main" id="{7AF3560F-E5A9-4360-3020-2D4F59C94987}"/>
              </a:ext>
            </a:extLst>
          </p:cNvPr>
          <p:cNvSpPr/>
          <p:nvPr/>
        </p:nvSpPr>
        <p:spPr>
          <a:xfrm>
            <a:off x="3602107" y="1022039"/>
            <a:ext cx="699437"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Node </a:t>
            </a:r>
          </a:p>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8" name="TextBox 57">
            <a:extLst>
              <a:ext uri="{FF2B5EF4-FFF2-40B4-BE49-F238E27FC236}">
                <a16:creationId xmlns:a16="http://schemas.microsoft.com/office/drawing/2014/main" id="{DB8B1B49-9A94-944C-4009-E39C0B967266}"/>
              </a:ext>
            </a:extLst>
          </p:cNvPr>
          <p:cNvSpPr txBox="1"/>
          <p:nvPr/>
        </p:nvSpPr>
        <p:spPr>
          <a:xfrm>
            <a:off x="6144560" y="1771433"/>
            <a:ext cx="530560" cy="369332"/>
          </a:xfrm>
          <a:prstGeom prst="rect">
            <a:avLst/>
          </a:prstGeom>
          <a:noFill/>
        </p:spPr>
        <p:txBody>
          <a:bodyPr wrap="square" rtlCol="0">
            <a:spAutoFit/>
          </a:bodyPr>
          <a:lstStyle/>
          <a:p>
            <a:pPr algn="ctr"/>
            <a:r>
              <a:rPr lang="en-CA" sz="900" dirty="0">
                <a:solidFill>
                  <a:schemeClr val="accent2">
                    <a:lumMod val="75000"/>
                  </a:schemeClr>
                </a:solidFill>
              </a:rPr>
              <a:t>Station WEST</a:t>
            </a:r>
            <a:endParaRPr lang="en-AE" sz="900" dirty="0">
              <a:solidFill>
                <a:schemeClr val="accent2">
                  <a:lumMod val="75000"/>
                </a:schemeClr>
              </a:solidFill>
            </a:endParaRPr>
          </a:p>
        </p:txBody>
      </p:sp>
      <p:sp>
        <p:nvSpPr>
          <p:cNvPr id="59" name="TextBox 58">
            <a:extLst>
              <a:ext uri="{FF2B5EF4-FFF2-40B4-BE49-F238E27FC236}">
                <a16:creationId xmlns:a16="http://schemas.microsoft.com/office/drawing/2014/main" id="{09654F27-D25C-605A-7D64-9CD65801078B}"/>
              </a:ext>
            </a:extLst>
          </p:cNvPr>
          <p:cNvSpPr txBox="1"/>
          <p:nvPr/>
        </p:nvSpPr>
        <p:spPr>
          <a:xfrm>
            <a:off x="7040132" y="647627"/>
            <a:ext cx="530560" cy="369332"/>
          </a:xfrm>
          <a:prstGeom prst="rect">
            <a:avLst/>
          </a:prstGeom>
          <a:noFill/>
        </p:spPr>
        <p:txBody>
          <a:bodyPr wrap="square" rtlCol="0">
            <a:spAutoFit/>
          </a:bodyPr>
          <a:lstStyle/>
          <a:p>
            <a:pPr algn="ctr"/>
            <a:r>
              <a:rPr lang="en-CA" sz="900" dirty="0">
                <a:solidFill>
                  <a:schemeClr val="accent2">
                    <a:lumMod val="75000"/>
                  </a:schemeClr>
                </a:solidFill>
              </a:rPr>
              <a:t>Station NORTH</a:t>
            </a:r>
            <a:endParaRPr lang="en-AE" sz="900" dirty="0">
              <a:solidFill>
                <a:schemeClr val="accent2">
                  <a:lumMod val="75000"/>
                </a:schemeClr>
              </a:solidFill>
            </a:endParaRPr>
          </a:p>
        </p:txBody>
      </p:sp>
      <p:sp>
        <p:nvSpPr>
          <p:cNvPr id="60" name="TextBox 59">
            <a:extLst>
              <a:ext uri="{FF2B5EF4-FFF2-40B4-BE49-F238E27FC236}">
                <a16:creationId xmlns:a16="http://schemas.microsoft.com/office/drawing/2014/main" id="{5F739368-9A03-85DC-C223-C1F2AC1D16F8}"/>
              </a:ext>
            </a:extLst>
          </p:cNvPr>
          <p:cNvSpPr txBox="1"/>
          <p:nvPr/>
        </p:nvSpPr>
        <p:spPr>
          <a:xfrm>
            <a:off x="7973360" y="2674275"/>
            <a:ext cx="530560" cy="369332"/>
          </a:xfrm>
          <a:prstGeom prst="rect">
            <a:avLst/>
          </a:prstGeom>
          <a:noFill/>
        </p:spPr>
        <p:txBody>
          <a:bodyPr wrap="square" rtlCol="0">
            <a:spAutoFit/>
          </a:bodyPr>
          <a:lstStyle/>
          <a:p>
            <a:pPr algn="ctr"/>
            <a:r>
              <a:rPr lang="en-CA" sz="900" dirty="0">
                <a:solidFill>
                  <a:schemeClr val="accent2">
                    <a:lumMod val="75000"/>
                  </a:schemeClr>
                </a:solidFill>
              </a:rPr>
              <a:t>DOWNTOWN</a:t>
            </a:r>
            <a:endParaRPr lang="en-AE" sz="900" dirty="0">
              <a:solidFill>
                <a:schemeClr val="accent2">
                  <a:lumMod val="75000"/>
                </a:schemeClr>
              </a:solidFill>
            </a:endParaRPr>
          </a:p>
        </p:txBody>
      </p:sp>
      <p:cxnSp>
        <p:nvCxnSpPr>
          <p:cNvPr id="62" name="Straight Arrow Connector 61">
            <a:extLst>
              <a:ext uri="{FF2B5EF4-FFF2-40B4-BE49-F238E27FC236}">
                <a16:creationId xmlns:a16="http://schemas.microsoft.com/office/drawing/2014/main" id="{33F01825-4666-C995-E980-D7D83936961A}"/>
              </a:ext>
            </a:extLst>
          </p:cNvPr>
          <p:cNvCxnSpPr>
            <a:cxnSpLocks/>
          </p:cNvCxnSpPr>
          <p:nvPr/>
        </p:nvCxnSpPr>
        <p:spPr>
          <a:xfrm>
            <a:off x="7620000" y="832293"/>
            <a:ext cx="925768" cy="210961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63" name="Straight Arrow Connector 62">
            <a:extLst>
              <a:ext uri="{FF2B5EF4-FFF2-40B4-BE49-F238E27FC236}">
                <a16:creationId xmlns:a16="http://schemas.microsoft.com/office/drawing/2014/main" id="{69F9552A-CD64-6000-FA92-4E904AA60DE5}"/>
              </a:ext>
            </a:extLst>
          </p:cNvPr>
          <p:cNvCxnSpPr>
            <a:cxnSpLocks/>
          </p:cNvCxnSpPr>
          <p:nvPr/>
        </p:nvCxnSpPr>
        <p:spPr>
          <a:xfrm>
            <a:off x="6762974" y="1960043"/>
            <a:ext cx="1775913" cy="98186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59" grpId="0"/>
      <p:bldP spid="6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57200" y="288576"/>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Step-by-Step Construction</a:t>
            </a:r>
            <a:endParaRPr lang="en-US" sz="2200" dirty="0"/>
          </a:p>
        </p:txBody>
      </p:sp>
      <p:sp>
        <p:nvSpPr>
          <p:cNvPr id="5" name="Shape 3"/>
          <p:cNvSpPr/>
          <p:nvPr/>
        </p:nvSpPr>
        <p:spPr>
          <a:xfrm>
            <a:off x="457200" y="1170432"/>
            <a:ext cx="8229600" cy="621792"/>
          </a:xfrm>
          <a:prstGeom prst="roundRect">
            <a:avLst>
              <a:gd name="adj" fmla="val 17647"/>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Shape 4"/>
          <p:cNvSpPr/>
          <p:nvPr/>
        </p:nvSpPr>
        <p:spPr>
          <a:xfrm>
            <a:off x="594360" y="1261872"/>
            <a:ext cx="438912" cy="438912"/>
          </a:xfrm>
          <a:prstGeom prst="ellipse">
            <a:avLst/>
          </a:prstGeom>
          <a:solidFill>
            <a:srgbClr val="1C4E80"/>
          </a:solidFill>
          <a:ln w="12700">
            <a:solidFill>
              <a:srgbClr val="1C4E80"/>
            </a:solidFill>
            <a:prstDash val="solid"/>
          </a:ln>
        </p:spPr>
        <p:txBody>
          <a:bodyPr/>
          <a:lstStyle/>
          <a:p>
            <a:endParaRPr lang="en-AE"/>
          </a:p>
        </p:txBody>
      </p:sp>
      <p:sp>
        <p:nvSpPr>
          <p:cNvPr id="7" name="Text 5"/>
          <p:cNvSpPr/>
          <p:nvPr/>
        </p:nvSpPr>
        <p:spPr>
          <a:xfrm>
            <a:off x="594360" y="126187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88720" y="1225296"/>
            <a:ext cx="2331720" cy="512064"/>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Station coordinates</a:t>
            </a:r>
            <a:endParaRPr lang="en-US" sz="1200" dirty="0"/>
          </a:p>
        </p:txBody>
      </p:sp>
      <p:sp>
        <p:nvSpPr>
          <p:cNvPr id="9" name="Text 7"/>
          <p:cNvSpPr/>
          <p:nvPr/>
        </p:nvSpPr>
        <p:spPr>
          <a:xfrm>
            <a:off x="3611880" y="1225296"/>
            <a:ext cx="3291840" cy="512064"/>
          </a:xfrm>
          <a:prstGeom prst="rect">
            <a:avLst/>
          </a:prstGeom>
          <a:noFill/>
          <a:ln/>
        </p:spPr>
        <p:txBody>
          <a:bodyPr wrap="square" rtlCol="0" anchor="ctr"/>
          <a:lstStyle/>
          <a:p>
            <a:pPr marL="0" indent="0">
              <a:buNone/>
            </a:pPr>
            <a:r>
              <a:rPr lang="en-US" sz="1050" i="1" dirty="0">
                <a:solidFill>
                  <a:srgbClr val="0A2342"/>
                </a:solidFill>
                <a:latin typeface="Courier New" pitchFamily="34" charset="0"/>
                <a:ea typeface="Courier New" pitchFamily="34" charset="-122"/>
                <a:cs typeface="Courier New" pitchFamily="34" charset="-120"/>
              </a:rPr>
              <a:t>(lat, lon) per station</a:t>
            </a:r>
            <a:endParaRPr lang="en-US" sz="1050" dirty="0"/>
          </a:p>
        </p:txBody>
      </p:sp>
      <p:sp>
        <p:nvSpPr>
          <p:cNvPr id="11" name="Shape 9"/>
          <p:cNvSpPr/>
          <p:nvPr/>
        </p:nvSpPr>
        <p:spPr>
          <a:xfrm>
            <a:off x="457200" y="1883664"/>
            <a:ext cx="8229600" cy="621792"/>
          </a:xfrm>
          <a:prstGeom prst="roundRect">
            <a:avLst>
              <a:gd name="adj" fmla="val 17647"/>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2" name="Shape 10"/>
          <p:cNvSpPr/>
          <p:nvPr/>
        </p:nvSpPr>
        <p:spPr>
          <a:xfrm>
            <a:off x="594360" y="1975104"/>
            <a:ext cx="438912" cy="438912"/>
          </a:xfrm>
          <a:prstGeom prst="ellipse">
            <a:avLst/>
          </a:prstGeom>
          <a:solidFill>
            <a:srgbClr val="1C4E80"/>
          </a:solidFill>
          <a:ln w="12700">
            <a:solidFill>
              <a:srgbClr val="1C4E80"/>
            </a:solidFill>
            <a:prstDash val="solid"/>
          </a:ln>
        </p:spPr>
        <p:txBody>
          <a:bodyPr/>
          <a:lstStyle/>
          <a:p>
            <a:endParaRPr lang="en-AE"/>
          </a:p>
        </p:txBody>
      </p:sp>
      <p:sp>
        <p:nvSpPr>
          <p:cNvPr id="13" name="Text 11"/>
          <p:cNvSpPr/>
          <p:nvPr/>
        </p:nvSpPr>
        <p:spPr>
          <a:xfrm>
            <a:off x="594360" y="1975104"/>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188720" y="1938528"/>
            <a:ext cx="2331720" cy="512064"/>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Haversine distance</a:t>
            </a:r>
            <a:endParaRPr lang="en-US" sz="1200" dirty="0"/>
          </a:p>
        </p:txBody>
      </p:sp>
      <p:sp>
        <p:nvSpPr>
          <p:cNvPr id="15" name="Text 13"/>
          <p:cNvSpPr/>
          <p:nvPr/>
        </p:nvSpPr>
        <p:spPr>
          <a:xfrm>
            <a:off x="3611880" y="1938528"/>
            <a:ext cx="5001768" cy="512064"/>
          </a:xfrm>
          <a:prstGeom prst="rect">
            <a:avLst/>
          </a:prstGeom>
          <a:noFill/>
          <a:ln/>
        </p:spPr>
        <p:txBody>
          <a:bodyPr wrap="square" rtlCol="0" anchor="ctr"/>
          <a:lstStyle/>
          <a:p>
            <a:pPr marL="0" indent="0">
              <a:buNone/>
            </a:pPr>
            <a:r>
              <a:rPr lang="en-US" sz="1050" i="1" dirty="0">
                <a:solidFill>
                  <a:srgbClr val="0A2342"/>
                </a:solidFill>
                <a:latin typeface="Courier New" pitchFamily="34" charset="0"/>
                <a:ea typeface="Courier New" pitchFamily="34" charset="-122"/>
                <a:cs typeface="Courier New" pitchFamily="34" charset="-120"/>
              </a:rPr>
              <a:t>d=2Rarcsin⁡(√(〖sin⁡〗^2 (</a:t>
            </a:r>
            <a:r>
              <a:rPr lang="el-GR" sz="1050" i="1" dirty="0">
                <a:solidFill>
                  <a:srgbClr val="0A2342"/>
                </a:solidFill>
                <a:latin typeface="Courier New" pitchFamily="34" charset="0"/>
                <a:ea typeface="Courier New" pitchFamily="34" charset="-122"/>
                <a:cs typeface="Courier New" pitchFamily="34" charset="-120"/>
              </a:rPr>
              <a:t>Δϕ/2)+</a:t>
            </a:r>
            <a:r>
              <a:rPr lang="en-US" sz="1050" i="1" dirty="0">
                <a:solidFill>
                  <a:srgbClr val="0A2342"/>
                </a:solidFill>
                <a:latin typeface="Courier New" pitchFamily="34" charset="0"/>
                <a:ea typeface="Courier New" pitchFamily="34" charset="-122"/>
                <a:cs typeface="Courier New" pitchFamily="34" charset="-120"/>
              </a:rPr>
              <a:t>cos⁡(</a:t>
            </a:r>
            <a:r>
              <a:rPr lang="el-GR" sz="1050" i="1" dirty="0">
                <a:solidFill>
                  <a:srgbClr val="0A2342"/>
                </a:solidFill>
                <a:latin typeface="Courier New" pitchFamily="34" charset="0"/>
                <a:ea typeface="Courier New" pitchFamily="34" charset="-122"/>
                <a:cs typeface="Courier New" pitchFamily="34" charset="-120"/>
              </a:rPr>
              <a:t>ϕ_1)</a:t>
            </a:r>
            <a:r>
              <a:rPr lang="en-US" sz="1050" i="1" dirty="0">
                <a:solidFill>
                  <a:srgbClr val="0A2342"/>
                </a:solidFill>
                <a:latin typeface="Courier New" pitchFamily="34" charset="0"/>
                <a:ea typeface="Courier New" pitchFamily="34" charset="-122"/>
                <a:cs typeface="Courier New" pitchFamily="34" charset="-120"/>
              </a:rPr>
              <a:t>cos⁡(</a:t>
            </a:r>
            <a:r>
              <a:rPr lang="el-GR" sz="1050" i="1" dirty="0">
                <a:solidFill>
                  <a:srgbClr val="0A2342"/>
                </a:solidFill>
                <a:latin typeface="Courier New" pitchFamily="34" charset="0"/>
                <a:ea typeface="Courier New" pitchFamily="34" charset="-122"/>
                <a:cs typeface="Courier New" pitchFamily="34" charset="-120"/>
              </a:rPr>
              <a:t>ϕ_2)〖</a:t>
            </a:r>
            <a:r>
              <a:rPr lang="en-US" sz="1050" i="1" dirty="0">
                <a:solidFill>
                  <a:srgbClr val="0A2342"/>
                </a:solidFill>
                <a:latin typeface="Courier New" pitchFamily="34" charset="0"/>
                <a:ea typeface="Courier New" pitchFamily="34" charset="-122"/>
                <a:cs typeface="Courier New" pitchFamily="34" charset="-120"/>
              </a:rPr>
              <a:t>sin⁡〗^2 (</a:t>
            </a:r>
            <a:r>
              <a:rPr lang="el-GR" sz="1050" i="1" dirty="0">
                <a:solidFill>
                  <a:srgbClr val="0A2342"/>
                </a:solidFill>
                <a:latin typeface="Courier New" pitchFamily="34" charset="0"/>
                <a:ea typeface="Courier New" pitchFamily="34" charset="-122"/>
                <a:cs typeface="Courier New" pitchFamily="34" charset="-120"/>
              </a:rPr>
              <a:t>Δλ/2) ))</a:t>
            </a:r>
            <a:endParaRPr lang="en-US" sz="1050" dirty="0"/>
          </a:p>
        </p:txBody>
      </p:sp>
      <p:sp>
        <p:nvSpPr>
          <p:cNvPr id="17" name="Shape 15"/>
          <p:cNvSpPr/>
          <p:nvPr/>
        </p:nvSpPr>
        <p:spPr>
          <a:xfrm>
            <a:off x="457200" y="2596896"/>
            <a:ext cx="8229600" cy="621792"/>
          </a:xfrm>
          <a:prstGeom prst="roundRect">
            <a:avLst>
              <a:gd name="adj" fmla="val 17647"/>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8" name="Shape 16"/>
          <p:cNvSpPr/>
          <p:nvPr/>
        </p:nvSpPr>
        <p:spPr>
          <a:xfrm>
            <a:off x="594360" y="2688336"/>
            <a:ext cx="438912" cy="438912"/>
          </a:xfrm>
          <a:prstGeom prst="ellipse">
            <a:avLst/>
          </a:prstGeom>
          <a:solidFill>
            <a:srgbClr val="1C4E80"/>
          </a:solidFill>
          <a:ln w="12700">
            <a:solidFill>
              <a:srgbClr val="1C4E80"/>
            </a:solidFill>
            <a:prstDash val="solid"/>
          </a:ln>
        </p:spPr>
        <p:txBody>
          <a:bodyPr/>
          <a:lstStyle/>
          <a:p>
            <a:endParaRPr lang="en-AE"/>
          </a:p>
        </p:txBody>
      </p:sp>
      <p:sp>
        <p:nvSpPr>
          <p:cNvPr id="19" name="Text 17"/>
          <p:cNvSpPr/>
          <p:nvPr/>
        </p:nvSpPr>
        <p:spPr>
          <a:xfrm>
            <a:off x="594360" y="2688336"/>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188720" y="2651760"/>
            <a:ext cx="2331720" cy="512064"/>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Direction vector</a:t>
            </a:r>
            <a:endParaRPr lang="en-US" sz="1200" dirty="0"/>
          </a:p>
        </p:txBody>
      </p:sp>
      <p:sp>
        <p:nvSpPr>
          <p:cNvPr id="21" name="Text 19"/>
          <p:cNvSpPr/>
          <p:nvPr/>
        </p:nvSpPr>
        <p:spPr>
          <a:xfrm>
            <a:off x="3611880" y="2651760"/>
            <a:ext cx="3291840" cy="512064"/>
          </a:xfrm>
          <a:prstGeom prst="rect">
            <a:avLst/>
          </a:prstGeom>
          <a:noFill/>
          <a:ln/>
        </p:spPr>
        <p:txBody>
          <a:bodyPr wrap="square" rtlCol="0" anchor="ctr"/>
          <a:lstStyle/>
          <a:p>
            <a:pPr marL="0" indent="0">
              <a:buNone/>
            </a:pPr>
            <a:r>
              <a:rPr lang="en-US" sz="1050" i="1" dirty="0">
                <a:solidFill>
                  <a:srgbClr val="0A2342"/>
                </a:solidFill>
                <a:latin typeface="Courier New" pitchFamily="34" charset="0"/>
                <a:ea typeface="Courier New" pitchFamily="34" charset="-122"/>
                <a:cs typeface="Courier New" pitchFamily="34" charset="-120"/>
              </a:rPr>
              <a:t>East = R·Δφ,  North = R·Δλ·cos(φ̄)</a:t>
            </a:r>
            <a:endParaRPr lang="en-US" sz="1050" dirty="0"/>
          </a:p>
        </p:txBody>
      </p:sp>
      <p:sp>
        <p:nvSpPr>
          <p:cNvPr id="23" name="Shape 21"/>
          <p:cNvSpPr/>
          <p:nvPr/>
        </p:nvSpPr>
        <p:spPr>
          <a:xfrm>
            <a:off x="457200" y="3310128"/>
            <a:ext cx="8229600" cy="621792"/>
          </a:xfrm>
          <a:prstGeom prst="roundRect">
            <a:avLst>
              <a:gd name="adj" fmla="val 17647"/>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4" name="Shape 22"/>
          <p:cNvSpPr/>
          <p:nvPr/>
        </p:nvSpPr>
        <p:spPr>
          <a:xfrm>
            <a:off x="594360" y="3401568"/>
            <a:ext cx="438912" cy="438912"/>
          </a:xfrm>
          <a:prstGeom prst="ellipse">
            <a:avLst/>
          </a:prstGeom>
          <a:solidFill>
            <a:srgbClr val="1C4E80"/>
          </a:solidFill>
          <a:ln w="12700">
            <a:solidFill>
              <a:srgbClr val="1C4E80"/>
            </a:solidFill>
            <a:prstDash val="solid"/>
          </a:ln>
        </p:spPr>
        <p:txBody>
          <a:bodyPr/>
          <a:lstStyle/>
          <a:p>
            <a:endParaRPr lang="en-AE"/>
          </a:p>
        </p:txBody>
      </p:sp>
      <p:sp>
        <p:nvSpPr>
          <p:cNvPr id="25" name="Text 23"/>
          <p:cNvSpPr/>
          <p:nvPr/>
        </p:nvSpPr>
        <p:spPr>
          <a:xfrm>
            <a:off x="594360" y="340156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1188720" y="3364992"/>
            <a:ext cx="2331720" cy="512064"/>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Wind vector</a:t>
            </a:r>
            <a:endParaRPr lang="en-US" sz="1200" dirty="0"/>
          </a:p>
        </p:txBody>
      </p:sp>
      <p:sp>
        <p:nvSpPr>
          <p:cNvPr id="27" name="Text 25"/>
          <p:cNvSpPr/>
          <p:nvPr/>
        </p:nvSpPr>
        <p:spPr>
          <a:xfrm>
            <a:off x="3611880" y="3364992"/>
            <a:ext cx="3291840" cy="512064"/>
          </a:xfrm>
          <a:prstGeom prst="rect">
            <a:avLst/>
          </a:prstGeom>
          <a:noFill/>
          <a:ln/>
        </p:spPr>
        <p:txBody>
          <a:bodyPr wrap="square" rtlCol="0" anchor="ctr"/>
          <a:lstStyle/>
          <a:p>
            <a:pPr marL="0" indent="0">
              <a:buNone/>
            </a:pPr>
            <a:r>
              <a:rPr lang="en-US" sz="1050" i="1" dirty="0">
                <a:solidFill>
                  <a:srgbClr val="0A2342"/>
                </a:solidFill>
                <a:latin typeface="Courier New" pitchFamily="34" charset="0"/>
                <a:ea typeface="Courier New" pitchFamily="34" charset="-122"/>
                <a:cs typeface="Courier New" pitchFamily="34" charset="-120"/>
              </a:rPr>
              <a:t>wind_u = V·cos(θ),  wind_v = V·sin(θ)</a:t>
            </a:r>
            <a:endParaRPr lang="en-US" sz="1050" dirty="0"/>
          </a:p>
        </p:txBody>
      </p:sp>
      <p:sp>
        <p:nvSpPr>
          <p:cNvPr id="28" name="Text 26"/>
          <p:cNvSpPr/>
          <p:nvPr/>
        </p:nvSpPr>
        <p:spPr>
          <a:xfrm>
            <a:off x="7781544" y="3364992"/>
            <a:ext cx="832104" cy="51206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Avoids 0°/360° discontinuity</a:t>
            </a:r>
            <a:endParaRPr lang="en-US" sz="900" dirty="0"/>
          </a:p>
        </p:txBody>
      </p:sp>
      <p:sp>
        <p:nvSpPr>
          <p:cNvPr id="29" name="Shape 27"/>
          <p:cNvSpPr/>
          <p:nvPr/>
        </p:nvSpPr>
        <p:spPr>
          <a:xfrm>
            <a:off x="457200" y="4023360"/>
            <a:ext cx="8229600" cy="621792"/>
          </a:xfrm>
          <a:prstGeom prst="roundRect">
            <a:avLst>
              <a:gd name="adj" fmla="val 17647"/>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0" name="Shape 28"/>
          <p:cNvSpPr/>
          <p:nvPr/>
        </p:nvSpPr>
        <p:spPr>
          <a:xfrm>
            <a:off x="594360" y="4114800"/>
            <a:ext cx="438912" cy="438912"/>
          </a:xfrm>
          <a:prstGeom prst="ellipse">
            <a:avLst/>
          </a:prstGeom>
          <a:solidFill>
            <a:srgbClr val="1C4E80"/>
          </a:solidFill>
          <a:ln w="12700">
            <a:solidFill>
              <a:srgbClr val="1C4E80"/>
            </a:solidFill>
            <a:prstDash val="solid"/>
          </a:ln>
        </p:spPr>
        <p:txBody>
          <a:bodyPr/>
          <a:lstStyle/>
          <a:p>
            <a:endParaRPr lang="en-AE"/>
          </a:p>
        </p:txBody>
      </p:sp>
      <p:sp>
        <p:nvSpPr>
          <p:cNvPr id="31" name="Text 29"/>
          <p:cNvSpPr/>
          <p:nvPr/>
        </p:nvSpPr>
        <p:spPr>
          <a:xfrm>
            <a:off x="594360" y="411480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1188720" y="4078224"/>
            <a:ext cx="2331720" cy="512064"/>
          </a:xfrm>
          <a:prstGeom prst="rect">
            <a:avLst/>
          </a:prstGeom>
          <a:noFill/>
          <a:ln/>
        </p:spPr>
        <p:txBody>
          <a:bodyPr wrap="square"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Wind alignment (cosine similarity)</a:t>
            </a:r>
            <a:endParaRPr lang="en-US" sz="1200" dirty="0"/>
          </a:p>
        </p:txBody>
      </p:sp>
      <p:sp>
        <p:nvSpPr>
          <p:cNvPr id="33" name="Text 31"/>
          <p:cNvSpPr/>
          <p:nvPr/>
        </p:nvSpPr>
        <p:spPr>
          <a:xfrm>
            <a:off x="3611880" y="4078224"/>
            <a:ext cx="4420496" cy="512064"/>
          </a:xfrm>
          <a:prstGeom prst="rect">
            <a:avLst/>
          </a:prstGeom>
          <a:noFill/>
          <a:ln/>
        </p:spPr>
        <p:txBody>
          <a:bodyPr wrap="square" rtlCol="0" anchor="ctr"/>
          <a:lstStyle/>
          <a:p>
            <a:pPr marL="0" indent="0">
              <a:buNone/>
            </a:pPr>
            <a:r>
              <a:rPr lang="en-US" sz="1050" i="1" dirty="0">
                <a:solidFill>
                  <a:srgbClr val="0A2342"/>
                </a:solidFill>
                <a:latin typeface="Courier New" pitchFamily="34" charset="0"/>
                <a:ea typeface="Courier New" pitchFamily="34" charset="-122"/>
                <a:cs typeface="Courier New" pitchFamily="34" charset="-120"/>
              </a:rPr>
              <a:t>Align = (</a:t>
            </a:r>
            <a:r>
              <a:rPr lang="en-US" sz="1050" i="1" dirty="0" err="1">
                <a:solidFill>
                  <a:srgbClr val="0A2342"/>
                </a:solidFill>
                <a:latin typeface="Courier New" pitchFamily="34" charset="0"/>
                <a:ea typeface="Courier New" pitchFamily="34" charset="-122"/>
                <a:cs typeface="Courier New" pitchFamily="34" charset="-120"/>
              </a:rPr>
              <a:t>East·wind_u</a:t>
            </a:r>
            <a:r>
              <a:rPr lang="en-US" sz="1050" i="1" dirty="0">
                <a:solidFill>
                  <a:srgbClr val="0A2342"/>
                </a:solidFill>
                <a:latin typeface="Courier New" pitchFamily="34" charset="0"/>
                <a:ea typeface="Courier New" pitchFamily="34" charset="-122"/>
                <a:cs typeface="Courier New" pitchFamily="34" charset="-120"/>
              </a:rPr>
              <a:t> + </a:t>
            </a:r>
            <a:r>
              <a:rPr lang="en-US" sz="1050" i="1" dirty="0" err="1">
                <a:solidFill>
                  <a:srgbClr val="0A2342"/>
                </a:solidFill>
                <a:latin typeface="Courier New" pitchFamily="34" charset="0"/>
                <a:ea typeface="Courier New" pitchFamily="34" charset="-122"/>
                <a:cs typeface="Courier New" pitchFamily="34" charset="-120"/>
              </a:rPr>
              <a:t>North·wind_v</a:t>
            </a:r>
            <a:r>
              <a:rPr lang="en-US" sz="1050" i="1" dirty="0">
                <a:solidFill>
                  <a:srgbClr val="0A2342"/>
                </a:solidFill>
                <a:latin typeface="Courier New" pitchFamily="34" charset="0"/>
                <a:ea typeface="Courier New" pitchFamily="34" charset="-122"/>
                <a:cs typeface="Courier New" pitchFamily="34" charset="-120"/>
              </a:rPr>
              <a:t>)/ (|s|·|wind|)</a:t>
            </a:r>
            <a:endParaRPr lang="en-US" sz="1050" dirty="0"/>
          </a:p>
        </p:txBody>
      </p:sp>
      <p:sp>
        <p:nvSpPr>
          <p:cNvPr id="34" name="Text 32"/>
          <p:cNvSpPr/>
          <p:nvPr/>
        </p:nvSpPr>
        <p:spPr>
          <a:xfrm>
            <a:off x="7726493" y="4077415"/>
            <a:ext cx="1326067" cy="51206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+1 toward target,</a:t>
            </a:r>
          </a:p>
          <a:p>
            <a:pPr marL="0" indent="0">
              <a:buNone/>
            </a:pPr>
            <a:r>
              <a:rPr lang="en-US" sz="900" dirty="0">
                <a:solidFill>
                  <a:srgbClr val="64748B"/>
                </a:solidFill>
                <a:latin typeface="Calibri" pitchFamily="34" charset="0"/>
                <a:ea typeface="Calibri" pitchFamily="34" charset="-122"/>
                <a:cs typeface="Calibri" pitchFamily="34" charset="-120"/>
              </a:rPr>
              <a:t>0 perpendicular, </a:t>
            </a:r>
          </a:p>
          <a:p>
            <a:pPr marL="0" indent="0">
              <a:buNone/>
            </a:pPr>
            <a:r>
              <a:rPr lang="en-US" sz="900" dirty="0">
                <a:solidFill>
                  <a:srgbClr val="64748B"/>
                </a:solidFill>
                <a:latin typeface="Calibri" pitchFamily="34" charset="0"/>
                <a:ea typeface="Calibri" pitchFamily="34" charset="-122"/>
                <a:cs typeface="Calibri" pitchFamily="34" charset="-120"/>
              </a:rPr>
              <a:t>−1 away</a:t>
            </a:r>
            <a:endParaRPr lang="en-US" sz="900" dirty="0"/>
          </a:p>
        </p:txBody>
      </p:sp>
      <p:pic>
        <p:nvPicPr>
          <p:cNvPr id="35" name="image1.png" descr="University of Ontario Institute of Technology logo">
            <a:extLst>
              <a:ext uri="{FF2B5EF4-FFF2-40B4-BE49-F238E27FC236}">
                <a16:creationId xmlns:a16="http://schemas.microsoft.com/office/drawing/2014/main" id="{BD722D2C-9415-C33F-474A-2B8145085579}"/>
              </a:ext>
            </a:extLst>
          </p:cNvPr>
          <p:cNvPicPr/>
          <p:nvPr/>
        </p:nvPicPr>
        <p:blipFill>
          <a:blip r:embed="rId3"/>
          <a:srcRect/>
          <a:stretch>
            <a:fillRect/>
          </a:stretch>
        </p:blipFill>
        <p:spPr>
          <a:xfrm>
            <a:off x="7570692" y="98790"/>
            <a:ext cx="1416424" cy="404310"/>
          </a:xfrm>
          <a:prstGeom prst="rect">
            <a:avLst/>
          </a:prstGeom>
          <a:ln/>
        </p:spPr>
      </p:pic>
      <p:sp>
        <p:nvSpPr>
          <p:cNvPr id="36" name="Text 38">
            <a:extLst>
              <a:ext uri="{FF2B5EF4-FFF2-40B4-BE49-F238E27FC236}">
                <a16:creationId xmlns:a16="http://schemas.microsoft.com/office/drawing/2014/main" id="{3E82D604-AC56-93A8-93CD-4A02098077C6}"/>
              </a:ext>
            </a:extLst>
          </p:cNvPr>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347472"/>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Edge Weight: Distance Decay × Wind Alignment</a:t>
            </a:r>
            <a:endParaRPr lang="en-US" sz="2200" dirty="0"/>
          </a:p>
        </p:txBody>
      </p:sp>
      <p:sp>
        <p:nvSpPr>
          <p:cNvPr id="5" name="Shape 3"/>
          <p:cNvSpPr/>
          <p:nvPr/>
        </p:nvSpPr>
        <p:spPr>
          <a:xfrm>
            <a:off x="1188720" y="1143000"/>
            <a:ext cx="6766560" cy="777240"/>
          </a:xfrm>
          <a:prstGeom prst="roundRect">
            <a:avLst>
              <a:gd name="adj" fmla="val 14118"/>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Text 4"/>
          <p:cNvSpPr/>
          <p:nvPr/>
        </p:nvSpPr>
        <p:spPr>
          <a:xfrm>
            <a:off x="1371600" y="1216152"/>
            <a:ext cx="6400800" cy="640080"/>
          </a:xfrm>
          <a:prstGeom prst="rect">
            <a:avLst/>
          </a:prstGeom>
          <a:noFill/>
          <a:ln/>
        </p:spPr>
        <p:txBody>
          <a:bodyPr wrap="square" rtlCol="0" anchor="ctr"/>
          <a:lstStyle/>
          <a:p>
            <a:pPr marL="0" indent="0" algn="ctr">
              <a:buNone/>
            </a:pPr>
            <a:r>
              <a:rPr lang="en-US" sz="1600" i="1" dirty="0">
                <a:solidFill>
                  <a:schemeClr val="bg1"/>
                </a:solidFill>
                <a:latin typeface="Courier New" pitchFamily="34" charset="0"/>
                <a:ea typeface="Courier New" pitchFamily="34" charset="-122"/>
                <a:cs typeface="Courier New" pitchFamily="34" charset="-120"/>
              </a:rPr>
              <a:t>Aᵢⱼ(t) = exp(−dᵢⱼ / k) × (0.5 + 0.5×Alignmentᵢⱼ)</a:t>
            </a:r>
            <a:endParaRPr lang="en-US" sz="1600" dirty="0">
              <a:solidFill>
                <a:schemeClr val="bg1"/>
              </a:solidFill>
            </a:endParaRPr>
          </a:p>
        </p:txBody>
      </p:sp>
      <p:sp>
        <p:nvSpPr>
          <p:cNvPr id="7" name="Shape 5"/>
          <p:cNvSpPr/>
          <p:nvPr/>
        </p:nvSpPr>
        <p:spPr>
          <a:xfrm>
            <a:off x="457200" y="2103120"/>
            <a:ext cx="4023360" cy="1508760"/>
          </a:xfrm>
          <a:prstGeom prst="roundRect">
            <a:avLst>
              <a:gd name="adj" fmla="val 7273"/>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8" name="Text 6"/>
          <p:cNvSpPr/>
          <p:nvPr/>
        </p:nvSpPr>
        <p:spPr>
          <a:xfrm>
            <a:off x="640080" y="2176272"/>
            <a:ext cx="3657600" cy="274320"/>
          </a:xfrm>
          <a:prstGeom prst="rect">
            <a:avLst/>
          </a:prstGeom>
          <a:noFill/>
          <a:ln/>
        </p:spPr>
        <p:txBody>
          <a:bodyPr wrap="square" rtlCol="0" anchor="ctr"/>
          <a:lstStyle/>
          <a:p>
            <a:pPr marL="0" indent="0">
              <a:buNone/>
            </a:pPr>
            <a:r>
              <a:rPr lang="en-US" sz="1250" b="1" dirty="0">
                <a:solidFill>
                  <a:srgbClr val="1C4E80"/>
                </a:solidFill>
                <a:latin typeface="Calibri" pitchFamily="34" charset="0"/>
                <a:ea typeface="Calibri" pitchFamily="34" charset="-122"/>
                <a:cs typeface="Calibri" pitchFamily="34" charset="-120"/>
              </a:rPr>
              <a:t>Part A — Distance decay</a:t>
            </a:r>
            <a:endParaRPr lang="en-US" sz="1250" dirty="0"/>
          </a:p>
        </p:txBody>
      </p:sp>
      <p:sp>
        <p:nvSpPr>
          <p:cNvPr id="9" name="Text 7"/>
          <p:cNvSpPr/>
          <p:nvPr/>
        </p:nvSpPr>
        <p:spPr>
          <a:xfrm>
            <a:off x="640080" y="2450592"/>
            <a:ext cx="3657600" cy="292608"/>
          </a:xfrm>
          <a:prstGeom prst="rect">
            <a:avLst/>
          </a:prstGeom>
          <a:noFill/>
          <a:ln/>
        </p:spPr>
        <p:txBody>
          <a:bodyPr wrap="square" rtlCol="0" anchor="ctr"/>
          <a:lstStyle/>
          <a:p>
            <a:r>
              <a:rPr lang="en-US" sz="1300" i="1" dirty="0">
                <a:solidFill>
                  <a:srgbClr val="0A2342"/>
                </a:solidFill>
                <a:latin typeface="Courier New" pitchFamily="34" charset="0"/>
                <a:ea typeface="Courier New" pitchFamily="34" charset="-122"/>
                <a:cs typeface="Courier New" pitchFamily="34" charset="-120"/>
              </a:rPr>
              <a:t>exp(−d / 10) </a:t>
            </a:r>
            <a:r>
              <a:rPr lang="en-AE" sz="700" dirty="0">
                <a:latin typeface="Calibri" pitchFamily="34" charset="0"/>
                <a:ea typeface="Calibri" pitchFamily="34" charset="-122"/>
                <a:cs typeface="Calibri" pitchFamily="34" charset="-120"/>
              </a:rPr>
              <a:t>[Cressie, 2015]</a:t>
            </a:r>
            <a:endParaRPr lang="en-US" sz="1250" dirty="0">
              <a:latin typeface="Calibri" pitchFamily="34" charset="0"/>
              <a:ea typeface="Calibri" pitchFamily="34" charset="-122"/>
              <a:cs typeface="Calibri" pitchFamily="34" charset="-120"/>
            </a:endParaRPr>
          </a:p>
        </p:txBody>
      </p:sp>
      <p:sp>
        <p:nvSpPr>
          <p:cNvPr id="10" name="Text 8"/>
          <p:cNvSpPr/>
          <p:nvPr/>
        </p:nvSpPr>
        <p:spPr>
          <a:xfrm>
            <a:off x="640080" y="2816352"/>
            <a:ext cx="3657600" cy="731520"/>
          </a:xfrm>
          <a:prstGeom prst="rect">
            <a:avLst/>
          </a:prstGeom>
          <a:noFill/>
          <a:ln/>
        </p:spPr>
        <p:txBody>
          <a:bodyPr wrap="square" rtlCol="0" anchor="ctr"/>
          <a:lstStyle/>
          <a:p>
            <a:r>
              <a:rPr lang="en-US" sz="1050" dirty="0">
                <a:solidFill>
                  <a:srgbClr val="1E293B"/>
                </a:solidFill>
                <a:latin typeface="Courier New" pitchFamily="34" charset="0"/>
                <a:ea typeface="Courier New" pitchFamily="34" charset="-122"/>
                <a:cs typeface="Courier New" pitchFamily="34" charset="-120"/>
              </a:rPr>
              <a:t>d = 2 km  → </a:t>
            </a:r>
            <a:r>
              <a:rPr lang="en-US" sz="1050" dirty="0">
                <a:latin typeface="Courier New" pitchFamily="34" charset="0"/>
                <a:ea typeface="Courier New" pitchFamily="34" charset="-122"/>
                <a:cs typeface="Courier New" pitchFamily="34" charset="-120"/>
              </a:rPr>
              <a:t>e⁻⁰·</a:t>
            </a:r>
            <a:r>
              <a:rPr lang="en-US" sz="1050" dirty="0">
                <a:solidFill>
                  <a:srgbClr val="1E293B"/>
                </a:solidFill>
                <a:latin typeface="Courier New" pitchFamily="34" charset="0"/>
                <a:ea typeface="Courier New" pitchFamily="34" charset="-122"/>
                <a:cs typeface="Courier New" pitchFamily="34" charset="-120"/>
              </a:rPr>
              <a:t>² = 0.819   (strong)</a:t>
            </a:r>
            <a:endParaRPr lang="en-US" sz="1050" dirty="0"/>
          </a:p>
          <a:p>
            <a:pPr marL="0" indent="0">
              <a:buNone/>
            </a:pPr>
            <a:r>
              <a:rPr lang="en-US" sz="1050" dirty="0">
                <a:solidFill>
                  <a:srgbClr val="1E293B"/>
                </a:solidFill>
                <a:latin typeface="Courier New" pitchFamily="34" charset="0"/>
                <a:ea typeface="Courier New" pitchFamily="34" charset="-122"/>
                <a:cs typeface="Courier New" pitchFamily="34" charset="-120"/>
              </a:rPr>
              <a:t>d = 20 km →  e⁻² = 0.135    (weak)</a:t>
            </a:r>
            <a:endParaRPr lang="en-US" sz="1050" dirty="0"/>
          </a:p>
        </p:txBody>
      </p:sp>
      <p:sp>
        <p:nvSpPr>
          <p:cNvPr id="11" name="Shape 9"/>
          <p:cNvSpPr/>
          <p:nvPr/>
        </p:nvSpPr>
        <p:spPr>
          <a:xfrm>
            <a:off x="4663440" y="2103120"/>
            <a:ext cx="4023360" cy="1508760"/>
          </a:xfrm>
          <a:prstGeom prst="roundRect">
            <a:avLst>
              <a:gd name="adj" fmla="val 7273"/>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2" name="Text 10"/>
          <p:cNvSpPr/>
          <p:nvPr/>
        </p:nvSpPr>
        <p:spPr>
          <a:xfrm>
            <a:off x="4846320" y="2176272"/>
            <a:ext cx="3657600" cy="274320"/>
          </a:xfrm>
          <a:prstGeom prst="rect">
            <a:avLst/>
          </a:prstGeom>
          <a:noFill/>
          <a:ln/>
        </p:spPr>
        <p:txBody>
          <a:bodyPr wrap="square" rtlCol="0" anchor="ctr"/>
          <a:lstStyle/>
          <a:p>
            <a:pPr marL="0" indent="0">
              <a:buNone/>
            </a:pPr>
            <a:r>
              <a:rPr lang="en-US" sz="1250" b="1" dirty="0">
                <a:solidFill>
                  <a:srgbClr val="1C4E80"/>
                </a:solidFill>
                <a:latin typeface="Calibri" pitchFamily="34" charset="0"/>
                <a:ea typeface="Calibri" pitchFamily="34" charset="-122"/>
                <a:cs typeface="Calibri" pitchFamily="34" charset="-120"/>
              </a:rPr>
              <a:t>Part B — Wind alignment factor</a:t>
            </a:r>
            <a:endParaRPr lang="en-US" sz="1250" dirty="0"/>
          </a:p>
        </p:txBody>
      </p:sp>
      <p:sp>
        <p:nvSpPr>
          <p:cNvPr id="13" name="Text 11"/>
          <p:cNvSpPr/>
          <p:nvPr/>
        </p:nvSpPr>
        <p:spPr>
          <a:xfrm>
            <a:off x="4846320" y="2450592"/>
            <a:ext cx="3657600" cy="292608"/>
          </a:xfrm>
          <a:prstGeom prst="rect">
            <a:avLst/>
          </a:prstGeom>
          <a:noFill/>
          <a:ln/>
        </p:spPr>
        <p:txBody>
          <a:bodyPr wrap="square" rtlCol="0" anchor="ctr"/>
          <a:lstStyle/>
          <a:p>
            <a:endParaRPr lang="en-US" sz="700" dirty="0">
              <a:latin typeface="Calibri" pitchFamily="34" charset="0"/>
              <a:ea typeface="Calibri" pitchFamily="34" charset="-122"/>
              <a:cs typeface="Calibri" pitchFamily="34" charset="-120"/>
            </a:endParaRPr>
          </a:p>
        </p:txBody>
      </p:sp>
      <p:sp>
        <p:nvSpPr>
          <p:cNvPr id="14" name="Text 12"/>
          <p:cNvSpPr/>
          <p:nvPr/>
        </p:nvSpPr>
        <p:spPr>
          <a:xfrm>
            <a:off x="4846320" y="2816352"/>
            <a:ext cx="3657600" cy="777240"/>
          </a:xfrm>
          <a:prstGeom prst="rect">
            <a:avLst/>
          </a:prstGeom>
          <a:noFill/>
          <a:ln/>
        </p:spPr>
        <p:txBody>
          <a:bodyPr wrap="square" rtlCol="0" anchor="ctr"/>
          <a:lstStyle/>
          <a:p>
            <a:pPr marL="0" indent="0">
              <a:buNone/>
            </a:pPr>
            <a:r>
              <a:rPr lang="en-US" sz="1050" dirty="0">
                <a:solidFill>
                  <a:srgbClr val="059669"/>
                </a:solidFill>
                <a:latin typeface="Courier New" pitchFamily="34" charset="0"/>
                <a:ea typeface="Courier New" pitchFamily="34" charset="-122"/>
                <a:cs typeface="Courier New" pitchFamily="34" charset="-120"/>
              </a:rPr>
              <a:t>Alignment = +1 → 1.0   (max support)</a:t>
            </a:r>
            <a:endParaRPr lang="en-US" sz="1050" dirty="0"/>
          </a:p>
          <a:p>
            <a:pPr marL="0" indent="0">
              <a:buNone/>
            </a:pPr>
            <a:r>
              <a:rPr lang="en-US" sz="1050" dirty="0">
                <a:solidFill>
                  <a:srgbClr val="D97706"/>
                </a:solidFill>
                <a:latin typeface="Courier New" pitchFamily="34" charset="0"/>
                <a:ea typeface="Courier New" pitchFamily="34" charset="-122"/>
                <a:cs typeface="Courier New" pitchFamily="34" charset="-120"/>
              </a:rPr>
              <a:t>Alignment =  0 → 0.5   (moderate)</a:t>
            </a:r>
            <a:endParaRPr lang="en-US" sz="1050" dirty="0"/>
          </a:p>
          <a:p>
            <a:pPr marL="0" indent="0">
              <a:buNone/>
            </a:pPr>
            <a:r>
              <a:rPr lang="en-US" sz="1050" dirty="0">
                <a:solidFill>
                  <a:srgbClr val="DC2626"/>
                </a:solidFill>
                <a:latin typeface="Courier New" pitchFamily="34" charset="0"/>
                <a:ea typeface="Courier New" pitchFamily="34" charset="-122"/>
                <a:cs typeface="Courier New" pitchFamily="34" charset="-120"/>
              </a:rPr>
              <a:t>Alignment = −1 → 0.0   (no influence)</a:t>
            </a:r>
            <a:endParaRPr lang="en-US" sz="1050" dirty="0"/>
          </a:p>
        </p:txBody>
      </p:sp>
      <p:sp>
        <p:nvSpPr>
          <p:cNvPr id="15" name="Shape 13"/>
          <p:cNvSpPr/>
          <p:nvPr/>
        </p:nvSpPr>
        <p:spPr>
          <a:xfrm>
            <a:off x="457200" y="3794760"/>
            <a:ext cx="8229600" cy="1051560"/>
          </a:xfrm>
          <a:prstGeom prst="roundRect">
            <a:avLst>
              <a:gd name="adj" fmla="val 10435"/>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6" name="Text 14"/>
          <p:cNvSpPr/>
          <p:nvPr/>
        </p:nvSpPr>
        <p:spPr>
          <a:xfrm>
            <a:off x="640080" y="3858768"/>
            <a:ext cx="7863840" cy="256032"/>
          </a:xfrm>
          <a:prstGeom prst="rect">
            <a:avLst/>
          </a:prstGeom>
          <a:noFill/>
          <a:ln/>
        </p:spPr>
        <p:txBody>
          <a:bodyPr wrap="square" rtlCol="0" anchor="ctr"/>
          <a:lstStyle/>
          <a:p>
            <a:pPr marL="0" indent="0">
              <a:buNone/>
            </a:pPr>
            <a:r>
              <a:rPr lang="en-US" sz="1150" b="1" dirty="0">
                <a:solidFill>
                  <a:srgbClr val="1C4E80"/>
                </a:solidFill>
                <a:latin typeface="Calibri" pitchFamily="34" charset="0"/>
                <a:ea typeface="Calibri" pitchFamily="34" charset="-122"/>
                <a:cs typeface="Calibri" pitchFamily="34" charset="-120"/>
              </a:rPr>
              <a:t>Worked example — West → Downtown, distance = 5 km</a:t>
            </a:r>
            <a:endParaRPr lang="en-US" sz="1150" dirty="0"/>
          </a:p>
        </p:txBody>
      </p:sp>
      <p:sp>
        <p:nvSpPr>
          <p:cNvPr id="17" name="Text 15"/>
          <p:cNvSpPr/>
          <p:nvPr/>
        </p:nvSpPr>
        <p:spPr>
          <a:xfrm>
            <a:off x="640080" y="4151376"/>
            <a:ext cx="7863840" cy="640080"/>
          </a:xfrm>
          <a:prstGeom prst="rect">
            <a:avLst/>
          </a:prstGeom>
          <a:noFill/>
          <a:ln/>
        </p:spPr>
        <p:txBody>
          <a:bodyPr wrap="square" rtlCol="0" anchor="ctr"/>
          <a:lstStyle/>
          <a:p>
            <a:pPr marL="0" indent="0">
              <a:buNone/>
            </a:pPr>
            <a:r>
              <a:rPr lang="en-US" sz="1100" dirty="0">
                <a:solidFill>
                  <a:srgbClr val="059669"/>
                </a:solidFill>
                <a:latin typeface="Courier New" pitchFamily="34" charset="0"/>
                <a:ea typeface="Courier New" pitchFamily="34" charset="-122"/>
                <a:cs typeface="Courier New" pitchFamily="34" charset="-120"/>
              </a:rPr>
              <a:t>Wind toward Downtown (Alignment = +1):  A = e⁻⁰·⁵ × 1.0 = 0.606  — strong edge</a:t>
            </a:r>
            <a:endParaRPr lang="en-US" sz="1100" dirty="0"/>
          </a:p>
          <a:p>
            <a:pPr marL="0" indent="0">
              <a:buNone/>
            </a:pPr>
            <a:r>
              <a:rPr lang="en-US" sz="1100" dirty="0">
                <a:solidFill>
                  <a:srgbClr val="DC2626"/>
                </a:solidFill>
                <a:latin typeface="Courier New" pitchFamily="34" charset="0"/>
                <a:ea typeface="Courier New" pitchFamily="34" charset="-122"/>
                <a:cs typeface="Courier New" pitchFamily="34" charset="-120"/>
              </a:rPr>
              <a:t>Wind reverses (Alignment = −1):  A = e⁻⁰·⁵ × 0.0 = 0  — no influence</a:t>
            </a:r>
            <a:endParaRPr lang="en-US" sz="1100" dirty="0"/>
          </a:p>
        </p:txBody>
      </p:sp>
      <p:pic>
        <p:nvPicPr>
          <p:cNvPr id="18" name="image1.png" descr="University of Ontario Institute of Technology logo">
            <a:extLst>
              <a:ext uri="{FF2B5EF4-FFF2-40B4-BE49-F238E27FC236}">
                <a16:creationId xmlns:a16="http://schemas.microsoft.com/office/drawing/2014/main" id="{72AA2459-0991-BB96-3296-D0850FD2FF5E}"/>
              </a:ext>
            </a:extLst>
          </p:cNvPr>
          <p:cNvPicPr/>
          <p:nvPr/>
        </p:nvPicPr>
        <p:blipFill>
          <a:blip r:embed="rId3"/>
          <a:srcRect/>
          <a:stretch>
            <a:fillRect/>
          </a:stretch>
        </p:blipFill>
        <p:spPr>
          <a:xfrm>
            <a:off x="7570692" y="98790"/>
            <a:ext cx="1416424" cy="404310"/>
          </a:xfrm>
          <a:prstGeom prst="rect">
            <a:avLst/>
          </a:prstGeom>
          <a:ln/>
        </p:spPr>
      </p:pic>
      <p:pic>
        <p:nvPicPr>
          <p:cNvPr id="20" name="Picture 19">
            <a:extLst>
              <a:ext uri="{FF2B5EF4-FFF2-40B4-BE49-F238E27FC236}">
                <a16:creationId xmlns:a16="http://schemas.microsoft.com/office/drawing/2014/main" id="{A50BE7AB-6C72-E343-94C7-893B9F46B086}"/>
              </a:ext>
            </a:extLst>
          </p:cNvPr>
          <p:cNvPicPr>
            <a:picLocks noChangeAspect="1"/>
          </p:cNvPicPr>
          <p:nvPr/>
        </p:nvPicPr>
        <p:blipFill>
          <a:blip r:embed="rId4"/>
          <a:stretch>
            <a:fillRect/>
          </a:stretch>
        </p:blipFill>
        <p:spPr>
          <a:xfrm>
            <a:off x="5721686" y="2420712"/>
            <a:ext cx="1064596" cy="382881"/>
          </a:xfrm>
          <a:prstGeom prst="rect">
            <a:avLst/>
          </a:prstGeom>
        </p:spPr>
      </p:pic>
      <p:sp>
        <p:nvSpPr>
          <p:cNvPr id="21" name="Text 38">
            <a:extLst>
              <a:ext uri="{FF2B5EF4-FFF2-40B4-BE49-F238E27FC236}">
                <a16:creationId xmlns:a16="http://schemas.microsoft.com/office/drawing/2014/main" id="{214ADB6D-0514-DF30-FB2A-C8A919C40379}"/>
              </a:ext>
            </a:extLst>
          </p:cNvPr>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826A5-2377-514D-6ACD-FFE2ECB11A61}"/>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CB45075-E899-6AC4-07EA-A5F065507624}"/>
              </a:ext>
            </a:extLst>
          </p:cNvPr>
          <p:cNvSpPr/>
          <p:nvPr/>
        </p:nvSpPr>
        <p:spPr>
          <a:xfrm>
            <a:off x="320040" y="354507"/>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Wind-Aware Diffusion Features</a:t>
            </a:r>
            <a:endParaRPr lang="en-US" sz="2200" dirty="0"/>
          </a:p>
        </p:txBody>
      </p:sp>
      <p:sp>
        <p:nvSpPr>
          <p:cNvPr id="5" name="Shape 3">
            <a:extLst>
              <a:ext uri="{FF2B5EF4-FFF2-40B4-BE49-F238E27FC236}">
                <a16:creationId xmlns:a16="http://schemas.microsoft.com/office/drawing/2014/main" id="{660EAEE0-6885-9C59-5D81-3EB154CA43B4}"/>
              </a:ext>
            </a:extLst>
          </p:cNvPr>
          <p:cNvSpPr/>
          <p:nvPr/>
        </p:nvSpPr>
        <p:spPr>
          <a:xfrm>
            <a:off x="274320" y="1188720"/>
            <a:ext cx="3520440" cy="731520"/>
          </a:xfrm>
          <a:prstGeom prst="roundRect">
            <a:avLst>
              <a:gd name="adj" fmla="val 150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Text 4">
            <a:extLst>
              <a:ext uri="{FF2B5EF4-FFF2-40B4-BE49-F238E27FC236}">
                <a16:creationId xmlns:a16="http://schemas.microsoft.com/office/drawing/2014/main" id="{6DBEDCEC-3C10-2F49-7DF8-FBF2EAFAD351}"/>
              </a:ext>
            </a:extLst>
          </p:cNvPr>
          <p:cNvSpPr/>
          <p:nvPr/>
        </p:nvSpPr>
        <p:spPr>
          <a:xfrm>
            <a:off x="457200" y="1243584"/>
            <a:ext cx="315468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Raw Station Data</a:t>
            </a:r>
            <a:endParaRPr lang="en-US" sz="1200" dirty="0"/>
          </a:p>
        </p:txBody>
      </p:sp>
      <p:sp>
        <p:nvSpPr>
          <p:cNvPr id="7" name="Text 5">
            <a:extLst>
              <a:ext uri="{FF2B5EF4-FFF2-40B4-BE49-F238E27FC236}">
                <a16:creationId xmlns:a16="http://schemas.microsoft.com/office/drawing/2014/main" id="{B08AC883-F5D4-0477-C51C-991B9FE07C59}"/>
              </a:ext>
            </a:extLst>
          </p:cNvPr>
          <p:cNvSpPr/>
          <p:nvPr/>
        </p:nvSpPr>
        <p:spPr>
          <a:xfrm>
            <a:off x="457200" y="1581912"/>
            <a:ext cx="3154680" cy="274320"/>
          </a:xfrm>
          <a:prstGeom prst="rect">
            <a:avLst/>
          </a:prstGeom>
          <a:noFill/>
          <a:ln/>
        </p:spPr>
        <p:txBody>
          <a:bodyPr wrap="square" lIns="0" tIns="0" rIns="0" bIns="0" rtlCol="0" anchor="ctr"/>
          <a:lstStyle/>
          <a:p>
            <a:pPr marL="0" indent="0">
              <a:buNone/>
            </a:pPr>
            <a:r>
              <a:rPr lang="en-US" sz="950" i="1" dirty="0">
                <a:solidFill>
                  <a:srgbClr val="CBD5E1"/>
                </a:solidFill>
                <a:latin typeface="Calibri" pitchFamily="34" charset="0"/>
                <a:ea typeface="Calibri" pitchFamily="34" charset="-122"/>
                <a:cs typeface="Calibri" pitchFamily="34" charset="-120"/>
              </a:rPr>
              <a:t>PM₂.₅ · wind · temp · humidity</a:t>
            </a:r>
            <a:endParaRPr lang="en-US" sz="950" dirty="0"/>
          </a:p>
        </p:txBody>
      </p:sp>
      <p:sp>
        <p:nvSpPr>
          <p:cNvPr id="8" name="Text 6">
            <a:extLst>
              <a:ext uri="{FF2B5EF4-FFF2-40B4-BE49-F238E27FC236}">
                <a16:creationId xmlns:a16="http://schemas.microsoft.com/office/drawing/2014/main" id="{1E4B42BD-35A6-DEFF-CAE5-11EBDAF20837}"/>
              </a:ext>
            </a:extLst>
          </p:cNvPr>
          <p:cNvSpPr/>
          <p:nvPr/>
        </p:nvSpPr>
        <p:spPr>
          <a:xfrm>
            <a:off x="1783080" y="1883664"/>
            <a:ext cx="457200" cy="201168"/>
          </a:xfrm>
          <a:prstGeom prst="rect">
            <a:avLst/>
          </a:prstGeom>
          <a:noFill/>
          <a:ln/>
        </p:spPr>
        <p:txBody>
          <a:bodyPr wrap="square" rtlCol="0" anchor="ctr"/>
          <a:lstStyle/>
          <a:p>
            <a:pPr marL="0" indent="0" algn="ctr">
              <a:buNone/>
            </a:pPr>
            <a:r>
              <a:rPr lang="en-US" sz="1300" dirty="0">
                <a:solidFill>
                  <a:srgbClr val="00A8E8"/>
                </a:solidFill>
                <a:latin typeface="Calibri" pitchFamily="34" charset="0"/>
                <a:ea typeface="Calibri" pitchFamily="34" charset="-122"/>
                <a:cs typeface="Calibri" pitchFamily="34" charset="-120"/>
              </a:rPr>
              <a:t>▼</a:t>
            </a:r>
            <a:endParaRPr lang="en-US" sz="1300" dirty="0"/>
          </a:p>
        </p:txBody>
      </p:sp>
      <p:sp>
        <p:nvSpPr>
          <p:cNvPr id="9" name="Shape 7">
            <a:extLst>
              <a:ext uri="{FF2B5EF4-FFF2-40B4-BE49-F238E27FC236}">
                <a16:creationId xmlns:a16="http://schemas.microsoft.com/office/drawing/2014/main" id="{F7B004F7-E22E-3511-AAE8-030431D2CBA5}"/>
              </a:ext>
            </a:extLst>
          </p:cNvPr>
          <p:cNvSpPr/>
          <p:nvPr/>
        </p:nvSpPr>
        <p:spPr>
          <a:xfrm>
            <a:off x="274320" y="2103120"/>
            <a:ext cx="3520440" cy="731520"/>
          </a:xfrm>
          <a:prstGeom prst="roundRect">
            <a:avLst>
              <a:gd name="adj" fmla="val 15000"/>
            </a:avLst>
          </a:prstGeom>
          <a:solidFill>
            <a:srgbClr val="1C4E80"/>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0" name="Text 8">
            <a:extLst>
              <a:ext uri="{FF2B5EF4-FFF2-40B4-BE49-F238E27FC236}">
                <a16:creationId xmlns:a16="http://schemas.microsoft.com/office/drawing/2014/main" id="{18E64055-00E4-C011-ACC6-7BACFA4E8CF5}"/>
              </a:ext>
            </a:extLst>
          </p:cNvPr>
          <p:cNvSpPr/>
          <p:nvPr/>
        </p:nvSpPr>
        <p:spPr>
          <a:xfrm>
            <a:off x="457200" y="2157984"/>
            <a:ext cx="315468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Haversine Distance + Wind Alignment</a:t>
            </a:r>
            <a:endParaRPr lang="en-US" sz="1200" dirty="0"/>
          </a:p>
        </p:txBody>
      </p:sp>
      <p:sp>
        <p:nvSpPr>
          <p:cNvPr id="11" name="Text 9">
            <a:extLst>
              <a:ext uri="{FF2B5EF4-FFF2-40B4-BE49-F238E27FC236}">
                <a16:creationId xmlns:a16="http://schemas.microsoft.com/office/drawing/2014/main" id="{6CA4D1D6-1FFC-2048-E5E4-16EA5CCD7095}"/>
              </a:ext>
            </a:extLst>
          </p:cNvPr>
          <p:cNvSpPr/>
          <p:nvPr/>
        </p:nvSpPr>
        <p:spPr>
          <a:xfrm>
            <a:off x="457200" y="2496312"/>
            <a:ext cx="3154680" cy="274320"/>
          </a:xfrm>
          <a:prstGeom prst="rect">
            <a:avLst/>
          </a:prstGeom>
          <a:noFill/>
          <a:ln/>
        </p:spPr>
        <p:txBody>
          <a:bodyPr wrap="square" lIns="0" tIns="0" rIns="0" bIns="0" rtlCol="0" anchor="ctr"/>
          <a:lstStyle/>
          <a:p>
            <a:pPr marL="0" indent="0">
              <a:buNone/>
            </a:pPr>
            <a:r>
              <a:rPr lang="en-US" sz="950" i="1" dirty="0">
                <a:solidFill>
                  <a:srgbClr val="CBD5E1"/>
                </a:solidFill>
                <a:latin typeface="Calibri" pitchFamily="34" charset="0"/>
                <a:ea typeface="Calibri" pitchFamily="34" charset="-122"/>
                <a:cs typeface="Calibri" pitchFamily="34" charset="-120"/>
              </a:rPr>
              <a:t>cos similarity, station-pair vs wind vector</a:t>
            </a:r>
            <a:endParaRPr lang="en-US" sz="950" dirty="0"/>
          </a:p>
        </p:txBody>
      </p:sp>
      <p:sp>
        <p:nvSpPr>
          <p:cNvPr id="12" name="Text 10">
            <a:extLst>
              <a:ext uri="{FF2B5EF4-FFF2-40B4-BE49-F238E27FC236}">
                <a16:creationId xmlns:a16="http://schemas.microsoft.com/office/drawing/2014/main" id="{697D534F-1BD4-310E-04CE-7C5F0976EC78}"/>
              </a:ext>
            </a:extLst>
          </p:cNvPr>
          <p:cNvSpPr/>
          <p:nvPr/>
        </p:nvSpPr>
        <p:spPr>
          <a:xfrm>
            <a:off x="1783080" y="2798064"/>
            <a:ext cx="457200" cy="201168"/>
          </a:xfrm>
          <a:prstGeom prst="rect">
            <a:avLst/>
          </a:prstGeom>
          <a:noFill/>
          <a:ln/>
        </p:spPr>
        <p:txBody>
          <a:bodyPr wrap="square" rtlCol="0" anchor="ctr"/>
          <a:lstStyle/>
          <a:p>
            <a:pPr marL="0" indent="0" algn="ctr">
              <a:buNone/>
            </a:pPr>
            <a:r>
              <a:rPr lang="en-US" sz="1300" dirty="0">
                <a:solidFill>
                  <a:srgbClr val="00A8E8"/>
                </a:solidFill>
                <a:latin typeface="Calibri" pitchFamily="34" charset="0"/>
                <a:ea typeface="Calibri" pitchFamily="34" charset="-122"/>
                <a:cs typeface="Calibri" pitchFamily="34" charset="-120"/>
              </a:rPr>
              <a:t>▼</a:t>
            </a:r>
            <a:endParaRPr lang="en-US" sz="1300" dirty="0"/>
          </a:p>
        </p:txBody>
      </p:sp>
      <p:sp>
        <p:nvSpPr>
          <p:cNvPr id="13" name="Shape 11">
            <a:extLst>
              <a:ext uri="{FF2B5EF4-FFF2-40B4-BE49-F238E27FC236}">
                <a16:creationId xmlns:a16="http://schemas.microsoft.com/office/drawing/2014/main" id="{55C3C233-0120-DCAF-BB36-6CF22A2970F1}"/>
              </a:ext>
            </a:extLst>
          </p:cNvPr>
          <p:cNvSpPr/>
          <p:nvPr/>
        </p:nvSpPr>
        <p:spPr>
          <a:xfrm>
            <a:off x="274320" y="3017520"/>
            <a:ext cx="3520440" cy="731520"/>
          </a:xfrm>
          <a:prstGeom prst="roundRect">
            <a:avLst>
              <a:gd name="adj" fmla="val 15000"/>
            </a:avLst>
          </a:prstGeom>
          <a:solidFill>
            <a:srgbClr val="0D7377"/>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4" name="Text 12">
            <a:extLst>
              <a:ext uri="{FF2B5EF4-FFF2-40B4-BE49-F238E27FC236}">
                <a16:creationId xmlns:a16="http://schemas.microsoft.com/office/drawing/2014/main" id="{333B0DB6-0431-AFF6-6393-3995B4D68622}"/>
              </a:ext>
            </a:extLst>
          </p:cNvPr>
          <p:cNvSpPr/>
          <p:nvPr/>
        </p:nvSpPr>
        <p:spPr>
          <a:xfrm>
            <a:off x="457200" y="3237189"/>
            <a:ext cx="315468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Diffusion Weight &amp; Transport Potential</a:t>
            </a:r>
            <a:endParaRPr lang="en-US" sz="1200" dirty="0"/>
          </a:p>
        </p:txBody>
      </p:sp>
      <p:sp>
        <p:nvSpPr>
          <p:cNvPr id="16" name="Text 14">
            <a:extLst>
              <a:ext uri="{FF2B5EF4-FFF2-40B4-BE49-F238E27FC236}">
                <a16:creationId xmlns:a16="http://schemas.microsoft.com/office/drawing/2014/main" id="{9953432B-597F-E7D5-3304-AD0181F75BB1}"/>
              </a:ext>
            </a:extLst>
          </p:cNvPr>
          <p:cNvSpPr/>
          <p:nvPr/>
        </p:nvSpPr>
        <p:spPr>
          <a:xfrm>
            <a:off x="1783080" y="3712464"/>
            <a:ext cx="457200" cy="201168"/>
          </a:xfrm>
          <a:prstGeom prst="rect">
            <a:avLst/>
          </a:prstGeom>
          <a:noFill/>
          <a:ln/>
        </p:spPr>
        <p:txBody>
          <a:bodyPr wrap="square" rtlCol="0" anchor="ctr"/>
          <a:lstStyle/>
          <a:p>
            <a:pPr marL="0" indent="0" algn="ctr">
              <a:buNone/>
            </a:pPr>
            <a:r>
              <a:rPr lang="en-US" sz="1300" dirty="0">
                <a:solidFill>
                  <a:srgbClr val="00A8E8"/>
                </a:solidFill>
                <a:latin typeface="Calibri" pitchFamily="34" charset="0"/>
                <a:ea typeface="Calibri" pitchFamily="34" charset="-122"/>
                <a:cs typeface="Calibri" pitchFamily="34" charset="-120"/>
              </a:rPr>
              <a:t>▼</a:t>
            </a:r>
            <a:endParaRPr lang="en-US" sz="1300" dirty="0"/>
          </a:p>
        </p:txBody>
      </p:sp>
      <p:sp>
        <p:nvSpPr>
          <p:cNvPr id="17" name="Shape 15">
            <a:extLst>
              <a:ext uri="{FF2B5EF4-FFF2-40B4-BE49-F238E27FC236}">
                <a16:creationId xmlns:a16="http://schemas.microsoft.com/office/drawing/2014/main" id="{4C4F79A5-132C-A1C9-FEE3-6930E7A4FB04}"/>
              </a:ext>
            </a:extLst>
          </p:cNvPr>
          <p:cNvSpPr/>
          <p:nvPr/>
        </p:nvSpPr>
        <p:spPr>
          <a:xfrm>
            <a:off x="274320" y="3931920"/>
            <a:ext cx="3520440" cy="731520"/>
          </a:xfrm>
          <a:prstGeom prst="roundRect">
            <a:avLst>
              <a:gd name="adj" fmla="val 150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8" name="Text 16">
            <a:extLst>
              <a:ext uri="{FF2B5EF4-FFF2-40B4-BE49-F238E27FC236}">
                <a16:creationId xmlns:a16="http://schemas.microsoft.com/office/drawing/2014/main" id="{FE28ABA0-4867-62CF-EFD4-BC1D31598B82}"/>
              </a:ext>
            </a:extLst>
          </p:cNvPr>
          <p:cNvSpPr/>
          <p:nvPr/>
        </p:nvSpPr>
        <p:spPr>
          <a:xfrm>
            <a:off x="457200" y="3986784"/>
            <a:ext cx="315468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Common Feature Set → All 5 Models</a:t>
            </a:r>
            <a:endParaRPr lang="en-US" sz="1200" dirty="0"/>
          </a:p>
        </p:txBody>
      </p:sp>
      <p:sp>
        <p:nvSpPr>
          <p:cNvPr id="19" name="Text 17">
            <a:extLst>
              <a:ext uri="{FF2B5EF4-FFF2-40B4-BE49-F238E27FC236}">
                <a16:creationId xmlns:a16="http://schemas.microsoft.com/office/drawing/2014/main" id="{24EAFE96-F770-7A62-BCFD-992F09452C63}"/>
              </a:ext>
            </a:extLst>
          </p:cNvPr>
          <p:cNvSpPr/>
          <p:nvPr/>
        </p:nvSpPr>
        <p:spPr>
          <a:xfrm>
            <a:off x="457200" y="4325112"/>
            <a:ext cx="3154680" cy="274320"/>
          </a:xfrm>
          <a:prstGeom prst="rect">
            <a:avLst/>
          </a:prstGeom>
          <a:noFill/>
          <a:ln/>
        </p:spPr>
        <p:txBody>
          <a:bodyPr wrap="square" lIns="0" tIns="0" rIns="0" bIns="0" rtlCol="0" anchor="ctr"/>
          <a:lstStyle/>
          <a:p>
            <a:pPr marL="0" indent="0">
              <a:buNone/>
            </a:pPr>
            <a:r>
              <a:rPr lang="en-US" sz="950" i="1" dirty="0">
                <a:solidFill>
                  <a:srgbClr val="CBD5E1"/>
                </a:solidFill>
                <a:latin typeface="Calibri" pitchFamily="34" charset="0"/>
                <a:ea typeface="Calibri" pitchFamily="34" charset="-122"/>
                <a:cs typeface="Calibri" pitchFamily="34" charset="-120"/>
              </a:rPr>
              <a:t>Identical inputs for fair comparison</a:t>
            </a:r>
            <a:endParaRPr lang="en-US" sz="950" dirty="0"/>
          </a:p>
        </p:txBody>
      </p:sp>
      <p:sp>
        <p:nvSpPr>
          <p:cNvPr id="20" name="Shape 18">
            <a:extLst>
              <a:ext uri="{FF2B5EF4-FFF2-40B4-BE49-F238E27FC236}">
                <a16:creationId xmlns:a16="http://schemas.microsoft.com/office/drawing/2014/main" id="{9F86E0B3-9FFC-B1F4-C9CC-DE0574F6E13E}"/>
              </a:ext>
            </a:extLst>
          </p:cNvPr>
          <p:cNvSpPr/>
          <p:nvPr/>
        </p:nvSpPr>
        <p:spPr>
          <a:xfrm>
            <a:off x="3910656" y="1614018"/>
            <a:ext cx="4892040" cy="731520"/>
          </a:xfrm>
          <a:prstGeom prst="roundRect">
            <a:avLst>
              <a:gd name="adj" fmla="val 15000"/>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1" name="Shape 19">
            <a:extLst>
              <a:ext uri="{FF2B5EF4-FFF2-40B4-BE49-F238E27FC236}">
                <a16:creationId xmlns:a16="http://schemas.microsoft.com/office/drawing/2014/main" id="{D5AF305E-DB90-331D-B8BC-A0945E9751DA}"/>
              </a:ext>
            </a:extLst>
          </p:cNvPr>
          <p:cNvSpPr/>
          <p:nvPr/>
        </p:nvSpPr>
        <p:spPr>
          <a:xfrm>
            <a:off x="4020384" y="1742034"/>
            <a:ext cx="457200" cy="457200"/>
          </a:xfrm>
          <a:prstGeom prst="ellipse">
            <a:avLst/>
          </a:prstGeom>
          <a:solidFill>
            <a:srgbClr val="00A8E8"/>
          </a:solidFill>
          <a:ln w="12700">
            <a:solidFill>
              <a:srgbClr val="00A8E8"/>
            </a:solidFill>
            <a:prstDash val="solid"/>
          </a:ln>
        </p:spPr>
        <p:txBody>
          <a:bodyPr/>
          <a:lstStyle/>
          <a:p>
            <a:endParaRPr lang="en-AE"/>
          </a:p>
        </p:txBody>
      </p:sp>
      <p:sp>
        <p:nvSpPr>
          <p:cNvPr id="23" name="Text 21">
            <a:extLst>
              <a:ext uri="{FF2B5EF4-FFF2-40B4-BE49-F238E27FC236}">
                <a16:creationId xmlns:a16="http://schemas.microsoft.com/office/drawing/2014/main" id="{84AB8B4D-101B-62DC-BF6A-0C57B7067DBC}"/>
              </a:ext>
            </a:extLst>
          </p:cNvPr>
          <p:cNvSpPr/>
          <p:nvPr/>
        </p:nvSpPr>
        <p:spPr>
          <a:xfrm>
            <a:off x="4569024" y="1678026"/>
            <a:ext cx="1828800" cy="292608"/>
          </a:xfrm>
          <a:prstGeom prst="rect">
            <a:avLst/>
          </a:prstGeom>
          <a:noFill/>
          <a:ln/>
        </p:spPr>
        <p:txBody>
          <a:bodyPr wrap="square" lIns="0" tIns="0" rIns="0" bIns="0" rtlCol="0" anchor="ctr"/>
          <a:lstStyle/>
          <a:p>
            <a:pPr marL="0" indent="0">
              <a:buNone/>
            </a:pPr>
            <a:r>
              <a:rPr lang="en-US" sz="1250" b="1" dirty="0">
                <a:solidFill>
                  <a:srgbClr val="1C4E80"/>
                </a:solidFill>
                <a:latin typeface="Calibri" pitchFamily="34" charset="0"/>
                <a:ea typeface="Calibri" pitchFamily="34" charset="-122"/>
                <a:cs typeface="Calibri" pitchFamily="34" charset="-120"/>
              </a:rPr>
              <a:t>Wind Alignment</a:t>
            </a:r>
            <a:endParaRPr lang="en-US" sz="1250" dirty="0"/>
          </a:p>
        </p:txBody>
      </p:sp>
      <p:sp>
        <p:nvSpPr>
          <p:cNvPr id="24" name="Text 22">
            <a:extLst>
              <a:ext uri="{FF2B5EF4-FFF2-40B4-BE49-F238E27FC236}">
                <a16:creationId xmlns:a16="http://schemas.microsoft.com/office/drawing/2014/main" id="{A94A9436-99DB-0790-C6DF-2D06CBD78DB2}"/>
              </a:ext>
            </a:extLst>
          </p:cNvPr>
          <p:cNvSpPr/>
          <p:nvPr/>
        </p:nvSpPr>
        <p:spPr>
          <a:xfrm>
            <a:off x="4569024" y="1961490"/>
            <a:ext cx="1828800" cy="274320"/>
          </a:xfrm>
          <a:prstGeom prst="rect">
            <a:avLst/>
          </a:prstGeom>
          <a:noFill/>
          <a:ln/>
        </p:spPr>
        <p:txBody>
          <a:bodyPr wrap="square" lIns="0" tIns="0" rIns="0" bIns="0" rtlCol="0" anchor="ctr"/>
          <a:lstStyle/>
          <a:p>
            <a:pPr marL="0" indent="0">
              <a:buNone/>
            </a:pPr>
            <a:r>
              <a:rPr lang="en-US" sz="1050" i="1" dirty="0">
                <a:solidFill>
                  <a:srgbClr val="0A2342"/>
                </a:solidFill>
                <a:latin typeface="Calibri" pitchFamily="34" charset="0"/>
                <a:ea typeface="Calibri" pitchFamily="34" charset="-122"/>
                <a:cs typeface="Calibri" pitchFamily="34" charset="-120"/>
              </a:rPr>
              <a:t>Align = cos(θwind − θstation)</a:t>
            </a:r>
            <a:endParaRPr lang="en-US" sz="1050" dirty="0"/>
          </a:p>
        </p:txBody>
      </p:sp>
      <p:sp>
        <p:nvSpPr>
          <p:cNvPr id="25" name="Text 23">
            <a:extLst>
              <a:ext uri="{FF2B5EF4-FFF2-40B4-BE49-F238E27FC236}">
                <a16:creationId xmlns:a16="http://schemas.microsoft.com/office/drawing/2014/main" id="{7CB9900C-9B29-DCF9-5C1B-26D316AA0E22}"/>
              </a:ext>
            </a:extLst>
          </p:cNvPr>
          <p:cNvSpPr/>
          <p:nvPr/>
        </p:nvSpPr>
        <p:spPr>
          <a:xfrm>
            <a:off x="6516696" y="1732890"/>
            <a:ext cx="2148840" cy="50292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+1 directly toward target; −1 away</a:t>
            </a:r>
            <a:endParaRPr lang="en-US" sz="1050" dirty="0"/>
          </a:p>
        </p:txBody>
      </p:sp>
      <p:sp>
        <p:nvSpPr>
          <p:cNvPr id="26" name="Shape 24">
            <a:extLst>
              <a:ext uri="{FF2B5EF4-FFF2-40B4-BE49-F238E27FC236}">
                <a16:creationId xmlns:a16="http://schemas.microsoft.com/office/drawing/2014/main" id="{29B1D7BD-4CE7-0BE1-7065-CEAD974A949B}"/>
              </a:ext>
            </a:extLst>
          </p:cNvPr>
          <p:cNvSpPr/>
          <p:nvPr/>
        </p:nvSpPr>
        <p:spPr>
          <a:xfrm>
            <a:off x="3910656" y="2528418"/>
            <a:ext cx="4892040" cy="731520"/>
          </a:xfrm>
          <a:prstGeom prst="roundRect">
            <a:avLst>
              <a:gd name="adj" fmla="val 15000"/>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7" name="Shape 25">
            <a:extLst>
              <a:ext uri="{FF2B5EF4-FFF2-40B4-BE49-F238E27FC236}">
                <a16:creationId xmlns:a16="http://schemas.microsoft.com/office/drawing/2014/main" id="{FA7417C0-BDF7-60C4-AF0B-1BADE2EF5127}"/>
              </a:ext>
            </a:extLst>
          </p:cNvPr>
          <p:cNvSpPr/>
          <p:nvPr/>
        </p:nvSpPr>
        <p:spPr>
          <a:xfrm>
            <a:off x="4020384" y="2656434"/>
            <a:ext cx="457200" cy="457200"/>
          </a:xfrm>
          <a:prstGeom prst="ellipse">
            <a:avLst/>
          </a:prstGeom>
          <a:solidFill>
            <a:srgbClr val="00A8E8"/>
          </a:solidFill>
          <a:ln w="12700">
            <a:solidFill>
              <a:srgbClr val="00A8E8"/>
            </a:solidFill>
            <a:prstDash val="solid"/>
          </a:ln>
        </p:spPr>
        <p:txBody>
          <a:bodyPr/>
          <a:lstStyle/>
          <a:p>
            <a:endParaRPr lang="en-AE"/>
          </a:p>
        </p:txBody>
      </p:sp>
      <p:sp>
        <p:nvSpPr>
          <p:cNvPr id="31" name="Text 29">
            <a:extLst>
              <a:ext uri="{FF2B5EF4-FFF2-40B4-BE49-F238E27FC236}">
                <a16:creationId xmlns:a16="http://schemas.microsoft.com/office/drawing/2014/main" id="{0B0883BE-EBC6-AAF9-F4A1-A57FA0598A04}"/>
              </a:ext>
            </a:extLst>
          </p:cNvPr>
          <p:cNvSpPr/>
          <p:nvPr/>
        </p:nvSpPr>
        <p:spPr>
          <a:xfrm>
            <a:off x="6516696" y="2647290"/>
            <a:ext cx="2148840" cy="50292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Strength of pollutant movement</a:t>
            </a:r>
            <a:endParaRPr lang="en-US" sz="1050" dirty="0"/>
          </a:p>
        </p:txBody>
      </p:sp>
      <p:sp>
        <p:nvSpPr>
          <p:cNvPr id="32" name="Shape 30">
            <a:extLst>
              <a:ext uri="{FF2B5EF4-FFF2-40B4-BE49-F238E27FC236}">
                <a16:creationId xmlns:a16="http://schemas.microsoft.com/office/drawing/2014/main" id="{E6E8472F-395A-4A3E-6345-02B9620CF0AE}"/>
              </a:ext>
            </a:extLst>
          </p:cNvPr>
          <p:cNvSpPr/>
          <p:nvPr/>
        </p:nvSpPr>
        <p:spPr>
          <a:xfrm>
            <a:off x="3910656" y="3442818"/>
            <a:ext cx="4892040" cy="731520"/>
          </a:xfrm>
          <a:prstGeom prst="roundRect">
            <a:avLst>
              <a:gd name="adj" fmla="val 15000"/>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3" name="Shape 31">
            <a:extLst>
              <a:ext uri="{FF2B5EF4-FFF2-40B4-BE49-F238E27FC236}">
                <a16:creationId xmlns:a16="http://schemas.microsoft.com/office/drawing/2014/main" id="{E795ADE7-57EB-2965-F03D-6208FCE892EF}"/>
              </a:ext>
            </a:extLst>
          </p:cNvPr>
          <p:cNvSpPr/>
          <p:nvPr/>
        </p:nvSpPr>
        <p:spPr>
          <a:xfrm>
            <a:off x="4020384" y="3570834"/>
            <a:ext cx="457200" cy="457200"/>
          </a:xfrm>
          <a:prstGeom prst="ellipse">
            <a:avLst/>
          </a:prstGeom>
          <a:solidFill>
            <a:srgbClr val="00A8E8"/>
          </a:solidFill>
          <a:ln w="12700">
            <a:solidFill>
              <a:srgbClr val="00A8E8"/>
            </a:solidFill>
            <a:prstDash val="solid"/>
          </a:ln>
        </p:spPr>
        <p:txBody>
          <a:bodyPr/>
          <a:lstStyle/>
          <a:p>
            <a:endParaRPr lang="en-AE"/>
          </a:p>
        </p:txBody>
      </p:sp>
      <p:sp>
        <p:nvSpPr>
          <p:cNvPr id="35" name="Text 33">
            <a:extLst>
              <a:ext uri="{FF2B5EF4-FFF2-40B4-BE49-F238E27FC236}">
                <a16:creationId xmlns:a16="http://schemas.microsoft.com/office/drawing/2014/main" id="{EF7C3111-4DEC-9A7F-6D0E-C2ED208DF92C}"/>
              </a:ext>
            </a:extLst>
          </p:cNvPr>
          <p:cNvSpPr/>
          <p:nvPr/>
        </p:nvSpPr>
        <p:spPr>
          <a:xfrm>
            <a:off x="4569024" y="2592429"/>
            <a:ext cx="1828800" cy="292608"/>
          </a:xfrm>
          <a:prstGeom prst="rect">
            <a:avLst/>
          </a:prstGeom>
          <a:noFill/>
          <a:ln/>
        </p:spPr>
        <p:txBody>
          <a:bodyPr wrap="square" lIns="0" tIns="0" rIns="0" bIns="0" rtlCol="0" anchor="ctr"/>
          <a:lstStyle/>
          <a:p>
            <a:pPr marL="0" indent="0">
              <a:buNone/>
            </a:pPr>
            <a:r>
              <a:rPr lang="en-US" sz="1250" b="1" dirty="0">
                <a:solidFill>
                  <a:srgbClr val="1C4E80"/>
                </a:solidFill>
                <a:latin typeface="Calibri" pitchFamily="34" charset="0"/>
                <a:ea typeface="Calibri" pitchFamily="34" charset="-122"/>
                <a:cs typeface="Calibri" pitchFamily="34" charset="-120"/>
              </a:rPr>
              <a:t>Transport Potential</a:t>
            </a:r>
            <a:endParaRPr lang="en-US" sz="1250" dirty="0"/>
          </a:p>
        </p:txBody>
      </p:sp>
      <p:sp>
        <p:nvSpPr>
          <p:cNvPr id="36" name="Text 34">
            <a:extLst>
              <a:ext uri="{FF2B5EF4-FFF2-40B4-BE49-F238E27FC236}">
                <a16:creationId xmlns:a16="http://schemas.microsoft.com/office/drawing/2014/main" id="{D7C3D5A0-CA51-CAF1-926C-FBF4BBD3FD67}"/>
              </a:ext>
            </a:extLst>
          </p:cNvPr>
          <p:cNvSpPr/>
          <p:nvPr/>
        </p:nvSpPr>
        <p:spPr>
          <a:xfrm>
            <a:off x="4569024" y="2897154"/>
            <a:ext cx="1828800" cy="274320"/>
          </a:xfrm>
          <a:prstGeom prst="rect">
            <a:avLst/>
          </a:prstGeom>
          <a:noFill/>
          <a:ln/>
        </p:spPr>
        <p:txBody>
          <a:bodyPr wrap="square" lIns="0" tIns="0" rIns="0" bIns="0" rtlCol="0" anchor="ctr"/>
          <a:lstStyle/>
          <a:p>
            <a:pPr marL="0" indent="0">
              <a:buNone/>
            </a:pPr>
            <a:r>
              <a:rPr lang="en-US" sz="1050" i="1" dirty="0">
                <a:solidFill>
                  <a:srgbClr val="0A2342"/>
                </a:solidFill>
                <a:latin typeface="Calibri" pitchFamily="34" charset="0"/>
                <a:ea typeface="Calibri" pitchFamily="34" charset="-122"/>
                <a:cs typeface="Calibri" pitchFamily="34" charset="-120"/>
              </a:rPr>
              <a:t>Wind Speed × Alignment</a:t>
            </a:r>
            <a:endParaRPr lang="en-US" sz="1050" dirty="0"/>
          </a:p>
        </p:txBody>
      </p:sp>
      <p:sp>
        <p:nvSpPr>
          <p:cNvPr id="37" name="Text 35">
            <a:extLst>
              <a:ext uri="{FF2B5EF4-FFF2-40B4-BE49-F238E27FC236}">
                <a16:creationId xmlns:a16="http://schemas.microsoft.com/office/drawing/2014/main" id="{B69D178E-FC60-1814-5F2F-DF8B55645F10}"/>
              </a:ext>
            </a:extLst>
          </p:cNvPr>
          <p:cNvSpPr/>
          <p:nvPr/>
        </p:nvSpPr>
        <p:spPr>
          <a:xfrm>
            <a:off x="6516696" y="3561690"/>
            <a:ext cx="2148840" cy="502920"/>
          </a:xfrm>
          <a:prstGeom prst="rect">
            <a:avLst/>
          </a:prstGeom>
          <a:noFill/>
          <a:ln/>
        </p:spPr>
        <p:txBody>
          <a:bodyPr wrap="square" rtlCol="0" anchor="ctr"/>
          <a:lstStyle/>
          <a:p>
            <a:r>
              <a:rPr lang="en-US" sz="1050" dirty="0">
                <a:solidFill>
                  <a:srgbClr val="64748B"/>
                </a:solidFill>
                <a:latin typeface="Calibri" pitchFamily="34" charset="0"/>
                <a:ea typeface="Calibri" pitchFamily="34" charset="-122"/>
                <a:cs typeface="Calibri" pitchFamily="34" charset="-120"/>
              </a:rPr>
              <a:t>Transported pollutant estimate</a:t>
            </a:r>
            <a:endParaRPr lang="en-US" sz="1050" dirty="0"/>
          </a:p>
        </p:txBody>
      </p:sp>
      <p:sp>
        <p:nvSpPr>
          <p:cNvPr id="40" name="Text 38">
            <a:extLst>
              <a:ext uri="{FF2B5EF4-FFF2-40B4-BE49-F238E27FC236}">
                <a16:creationId xmlns:a16="http://schemas.microsoft.com/office/drawing/2014/main" id="{8DCC11C3-3F69-421D-3ED2-B3E549806E7E}"/>
              </a:ext>
            </a:extLst>
          </p:cNvPr>
          <p:cNvSpPr/>
          <p:nvPr/>
        </p:nvSpPr>
        <p:spPr>
          <a:xfrm>
            <a:off x="4041648" y="4059936"/>
            <a:ext cx="457200" cy="457200"/>
          </a:xfrm>
          <a:prstGeom prst="rect">
            <a:avLst/>
          </a:prstGeom>
          <a:noFill/>
          <a:ln/>
        </p:spPr>
        <p:txBody>
          <a:bodyPr wrap="square" lIns="0" tIns="0" rIns="0" bIns="0" rtlCol="0" anchor="ctr"/>
          <a:lstStyle/>
          <a:p>
            <a:pPr marL="0" indent="0" algn="ctr">
              <a:buNone/>
            </a:pPr>
            <a:endParaRPr lang="en-US" sz="1400" dirty="0"/>
          </a:p>
        </p:txBody>
      </p:sp>
      <p:sp>
        <p:nvSpPr>
          <p:cNvPr id="41" name="Text 39">
            <a:extLst>
              <a:ext uri="{FF2B5EF4-FFF2-40B4-BE49-F238E27FC236}">
                <a16:creationId xmlns:a16="http://schemas.microsoft.com/office/drawing/2014/main" id="{CB579005-98F2-0F0F-6363-6C1316877CA7}"/>
              </a:ext>
            </a:extLst>
          </p:cNvPr>
          <p:cNvSpPr/>
          <p:nvPr/>
        </p:nvSpPr>
        <p:spPr>
          <a:xfrm>
            <a:off x="4569024" y="3512139"/>
            <a:ext cx="1828800" cy="292608"/>
          </a:xfrm>
          <a:prstGeom prst="rect">
            <a:avLst/>
          </a:prstGeom>
          <a:noFill/>
          <a:ln/>
        </p:spPr>
        <p:txBody>
          <a:bodyPr wrap="square" lIns="0" tIns="0" rIns="0" bIns="0" rtlCol="0" anchor="ctr"/>
          <a:lstStyle/>
          <a:p>
            <a:pPr marL="0" indent="0">
              <a:buNone/>
            </a:pPr>
            <a:r>
              <a:rPr lang="en-US" sz="1250" b="1" dirty="0">
                <a:solidFill>
                  <a:srgbClr val="1C4E80"/>
                </a:solidFill>
                <a:latin typeface="Calibri" pitchFamily="34" charset="0"/>
                <a:ea typeface="Calibri" pitchFamily="34" charset="-122"/>
                <a:cs typeface="Calibri" pitchFamily="34" charset="-120"/>
              </a:rPr>
              <a:t>Upwind PM₂.₅</a:t>
            </a:r>
            <a:endParaRPr lang="en-US" sz="1250" dirty="0"/>
          </a:p>
        </p:txBody>
      </p:sp>
      <p:sp>
        <p:nvSpPr>
          <p:cNvPr id="42" name="Text 40">
            <a:extLst>
              <a:ext uri="{FF2B5EF4-FFF2-40B4-BE49-F238E27FC236}">
                <a16:creationId xmlns:a16="http://schemas.microsoft.com/office/drawing/2014/main" id="{061FFADE-1B13-9948-98EC-CE96FAC384A3}"/>
              </a:ext>
            </a:extLst>
          </p:cNvPr>
          <p:cNvSpPr/>
          <p:nvPr/>
        </p:nvSpPr>
        <p:spPr>
          <a:xfrm>
            <a:off x="4569024" y="3795603"/>
            <a:ext cx="1828800" cy="274320"/>
          </a:xfrm>
          <a:prstGeom prst="rect">
            <a:avLst/>
          </a:prstGeom>
          <a:noFill/>
          <a:ln/>
        </p:spPr>
        <p:txBody>
          <a:bodyPr wrap="square" lIns="0" tIns="0" rIns="0" bIns="0" rtlCol="0" anchor="ctr"/>
          <a:lstStyle/>
          <a:p>
            <a:pPr marL="0" indent="0">
              <a:buNone/>
            </a:pPr>
            <a:r>
              <a:rPr lang="en-US" sz="1050" i="1" dirty="0">
                <a:solidFill>
                  <a:srgbClr val="0A2342"/>
                </a:solidFill>
                <a:latin typeface="Calibri" pitchFamily="34" charset="0"/>
                <a:ea typeface="Calibri" pitchFamily="34" charset="-122"/>
                <a:cs typeface="Calibri" pitchFamily="34" charset="-120"/>
              </a:rPr>
              <a:t>Σ(Weightᵢ × PM₂.₅,ᵢ) / ΣWeightᵢ</a:t>
            </a:r>
            <a:endParaRPr lang="en-US" sz="1050" dirty="0"/>
          </a:p>
        </p:txBody>
      </p:sp>
      <p:sp>
        <p:nvSpPr>
          <p:cNvPr id="45" name="Text 42">
            <a:extLst>
              <a:ext uri="{FF2B5EF4-FFF2-40B4-BE49-F238E27FC236}">
                <a16:creationId xmlns:a16="http://schemas.microsoft.com/office/drawing/2014/main" id="{55E22B15-EBB9-D1FA-9B7C-646612C47292}"/>
              </a:ext>
            </a:extLst>
          </p:cNvPr>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t>9</a:t>
            </a:r>
          </a:p>
        </p:txBody>
      </p:sp>
      <p:pic>
        <p:nvPicPr>
          <p:cNvPr id="44" name="image1.png" descr="University of Ontario Institute of Technology logo">
            <a:extLst>
              <a:ext uri="{FF2B5EF4-FFF2-40B4-BE49-F238E27FC236}">
                <a16:creationId xmlns:a16="http://schemas.microsoft.com/office/drawing/2014/main" id="{C4690D53-060F-F08B-4950-BF90D9DC951D}"/>
              </a:ext>
            </a:extLst>
          </p:cNvPr>
          <p:cNvPicPr/>
          <p:nvPr/>
        </p:nvPicPr>
        <p:blipFill>
          <a:blip r:embed="rId3"/>
          <a:srcRect/>
          <a:stretch>
            <a:fillRect/>
          </a:stretch>
        </p:blipFill>
        <p:spPr>
          <a:xfrm>
            <a:off x="7570692" y="98790"/>
            <a:ext cx="1416424" cy="404310"/>
          </a:xfrm>
          <a:prstGeom prst="rect">
            <a:avLst/>
          </a:prstGeom>
          <a:ln/>
        </p:spPr>
      </p:pic>
    </p:spTree>
    <p:extLst>
      <p:ext uri="{BB962C8B-B14F-4D97-AF65-F5344CB8AC3E}">
        <p14:creationId xmlns:p14="http://schemas.microsoft.com/office/powerpoint/2010/main" val="2565466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7FBFF"/>
        </a:solidFill>
        <a:effectLst/>
      </p:bgPr>
    </p:bg>
    <p:spTree>
      <p:nvGrpSpPr>
        <p:cNvPr id="1" name=""/>
        <p:cNvGrpSpPr/>
        <p:nvPr/>
      </p:nvGrpSpPr>
      <p:grpSpPr>
        <a:xfrm>
          <a:off x="0" y="0"/>
          <a:ext cx="0" cy="0"/>
          <a:chOff x="0" y="0"/>
          <a:chExt cx="0" cy="0"/>
        </a:xfrm>
      </p:grpSpPr>
      <p:sp>
        <p:nvSpPr>
          <p:cNvPr id="3" name="Text 1"/>
          <p:cNvSpPr/>
          <p:nvPr/>
        </p:nvSpPr>
        <p:spPr>
          <a:xfrm>
            <a:off x="298396" y="365329"/>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Forecasting Models &amp; Live Demo</a:t>
            </a:r>
            <a:endParaRPr lang="en-US" sz="2200" dirty="0"/>
          </a:p>
        </p:txBody>
      </p:sp>
      <p:sp>
        <p:nvSpPr>
          <p:cNvPr id="4" name="Text 2"/>
          <p:cNvSpPr/>
          <p:nvPr/>
        </p:nvSpPr>
        <p:spPr>
          <a:xfrm>
            <a:off x="365760" y="918972"/>
            <a:ext cx="8503920" cy="329184"/>
          </a:xfrm>
          <a:prstGeom prst="rect">
            <a:avLst/>
          </a:prstGeom>
          <a:noFill/>
          <a:ln/>
        </p:spPr>
        <p:txBody>
          <a:bodyPr wrap="square" lIns="0" tIns="0" rIns="0" bIns="0" rtlCol="0" anchor="ctr"/>
          <a:lstStyle/>
          <a:p>
            <a:pPr marL="0" indent="0">
              <a:buNone/>
            </a:pPr>
            <a:r>
              <a:rPr lang="en-US" sz="1200" dirty="0">
                <a:solidFill>
                  <a:srgbClr val="00A8E8"/>
                </a:solidFill>
                <a:latin typeface="Calibri" pitchFamily="34" charset="0"/>
                <a:ea typeface="Calibri" pitchFamily="34" charset="-122"/>
                <a:cs typeface="Calibri" pitchFamily="34" charset="-120"/>
              </a:rPr>
              <a:t>5 models — identical features — 3 horizons</a:t>
            </a:r>
            <a:endParaRPr lang="en-US" sz="1200" dirty="0"/>
          </a:p>
        </p:txBody>
      </p:sp>
      <p:sp>
        <p:nvSpPr>
          <p:cNvPr id="5" name="Shape 3"/>
          <p:cNvSpPr/>
          <p:nvPr/>
        </p:nvSpPr>
        <p:spPr>
          <a:xfrm>
            <a:off x="274320" y="1188720"/>
            <a:ext cx="1536192" cy="438912"/>
          </a:xfrm>
          <a:prstGeom prst="roundRect">
            <a:avLst>
              <a:gd name="adj" fmla="val 7742"/>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Shape 4"/>
          <p:cNvSpPr/>
          <p:nvPr/>
        </p:nvSpPr>
        <p:spPr>
          <a:xfrm>
            <a:off x="274320" y="1188720"/>
            <a:ext cx="1536192" cy="438912"/>
          </a:xfrm>
          <a:prstGeom prst="rect">
            <a:avLst/>
          </a:prstGeom>
          <a:solidFill>
            <a:srgbClr val="64748B"/>
          </a:solidFill>
          <a:ln w="12700">
            <a:solidFill>
              <a:srgbClr val="64748B"/>
            </a:solidFill>
            <a:prstDash val="solid"/>
          </a:ln>
        </p:spPr>
        <p:txBody>
          <a:bodyPr/>
          <a:lstStyle/>
          <a:p>
            <a:endParaRPr lang="en-AE"/>
          </a:p>
        </p:txBody>
      </p:sp>
      <p:sp>
        <p:nvSpPr>
          <p:cNvPr id="7" name="Text 5"/>
          <p:cNvSpPr/>
          <p:nvPr/>
        </p:nvSpPr>
        <p:spPr>
          <a:xfrm>
            <a:off x="274320" y="1188720"/>
            <a:ext cx="153619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Historical</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Average</a:t>
            </a:r>
            <a:endParaRPr lang="en-US" sz="1150" dirty="0"/>
          </a:p>
        </p:txBody>
      </p:sp>
      <p:sp>
        <p:nvSpPr>
          <p:cNvPr id="10" name="Shape 8"/>
          <p:cNvSpPr/>
          <p:nvPr/>
        </p:nvSpPr>
        <p:spPr>
          <a:xfrm>
            <a:off x="1993392" y="1188720"/>
            <a:ext cx="1536192" cy="438912"/>
          </a:xfrm>
          <a:prstGeom prst="roundRect">
            <a:avLst>
              <a:gd name="adj" fmla="val 7742"/>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1" name="Shape 9"/>
          <p:cNvSpPr/>
          <p:nvPr/>
        </p:nvSpPr>
        <p:spPr>
          <a:xfrm>
            <a:off x="1993392" y="1188720"/>
            <a:ext cx="1536192" cy="438912"/>
          </a:xfrm>
          <a:prstGeom prst="rect">
            <a:avLst/>
          </a:prstGeom>
          <a:solidFill>
            <a:srgbClr val="059669"/>
          </a:solidFill>
          <a:ln w="12700">
            <a:solidFill>
              <a:srgbClr val="059669"/>
            </a:solidFill>
            <a:prstDash val="solid"/>
          </a:ln>
        </p:spPr>
        <p:txBody>
          <a:bodyPr/>
          <a:lstStyle/>
          <a:p>
            <a:endParaRPr lang="en-AE"/>
          </a:p>
        </p:txBody>
      </p:sp>
      <p:sp>
        <p:nvSpPr>
          <p:cNvPr id="12" name="Text 10"/>
          <p:cNvSpPr/>
          <p:nvPr/>
        </p:nvSpPr>
        <p:spPr>
          <a:xfrm>
            <a:off x="1993392" y="1188720"/>
            <a:ext cx="153619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Linear</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Regression</a:t>
            </a:r>
            <a:endParaRPr lang="en-US" sz="1150" dirty="0"/>
          </a:p>
        </p:txBody>
      </p:sp>
      <p:sp>
        <p:nvSpPr>
          <p:cNvPr id="15" name="Shape 13"/>
          <p:cNvSpPr/>
          <p:nvPr/>
        </p:nvSpPr>
        <p:spPr>
          <a:xfrm>
            <a:off x="3712464" y="1188720"/>
            <a:ext cx="1536192" cy="457200"/>
          </a:xfrm>
          <a:prstGeom prst="roundRect">
            <a:avLst>
              <a:gd name="adj" fmla="val 7742"/>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6" name="Shape 14"/>
          <p:cNvSpPr/>
          <p:nvPr/>
        </p:nvSpPr>
        <p:spPr>
          <a:xfrm>
            <a:off x="3712464" y="1188720"/>
            <a:ext cx="1536192" cy="438912"/>
          </a:xfrm>
          <a:prstGeom prst="rect">
            <a:avLst/>
          </a:prstGeom>
          <a:solidFill>
            <a:srgbClr val="0D7377"/>
          </a:solidFill>
          <a:ln w="12700">
            <a:solidFill>
              <a:srgbClr val="0D7377"/>
            </a:solidFill>
            <a:prstDash val="solid"/>
          </a:ln>
        </p:spPr>
        <p:txBody>
          <a:bodyPr/>
          <a:lstStyle/>
          <a:p>
            <a:endParaRPr lang="en-AE"/>
          </a:p>
        </p:txBody>
      </p:sp>
      <p:sp>
        <p:nvSpPr>
          <p:cNvPr id="17" name="Text 15"/>
          <p:cNvSpPr/>
          <p:nvPr/>
        </p:nvSpPr>
        <p:spPr>
          <a:xfrm>
            <a:off x="3712464" y="1188720"/>
            <a:ext cx="153619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Random</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Forest</a:t>
            </a:r>
            <a:endParaRPr lang="en-US" sz="1150" dirty="0"/>
          </a:p>
        </p:txBody>
      </p:sp>
      <p:sp>
        <p:nvSpPr>
          <p:cNvPr id="18" name="Text 16"/>
          <p:cNvSpPr/>
          <p:nvPr/>
        </p:nvSpPr>
        <p:spPr>
          <a:xfrm>
            <a:off x="3803904" y="1700784"/>
            <a:ext cx="1353312" cy="320040"/>
          </a:xfrm>
          <a:prstGeom prst="rect">
            <a:avLst/>
          </a:prstGeom>
          <a:noFill/>
          <a:ln/>
        </p:spPr>
        <p:txBody>
          <a:bodyPr wrap="square" rtlCol="0" anchor="ctr"/>
          <a:lstStyle/>
          <a:p>
            <a:pPr marL="0" indent="0" algn="ctr">
              <a:buNone/>
            </a:pPr>
            <a:endParaRPr lang="en-US" sz="1100" dirty="0"/>
          </a:p>
        </p:txBody>
      </p:sp>
      <p:sp>
        <p:nvSpPr>
          <p:cNvPr id="21" name="Shape 19"/>
          <p:cNvSpPr/>
          <p:nvPr/>
        </p:nvSpPr>
        <p:spPr>
          <a:xfrm>
            <a:off x="5431536" y="1188720"/>
            <a:ext cx="1536192" cy="438912"/>
          </a:xfrm>
          <a:prstGeom prst="rect">
            <a:avLst/>
          </a:prstGeom>
          <a:solidFill>
            <a:srgbClr val="1C4E80"/>
          </a:solidFill>
          <a:ln w="12700">
            <a:solidFill>
              <a:srgbClr val="1C4E80"/>
            </a:solidFill>
            <a:prstDash val="solid"/>
          </a:ln>
        </p:spPr>
        <p:txBody>
          <a:bodyPr/>
          <a:lstStyle/>
          <a:p>
            <a:endParaRPr lang="en-AE"/>
          </a:p>
        </p:txBody>
      </p:sp>
      <p:sp>
        <p:nvSpPr>
          <p:cNvPr id="22" name="Text 20"/>
          <p:cNvSpPr/>
          <p:nvPr/>
        </p:nvSpPr>
        <p:spPr>
          <a:xfrm>
            <a:off x="5431536" y="1188720"/>
            <a:ext cx="153619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LSTM</a:t>
            </a:r>
            <a:endParaRPr lang="en-US" sz="1150" dirty="0"/>
          </a:p>
        </p:txBody>
      </p:sp>
      <p:sp>
        <p:nvSpPr>
          <p:cNvPr id="26" name="Shape 24"/>
          <p:cNvSpPr/>
          <p:nvPr/>
        </p:nvSpPr>
        <p:spPr>
          <a:xfrm>
            <a:off x="7150608" y="1188720"/>
            <a:ext cx="1536192" cy="438912"/>
          </a:xfrm>
          <a:prstGeom prst="rect">
            <a:avLst/>
          </a:prstGeom>
          <a:solidFill>
            <a:srgbClr val="0A2342"/>
          </a:solidFill>
          <a:ln w="12700">
            <a:solidFill>
              <a:srgbClr val="0A2342"/>
            </a:solidFill>
            <a:prstDash val="solid"/>
          </a:ln>
        </p:spPr>
        <p:txBody>
          <a:bodyPr/>
          <a:lstStyle/>
          <a:p>
            <a:endParaRPr lang="en-AE"/>
          </a:p>
        </p:txBody>
      </p:sp>
      <p:sp>
        <p:nvSpPr>
          <p:cNvPr id="27" name="Text 25"/>
          <p:cNvSpPr/>
          <p:nvPr/>
        </p:nvSpPr>
        <p:spPr>
          <a:xfrm>
            <a:off x="7150608" y="1188720"/>
            <a:ext cx="1536192" cy="43891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STGNN</a:t>
            </a:r>
            <a:endParaRPr lang="en-US" sz="1150" dirty="0"/>
          </a:p>
        </p:txBody>
      </p:sp>
      <p:sp>
        <p:nvSpPr>
          <p:cNvPr id="30" name="Shape 28"/>
          <p:cNvSpPr/>
          <p:nvPr/>
        </p:nvSpPr>
        <p:spPr>
          <a:xfrm>
            <a:off x="236443" y="1897380"/>
            <a:ext cx="8595360" cy="2766060"/>
          </a:xfrm>
          <a:prstGeom prst="roundRect">
            <a:avLst>
              <a:gd name="adj" fmla="val 60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1" name="Shape 29"/>
          <p:cNvSpPr/>
          <p:nvPr/>
        </p:nvSpPr>
        <p:spPr>
          <a:xfrm>
            <a:off x="589490" y="2077974"/>
            <a:ext cx="548640" cy="548640"/>
          </a:xfrm>
          <a:prstGeom prst="roundRect">
            <a:avLst>
              <a:gd name="adj" fmla="val 16667"/>
            </a:avLst>
          </a:prstGeom>
          <a:solidFill>
            <a:srgbClr val="00A8E8"/>
          </a:solidFill>
          <a:ln w="12700">
            <a:solidFill>
              <a:srgbClr val="00A8E8"/>
            </a:solidFill>
            <a:prstDash val="solid"/>
          </a:ln>
        </p:spPr>
        <p:txBody>
          <a:bodyPr/>
          <a:lstStyle/>
          <a:p>
            <a:endParaRPr lang="en-AE"/>
          </a:p>
        </p:txBody>
      </p:sp>
      <p:sp>
        <p:nvSpPr>
          <p:cNvPr id="32" name="Text 30"/>
          <p:cNvSpPr/>
          <p:nvPr/>
        </p:nvSpPr>
        <p:spPr>
          <a:xfrm>
            <a:off x="584078" y="2072704"/>
            <a:ext cx="548640" cy="548640"/>
          </a:xfrm>
          <a:prstGeom prst="rect">
            <a:avLst/>
          </a:prstGeom>
          <a:noFill/>
          <a:ln/>
        </p:spPr>
        <p:txBody>
          <a:bodyPr wrap="square" lIns="0" tIns="0" rIns="0" bIns="0"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33" name="Text 31"/>
          <p:cNvSpPr/>
          <p:nvPr/>
        </p:nvSpPr>
        <p:spPr>
          <a:xfrm>
            <a:off x="1293957" y="2013790"/>
            <a:ext cx="7132320" cy="365760"/>
          </a:xfrm>
          <a:prstGeom prst="rect">
            <a:avLst/>
          </a:prstGeom>
          <a:noFill/>
          <a:ln/>
        </p:spPr>
        <p:txBody>
          <a:bodyPr wrap="square" rtlCol="0" anchor="ctr"/>
          <a:lstStyle/>
          <a:p>
            <a:pPr marL="0" indent="0">
              <a:buNone/>
            </a:pPr>
            <a:r>
              <a:rPr lang="en-US" sz="1600" b="1" dirty="0">
                <a:solidFill>
                  <a:srgbClr val="00A8E8"/>
                </a:solidFill>
                <a:latin typeface="Calibri" pitchFamily="34" charset="0"/>
                <a:ea typeface="Calibri" pitchFamily="34" charset="-122"/>
                <a:cs typeface="Calibri" pitchFamily="34" charset="-120"/>
              </a:rPr>
              <a:t>LIVE DEMONSTRATION</a:t>
            </a:r>
            <a:endParaRPr lang="en-US" sz="1600" dirty="0"/>
          </a:p>
        </p:txBody>
      </p:sp>
      <p:sp>
        <p:nvSpPr>
          <p:cNvPr id="34" name="Shape 32"/>
          <p:cNvSpPr/>
          <p:nvPr/>
        </p:nvSpPr>
        <p:spPr>
          <a:xfrm>
            <a:off x="1293961" y="2417203"/>
            <a:ext cx="402336" cy="402336"/>
          </a:xfrm>
          <a:prstGeom prst="ellipse">
            <a:avLst/>
          </a:prstGeom>
          <a:solidFill>
            <a:srgbClr val="1C4E80"/>
          </a:solidFill>
          <a:ln w="12700">
            <a:solidFill>
              <a:srgbClr val="1C4E80"/>
            </a:solidFill>
            <a:prstDash val="solid"/>
          </a:ln>
        </p:spPr>
        <p:txBody>
          <a:bodyPr/>
          <a:lstStyle/>
          <a:p>
            <a:endParaRPr lang="en-AE"/>
          </a:p>
        </p:txBody>
      </p:sp>
      <p:sp>
        <p:nvSpPr>
          <p:cNvPr id="35" name="Text 33"/>
          <p:cNvSpPr/>
          <p:nvPr/>
        </p:nvSpPr>
        <p:spPr>
          <a:xfrm>
            <a:off x="1234440" y="342900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6" name="Text 34"/>
          <p:cNvSpPr/>
          <p:nvPr/>
        </p:nvSpPr>
        <p:spPr>
          <a:xfrm>
            <a:off x="1715178" y="2632236"/>
            <a:ext cx="7250543" cy="1956385"/>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Kafka topics live: air-quality-raw → air-quality-features → air-quality-predictions</a:t>
            </a:r>
          </a:p>
          <a:p>
            <a:pPr marL="0" indent="0">
              <a:buNone/>
            </a:pPr>
            <a:endParaRPr lang="en-US" sz="1100" dirty="0">
              <a:solidFill>
                <a:srgbClr val="FFFFFF"/>
              </a:solidFill>
              <a:latin typeface="Calibri" pitchFamily="34" charset="0"/>
              <a:ea typeface="Calibri" pitchFamily="34" charset="-122"/>
              <a:cs typeface="Calibri" pitchFamily="34" charset="-120"/>
            </a:endParaRPr>
          </a:p>
          <a:p>
            <a:pPr marL="0" indent="0">
              <a:buNone/>
            </a:pPr>
            <a:endParaRPr lang="en-US" sz="1100" dirty="0">
              <a:solidFill>
                <a:srgbClr val="FFFFFF"/>
              </a:solidFill>
              <a:latin typeface="Calibri" pitchFamily="34" charset="0"/>
              <a:ea typeface="Calibri" pitchFamily="34" charset="-122"/>
              <a:cs typeface="Calibri" pitchFamily="34" charset="-120"/>
            </a:endParaRPr>
          </a:p>
          <a:p>
            <a:r>
              <a:rPr lang="en-US" sz="1100" dirty="0">
                <a:solidFill>
                  <a:srgbClr val="FFFFFF"/>
                </a:solidFill>
                <a:latin typeface="Calibri" pitchFamily="34" charset="0"/>
                <a:ea typeface="Calibri" pitchFamily="34" charset="-122"/>
                <a:cs typeface="Calibri" pitchFamily="34" charset="-120"/>
              </a:rPr>
              <a:t>Trigger a manual </a:t>
            </a:r>
            <a:r>
              <a:rPr lang="en-US" sz="1100" dirty="0" err="1">
                <a:solidFill>
                  <a:srgbClr val="FFFFFF"/>
                </a:solidFill>
                <a:latin typeface="Calibri" pitchFamily="34" charset="0"/>
                <a:ea typeface="Calibri" pitchFamily="34" charset="-122"/>
                <a:cs typeface="Calibri" pitchFamily="34" charset="-120"/>
              </a:rPr>
              <a:t>OpenAQ</a:t>
            </a:r>
            <a:r>
              <a:rPr lang="en-US" sz="1100" dirty="0">
                <a:solidFill>
                  <a:srgbClr val="FFFFFF"/>
                </a:solidFill>
                <a:latin typeface="Calibri" pitchFamily="34" charset="0"/>
                <a:ea typeface="Calibri" pitchFamily="34" charset="-122"/>
                <a:cs typeface="Calibri" pitchFamily="34" charset="-120"/>
              </a:rPr>
              <a:t> poll and show the JSON message land in air-quality-raw</a:t>
            </a:r>
          </a:p>
          <a:p>
            <a:endParaRPr lang="en-US" sz="1100" dirty="0"/>
          </a:p>
          <a:p>
            <a:pPr marL="0" indent="0">
              <a:buNone/>
            </a:pPr>
            <a:endParaRPr lang="en-US" sz="1100" dirty="0">
              <a:solidFill>
                <a:srgbClr val="FFFFFF"/>
              </a:solidFill>
              <a:latin typeface="Calibri" pitchFamily="34" charset="0"/>
              <a:ea typeface="Calibri" pitchFamily="34" charset="-122"/>
              <a:cs typeface="Calibri" pitchFamily="34" charset="-120"/>
            </a:endParaRPr>
          </a:p>
          <a:p>
            <a:r>
              <a:rPr lang="en-US" sz="1100" dirty="0">
                <a:solidFill>
                  <a:srgbClr val="FFFFFF"/>
                </a:solidFill>
                <a:latin typeface="Calibri" pitchFamily="34" charset="0"/>
                <a:ea typeface="Calibri" pitchFamily="34" charset="-122"/>
                <a:cs typeface="Calibri" pitchFamily="34" charset="-120"/>
              </a:rPr>
              <a:t>Show the feature-enriched record (wind u/v, diffusion weight, transport potential) in air-quality-features</a:t>
            </a:r>
          </a:p>
          <a:p>
            <a:endParaRPr lang="en-US" sz="1100" dirty="0">
              <a:solidFill>
                <a:srgbClr val="FFFFFF"/>
              </a:solidFill>
              <a:latin typeface="Calibri" pitchFamily="34" charset="0"/>
              <a:ea typeface="Calibri" pitchFamily="34" charset="-122"/>
              <a:cs typeface="Calibri" pitchFamily="34" charset="-120"/>
            </a:endParaRPr>
          </a:p>
          <a:p>
            <a:endParaRPr lang="en-US" sz="1100" dirty="0">
              <a:solidFill>
                <a:srgbClr val="FFFFFF"/>
              </a:solidFill>
              <a:latin typeface="Calibri" pitchFamily="34" charset="0"/>
              <a:ea typeface="Calibri" pitchFamily="34" charset="-122"/>
              <a:cs typeface="Calibri" pitchFamily="34" charset="-120"/>
            </a:endParaRPr>
          </a:p>
          <a:p>
            <a:r>
              <a:rPr lang="en-US" sz="1100" dirty="0">
                <a:solidFill>
                  <a:srgbClr val="FFFFFF"/>
                </a:solidFill>
                <a:latin typeface="Calibri" pitchFamily="34" charset="0"/>
                <a:ea typeface="Calibri" pitchFamily="34" charset="-122"/>
                <a:cs typeface="Calibri" pitchFamily="34" charset="-120"/>
              </a:rPr>
              <a:t>Display a live 1h/2h/3h PM₂.₅ prediction from the monitoring dashboard</a:t>
            </a:r>
            <a:endParaRPr lang="en-US" sz="1100" dirty="0"/>
          </a:p>
          <a:p>
            <a:endParaRPr lang="en-US" sz="1100" dirty="0"/>
          </a:p>
          <a:p>
            <a:pPr marL="0" indent="0">
              <a:buNone/>
            </a:pPr>
            <a:endParaRPr lang="en-US" sz="1100" dirty="0">
              <a:solidFill>
                <a:srgbClr val="FFFFFF"/>
              </a:solidFill>
              <a:latin typeface="Calibri" pitchFamily="34" charset="0"/>
              <a:ea typeface="Calibri" pitchFamily="34" charset="-122"/>
              <a:cs typeface="Calibri" pitchFamily="34" charset="-120"/>
            </a:endParaRPr>
          </a:p>
          <a:p>
            <a:pPr marL="0" indent="0">
              <a:buNone/>
            </a:pPr>
            <a:endParaRPr lang="en-US" sz="1100" dirty="0"/>
          </a:p>
        </p:txBody>
      </p:sp>
      <p:sp>
        <p:nvSpPr>
          <p:cNvPr id="37" name="Shape 35"/>
          <p:cNvSpPr/>
          <p:nvPr/>
        </p:nvSpPr>
        <p:spPr>
          <a:xfrm>
            <a:off x="1293961" y="2899182"/>
            <a:ext cx="402336" cy="402336"/>
          </a:xfrm>
          <a:prstGeom prst="ellipse">
            <a:avLst/>
          </a:prstGeom>
          <a:solidFill>
            <a:srgbClr val="1C4E80"/>
          </a:solidFill>
          <a:ln w="12700">
            <a:solidFill>
              <a:srgbClr val="1C4E80"/>
            </a:solidFill>
            <a:prstDash val="solid"/>
          </a:ln>
        </p:spPr>
        <p:txBody>
          <a:bodyPr/>
          <a:lstStyle/>
          <a:p>
            <a:endParaRPr lang="en-AE"/>
          </a:p>
        </p:txBody>
      </p:sp>
      <p:sp>
        <p:nvSpPr>
          <p:cNvPr id="38" name="Text 36"/>
          <p:cNvSpPr/>
          <p:nvPr/>
        </p:nvSpPr>
        <p:spPr>
          <a:xfrm>
            <a:off x="1288549" y="2899185"/>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9" name="Text 37"/>
          <p:cNvSpPr/>
          <p:nvPr/>
        </p:nvSpPr>
        <p:spPr>
          <a:xfrm>
            <a:off x="1691640" y="3703320"/>
            <a:ext cx="6949440" cy="274320"/>
          </a:xfrm>
          <a:prstGeom prst="rect">
            <a:avLst/>
          </a:prstGeom>
          <a:noFill/>
          <a:ln/>
        </p:spPr>
        <p:txBody>
          <a:bodyPr wrap="square" rtlCol="0" anchor="ctr"/>
          <a:lstStyle/>
          <a:p>
            <a:pPr marL="0" indent="0">
              <a:buNone/>
            </a:pPr>
            <a:endParaRPr lang="en-US" sz="1100" dirty="0"/>
          </a:p>
        </p:txBody>
      </p:sp>
      <p:sp>
        <p:nvSpPr>
          <p:cNvPr id="40" name="Shape 38"/>
          <p:cNvSpPr/>
          <p:nvPr/>
        </p:nvSpPr>
        <p:spPr>
          <a:xfrm>
            <a:off x="1293961" y="3397401"/>
            <a:ext cx="402336" cy="402336"/>
          </a:xfrm>
          <a:prstGeom prst="ellipse">
            <a:avLst/>
          </a:prstGeom>
          <a:solidFill>
            <a:srgbClr val="1C4E80"/>
          </a:solidFill>
          <a:ln w="12700">
            <a:solidFill>
              <a:srgbClr val="1C4E80"/>
            </a:solidFill>
            <a:prstDash val="solid"/>
          </a:ln>
        </p:spPr>
        <p:txBody>
          <a:bodyPr/>
          <a:lstStyle/>
          <a:p>
            <a:endParaRPr lang="en-AE"/>
          </a:p>
        </p:txBody>
      </p:sp>
      <p:sp>
        <p:nvSpPr>
          <p:cNvPr id="41" name="Text 39"/>
          <p:cNvSpPr/>
          <p:nvPr/>
        </p:nvSpPr>
        <p:spPr>
          <a:xfrm>
            <a:off x="1234440" y="401421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2" name="Text 40"/>
          <p:cNvSpPr/>
          <p:nvPr/>
        </p:nvSpPr>
        <p:spPr>
          <a:xfrm>
            <a:off x="1691640" y="3995928"/>
            <a:ext cx="6949440" cy="274320"/>
          </a:xfrm>
          <a:prstGeom prst="rect">
            <a:avLst/>
          </a:prstGeom>
          <a:noFill/>
          <a:ln/>
        </p:spPr>
        <p:txBody>
          <a:bodyPr wrap="square" rtlCol="0" anchor="ctr"/>
          <a:lstStyle/>
          <a:p>
            <a:pPr marL="0" indent="0">
              <a:buNone/>
            </a:pPr>
            <a:endParaRPr lang="en-US" sz="1100" dirty="0"/>
          </a:p>
        </p:txBody>
      </p:sp>
      <p:sp>
        <p:nvSpPr>
          <p:cNvPr id="43" name="Shape 41"/>
          <p:cNvSpPr/>
          <p:nvPr/>
        </p:nvSpPr>
        <p:spPr>
          <a:xfrm>
            <a:off x="1293961" y="3938899"/>
            <a:ext cx="402336" cy="402336"/>
          </a:xfrm>
          <a:prstGeom prst="ellipse">
            <a:avLst/>
          </a:prstGeom>
          <a:solidFill>
            <a:srgbClr val="1C4E80"/>
          </a:solidFill>
          <a:ln w="12700">
            <a:solidFill>
              <a:srgbClr val="1C4E80"/>
            </a:solidFill>
            <a:prstDash val="solid"/>
          </a:ln>
        </p:spPr>
        <p:txBody>
          <a:bodyPr/>
          <a:lstStyle/>
          <a:p>
            <a:endParaRPr lang="en-AE"/>
          </a:p>
        </p:txBody>
      </p:sp>
      <p:sp>
        <p:nvSpPr>
          <p:cNvPr id="44" name="Text 42"/>
          <p:cNvSpPr/>
          <p:nvPr/>
        </p:nvSpPr>
        <p:spPr>
          <a:xfrm>
            <a:off x="1272317" y="3928077"/>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5" name="Text 43"/>
          <p:cNvSpPr/>
          <p:nvPr/>
        </p:nvSpPr>
        <p:spPr>
          <a:xfrm>
            <a:off x="1691640" y="4288536"/>
            <a:ext cx="6949440" cy="274320"/>
          </a:xfrm>
          <a:prstGeom prst="rect">
            <a:avLst/>
          </a:prstGeom>
          <a:noFill/>
          <a:ln/>
        </p:spPr>
        <p:txBody>
          <a:bodyPr wrap="square" rtlCol="0" anchor="ctr"/>
          <a:lstStyle/>
          <a:p>
            <a:pPr marL="0" indent="0">
              <a:buNone/>
            </a:pPr>
            <a:endParaRPr lang="en-US" sz="1100" dirty="0"/>
          </a:p>
        </p:txBody>
      </p:sp>
      <p:sp>
        <p:nvSpPr>
          <p:cNvPr id="47" name="Text 44"/>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46" name="Text 36">
            <a:extLst>
              <a:ext uri="{FF2B5EF4-FFF2-40B4-BE49-F238E27FC236}">
                <a16:creationId xmlns:a16="http://schemas.microsoft.com/office/drawing/2014/main" id="{78B3AEED-2601-852B-0E7B-539C26628E3E}"/>
              </a:ext>
            </a:extLst>
          </p:cNvPr>
          <p:cNvSpPr/>
          <p:nvPr/>
        </p:nvSpPr>
        <p:spPr>
          <a:xfrm>
            <a:off x="1278628" y="241853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8" name="Text 36">
            <a:extLst>
              <a:ext uri="{FF2B5EF4-FFF2-40B4-BE49-F238E27FC236}">
                <a16:creationId xmlns:a16="http://schemas.microsoft.com/office/drawing/2014/main" id="{D403476A-42B5-A303-4C1E-6E749D0413FF}"/>
              </a:ext>
            </a:extLst>
          </p:cNvPr>
          <p:cNvSpPr/>
          <p:nvPr/>
        </p:nvSpPr>
        <p:spPr>
          <a:xfrm>
            <a:off x="1300270" y="3381637"/>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pic>
        <p:nvPicPr>
          <p:cNvPr id="49" name="image1.png" descr="University of Ontario Institute of Technology logo">
            <a:extLst>
              <a:ext uri="{FF2B5EF4-FFF2-40B4-BE49-F238E27FC236}">
                <a16:creationId xmlns:a16="http://schemas.microsoft.com/office/drawing/2014/main" id="{D3E13B41-346A-37FB-722A-63B0F4797803}"/>
              </a:ext>
            </a:extLst>
          </p:cNvPr>
          <p:cNvPicPr/>
          <p:nvPr/>
        </p:nvPicPr>
        <p:blipFill>
          <a:blip r:embed="rId3"/>
          <a:srcRect/>
          <a:stretch>
            <a:fillRect/>
          </a:stretch>
        </p:blipFill>
        <p:spPr>
          <a:xfrm>
            <a:off x="7570692" y="98790"/>
            <a:ext cx="1416424" cy="404310"/>
          </a:xfrm>
          <a:prstGeom prst="rect">
            <a:avLst/>
          </a:prstGeo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1D7DE-1A4E-570E-F1E4-B87545943E7D}"/>
            </a:ext>
          </a:extLst>
        </p:cNvPr>
        <p:cNvGrpSpPr/>
        <p:nvPr/>
      </p:nvGrpSpPr>
      <p:grpSpPr>
        <a:xfrm>
          <a:off x="0" y="0"/>
          <a:ext cx="0" cy="0"/>
          <a:chOff x="0" y="0"/>
          <a:chExt cx="0" cy="0"/>
        </a:xfrm>
      </p:grpSpPr>
      <p:sp>
        <p:nvSpPr>
          <p:cNvPr id="2" name="Text 1"/>
          <p:cNvSpPr/>
          <p:nvPr/>
        </p:nvSpPr>
        <p:spPr>
          <a:xfrm>
            <a:off x="320040" y="354507"/>
            <a:ext cx="8503920" cy="548640"/>
          </a:xfrm>
          <a:prstGeom prst="rect">
            <a:avLst/>
          </a:prstGeom>
          <a:noFill/>
          <a:ln/>
        </p:spPr>
        <p:txBody>
          <a:bodyPr wrap="square" lIns="0" tIns="0" rIns="0" bIns="0" rtlCol="0" anchor="ctr"/>
          <a:lstStyle/>
          <a:p>
            <a:pPr marL="0" indent="0">
              <a:buNone/>
            </a:pPr>
            <a:endParaRPr lang="en-US" sz="2200" dirty="0"/>
          </a:p>
        </p:txBody>
      </p:sp>
      <p:sp>
        <p:nvSpPr>
          <p:cNvPr id="9" name="Text 6"/>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pic>
        <p:nvPicPr>
          <p:cNvPr id="10" name="image1.png" descr="University of Ontario Institute of Technology logo">
            <a:extLst>
              <a:ext uri="{FF2B5EF4-FFF2-40B4-BE49-F238E27FC236}">
                <a16:creationId xmlns:a16="http://schemas.microsoft.com/office/drawing/2014/main" id="{71F7D7A0-8A9D-F56B-AD2E-DFD9CBBC078A}"/>
              </a:ext>
            </a:extLst>
          </p:cNvPr>
          <p:cNvPicPr/>
          <p:nvPr/>
        </p:nvPicPr>
        <p:blipFill>
          <a:blip r:embed="rId3"/>
          <a:srcRect/>
          <a:stretch>
            <a:fillRect/>
          </a:stretch>
        </p:blipFill>
        <p:spPr>
          <a:xfrm>
            <a:off x="7570692" y="98790"/>
            <a:ext cx="1416424" cy="404310"/>
          </a:xfrm>
          <a:prstGeom prst="rect">
            <a:avLst/>
          </a:prstGeom>
          <a:ln/>
        </p:spPr>
      </p:pic>
      <p:graphicFrame>
        <p:nvGraphicFramePr>
          <p:cNvPr id="17" name="Table 16">
            <a:extLst>
              <a:ext uri="{FF2B5EF4-FFF2-40B4-BE49-F238E27FC236}">
                <a16:creationId xmlns:a16="http://schemas.microsoft.com/office/drawing/2014/main" id="{CA7537EB-B3EA-6191-D562-64FCD4809284}"/>
              </a:ext>
            </a:extLst>
          </p:cNvPr>
          <p:cNvGraphicFramePr>
            <a:graphicFrameLocks noGrp="1"/>
          </p:cNvGraphicFramePr>
          <p:nvPr>
            <p:extLst>
              <p:ext uri="{D42A27DB-BD31-4B8C-83A1-F6EECF244321}">
                <p14:modId xmlns:p14="http://schemas.microsoft.com/office/powerpoint/2010/main" val="1080421547"/>
              </p:ext>
            </p:extLst>
          </p:nvPr>
        </p:nvGraphicFramePr>
        <p:xfrm>
          <a:off x="952670" y="920921"/>
          <a:ext cx="6983232" cy="3879808"/>
        </p:xfrm>
        <a:graphic>
          <a:graphicData uri="http://schemas.openxmlformats.org/drawingml/2006/table">
            <a:tbl>
              <a:tblPr/>
              <a:tblGrid>
                <a:gridCol w="1682496">
                  <a:extLst>
                    <a:ext uri="{9D8B030D-6E8A-4147-A177-3AD203B41FA5}">
                      <a16:colId xmlns:a16="http://schemas.microsoft.com/office/drawing/2014/main" val="864253150"/>
                    </a:ext>
                  </a:extLst>
                </a:gridCol>
                <a:gridCol w="2570106">
                  <a:extLst>
                    <a:ext uri="{9D8B030D-6E8A-4147-A177-3AD203B41FA5}">
                      <a16:colId xmlns:a16="http://schemas.microsoft.com/office/drawing/2014/main" val="635380150"/>
                    </a:ext>
                  </a:extLst>
                </a:gridCol>
                <a:gridCol w="794886">
                  <a:extLst>
                    <a:ext uri="{9D8B030D-6E8A-4147-A177-3AD203B41FA5}">
                      <a16:colId xmlns:a16="http://schemas.microsoft.com/office/drawing/2014/main" val="1561526702"/>
                    </a:ext>
                  </a:extLst>
                </a:gridCol>
                <a:gridCol w="1307591">
                  <a:extLst>
                    <a:ext uri="{9D8B030D-6E8A-4147-A177-3AD203B41FA5}">
                      <a16:colId xmlns:a16="http://schemas.microsoft.com/office/drawing/2014/main" val="2439908557"/>
                    </a:ext>
                  </a:extLst>
                </a:gridCol>
                <a:gridCol w="628153">
                  <a:extLst>
                    <a:ext uri="{9D8B030D-6E8A-4147-A177-3AD203B41FA5}">
                      <a16:colId xmlns:a16="http://schemas.microsoft.com/office/drawing/2014/main" val="258092236"/>
                    </a:ext>
                  </a:extLst>
                </a:gridCol>
              </a:tblGrid>
              <a:tr h="155296">
                <a:tc>
                  <a:txBody>
                    <a:bodyPr/>
                    <a:lstStyle/>
                    <a:p>
                      <a:pPr>
                        <a:buNone/>
                      </a:pPr>
                      <a:r>
                        <a:rPr lang="en-AE" sz="1400" b="1" dirty="0"/>
                        <a:t>Forecast Horizon</a:t>
                      </a:r>
                    </a:p>
                  </a:txBody>
                  <a:tcPr marL="29128" marR="29128" marT="14564" marB="145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AE" sz="1400" b="1" dirty="0"/>
                        <a:t>Model</a:t>
                      </a:r>
                    </a:p>
                  </a:txBody>
                  <a:tcPr marL="29128" marR="29128" marT="14564" marB="145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AE" sz="1400" b="1" dirty="0"/>
                        <a:t>R²</a:t>
                      </a:r>
                    </a:p>
                  </a:txBody>
                  <a:tcPr marL="29128" marR="29128" marT="14564" marB="145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AE" sz="1400" b="1" dirty="0"/>
                        <a:t>MAE</a:t>
                      </a:r>
                    </a:p>
                  </a:txBody>
                  <a:tcPr marL="29128" marR="29128" marT="14564" marB="145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AE" sz="1400" b="1" dirty="0"/>
                        <a:t>RMSE</a:t>
                      </a:r>
                    </a:p>
                  </a:txBody>
                  <a:tcPr marL="29128" marR="29128" marT="14564" marB="145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7997900"/>
                  </a:ext>
                </a:extLst>
              </a:tr>
              <a:tr h="212117">
                <a:tc>
                  <a:txBody>
                    <a:bodyPr/>
                    <a:lstStyle/>
                    <a:p>
                      <a:pPr>
                        <a:buNone/>
                      </a:pPr>
                      <a:r>
                        <a:rPr lang="en-AE" sz="1400" b="1" dirty="0"/>
                        <a:t>+1 hour</a:t>
                      </a: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AE" sz="1400" dirty="0"/>
                        <a:t>Historical Average</a:t>
                      </a:r>
                    </a:p>
                  </a:txBody>
                  <a:tcPr marL="29128" marR="29128" marT="14564" marB="1456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dirty="0"/>
                        <a:t>0.000</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a:t>4.72</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a:t>6.77</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298533332"/>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dirty="0"/>
                        <a:t>Linear Regression</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dirty="0"/>
                        <a:t>0.757</a:t>
                      </a:r>
                    </a:p>
                  </a:txBody>
                  <a:tcPr marL="29128" marR="29128" marT="14564" marB="14564" anchor="ctr">
                    <a:lnL>
                      <a:noFill/>
                    </a:lnL>
                    <a:lnR>
                      <a:noFill/>
                    </a:lnR>
                    <a:lnT>
                      <a:noFill/>
                    </a:lnT>
                    <a:lnB>
                      <a:noFill/>
                    </a:lnB>
                    <a:noFill/>
                  </a:tcPr>
                </a:tc>
                <a:tc>
                  <a:txBody>
                    <a:bodyPr/>
                    <a:lstStyle/>
                    <a:p>
                      <a:pPr algn="ctr">
                        <a:buNone/>
                      </a:pPr>
                      <a:r>
                        <a:rPr lang="en-AE" sz="1400"/>
                        <a:t>2.27</a:t>
                      </a:r>
                    </a:p>
                  </a:txBody>
                  <a:tcPr marL="29128" marR="29128" marT="14564" marB="14564" anchor="ctr">
                    <a:lnL>
                      <a:noFill/>
                    </a:lnL>
                    <a:lnR>
                      <a:noFill/>
                    </a:lnR>
                    <a:lnT>
                      <a:noFill/>
                    </a:lnT>
                    <a:lnB>
                      <a:noFill/>
                    </a:lnB>
                    <a:noFill/>
                  </a:tcPr>
                </a:tc>
                <a:tc>
                  <a:txBody>
                    <a:bodyPr/>
                    <a:lstStyle/>
                    <a:p>
                      <a:pPr algn="ctr">
                        <a:buNone/>
                      </a:pPr>
                      <a:r>
                        <a:rPr lang="en-AE" sz="1400"/>
                        <a:t>3.34</a:t>
                      </a:r>
                    </a:p>
                  </a:txBody>
                  <a:tcPr marL="29128" marR="29128" marT="14564" marB="14564" anchor="ctr">
                    <a:lnL>
                      <a:noFill/>
                    </a:lnL>
                    <a:lnR>
                      <a:noFill/>
                    </a:lnR>
                    <a:lnT>
                      <a:noFill/>
                    </a:lnT>
                    <a:lnB>
                      <a:noFill/>
                    </a:lnB>
                    <a:noFill/>
                  </a:tcPr>
                </a:tc>
                <a:extLst>
                  <a:ext uri="{0D108BD9-81ED-4DB2-BD59-A6C34878D82A}">
                    <a16:rowId xmlns:a16="http://schemas.microsoft.com/office/drawing/2014/main" val="732459801"/>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b="1" dirty="0"/>
                        <a:t>Gradient Boosting / RF</a:t>
                      </a:r>
                      <a:endParaRPr lang="en-AE" sz="1400" dirty="0"/>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b="1" dirty="0"/>
                        <a:t>0.908</a:t>
                      </a:r>
                      <a:endParaRPr lang="en-AE" sz="1400" dirty="0"/>
                    </a:p>
                  </a:txBody>
                  <a:tcPr marL="29128" marR="29128" marT="14564" marB="14564" anchor="ctr">
                    <a:lnL>
                      <a:noFill/>
                    </a:lnL>
                    <a:lnR>
                      <a:noFill/>
                    </a:lnR>
                    <a:lnT>
                      <a:noFill/>
                    </a:lnT>
                    <a:lnB>
                      <a:noFill/>
                    </a:lnB>
                    <a:noFill/>
                  </a:tcPr>
                </a:tc>
                <a:tc>
                  <a:txBody>
                    <a:bodyPr/>
                    <a:lstStyle/>
                    <a:p>
                      <a:pPr algn="ctr">
                        <a:buNone/>
                      </a:pPr>
                      <a:r>
                        <a:rPr lang="en-AE" sz="1400" b="1" dirty="0"/>
                        <a:t>1.28</a:t>
                      </a:r>
                      <a:endParaRPr lang="en-AE" sz="1400" dirty="0"/>
                    </a:p>
                  </a:txBody>
                  <a:tcPr marL="29128" marR="29128" marT="14564" marB="14564" anchor="ctr">
                    <a:lnL>
                      <a:noFill/>
                    </a:lnL>
                    <a:lnR>
                      <a:noFill/>
                    </a:lnR>
                    <a:lnT>
                      <a:noFill/>
                    </a:lnT>
                    <a:lnB>
                      <a:noFill/>
                    </a:lnB>
                    <a:noFill/>
                  </a:tcPr>
                </a:tc>
                <a:tc>
                  <a:txBody>
                    <a:bodyPr/>
                    <a:lstStyle/>
                    <a:p>
                      <a:pPr algn="ctr">
                        <a:buNone/>
                      </a:pPr>
                      <a:r>
                        <a:rPr lang="en-AE" sz="1400" b="1"/>
                        <a:t>2.05</a:t>
                      </a:r>
                      <a:endParaRPr lang="en-AE" sz="1400"/>
                    </a:p>
                  </a:txBody>
                  <a:tcPr marL="29128" marR="29128" marT="14564" marB="14564" anchor="ctr">
                    <a:lnL>
                      <a:noFill/>
                    </a:lnL>
                    <a:lnR>
                      <a:noFill/>
                    </a:lnR>
                    <a:lnT>
                      <a:noFill/>
                    </a:lnT>
                    <a:lnB>
                      <a:noFill/>
                    </a:lnB>
                    <a:noFill/>
                  </a:tcPr>
                </a:tc>
                <a:extLst>
                  <a:ext uri="{0D108BD9-81ED-4DB2-BD59-A6C34878D82A}">
                    <a16:rowId xmlns:a16="http://schemas.microsoft.com/office/drawing/2014/main" val="77513478"/>
                  </a:ext>
                </a:extLst>
              </a:tr>
              <a:tr h="212117">
                <a:tc>
                  <a:txBody>
                    <a:bodyPr/>
                    <a:lstStyle/>
                    <a:p>
                      <a:pPr>
                        <a:buNone/>
                      </a:pPr>
                      <a:endParaRPr lang="en-AE" sz="140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dirty="0"/>
                        <a:t>LSTM Sequential</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dirty="0"/>
                        <a:t>0.686</a:t>
                      </a:r>
                    </a:p>
                  </a:txBody>
                  <a:tcPr marL="29128" marR="29128" marT="14564" marB="14564" anchor="ctr">
                    <a:lnL>
                      <a:noFill/>
                    </a:lnL>
                    <a:lnR>
                      <a:noFill/>
                    </a:lnR>
                    <a:lnT>
                      <a:noFill/>
                    </a:lnT>
                    <a:lnB>
                      <a:noFill/>
                    </a:lnB>
                    <a:noFill/>
                  </a:tcPr>
                </a:tc>
                <a:tc>
                  <a:txBody>
                    <a:bodyPr/>
                    <a:lstStyle/>
                    <a:p>
                      <a:pPr algn="ctr">
                        <a:buNone/>
                      </a:pPr>
                      <a:r>
                        <a:rPr lang="en-AE" sz="1400" dirty="0"/>
                        <a:t>2.29</a:t>
                      </a:r>
                    </a:p>
                  </a:txBody>
                  <a:tcPr marL="29128" marR="29128" marT="14564" marB="14564" anchor="ctr">
                    <a:lnL>
                      <a:noFill/>
                    </a:lnL>
                    <a:lnR>
                      <a:noFill/>
                    </a:lnR>
                    <a:lnT>
                      <a:noFill/>
                    </a:lnT>
                    <a:lnB>
                      <a:noFill/>
                    </a:lnB>
                    <a:noFill/>
                  </a:tcPr>
                </a:tc>
                <a:tc>
                  <a:txBody>
                    <a:bodyPr/>
                    <a:lstStyle/>
                    <a:p>
                      <a:pPr algn="ctr">
                        <a:buNone/>
                      </a:pPr>
                      <a:r>
                        <a:rPr lang="en-AE" sz="1400"/>
                        <a:t>3.81</a:t>
                      </a:r>
                    </a:p>
                  </a:txBody>
                  <a:tcPr marL="29128" marR="29128" marT="14564" marB="14564" anchor="ctr">
                    <a:lnL>
                      <a:noFill/>
                    </a:lnL>
                    <a:lnR>
                      <a:noFill/>
                    </a:lnR>
                    <a:lnT>
                      <a:noFill/>
                    </a:lnT>
                    <a:lnB>
                      <a:noFill/>
                    </a:lnB>
                    <a:noFill/>
                  </a:tcPr>
                </a:tc>
                <a:extLst>
                  <a:ext uri="{0D108BD9-81ED-4DB2-BD59-A6C34878D82A}">
                    <a16:rowId xmlns:a16="http://schemas.microsoft.com/office/drawing/2014/main" val="2856939322"/>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AE" sz="1400" dirty="0"/>
                        <a:t>Spatiotemporal Graph</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0.593</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3.04</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4.32</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6440775"/>
                  </a:ext>
                </a:extLst>
              </a:tr>
              <a:tr h="212117">
                <a:tc>
                  <a:txBody>
                    <a:bodyPr/>
                    <a:lstStyle/>
                    <a:p>
                      <a:pPr>
                        <a:buNone/>
                      </a:pPr>
                      <a:r>
                        <a:rPr lang="en-AE" sz="1400" b="1" dirty="0"/>
                        <a:t>+2 hours</a:t>
                      </a: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AE" sz="1400" dirty="0"/>
                        <a:t>Historical Average</a:t>
                      </a:r>
                    </a:p>
                  </a:txBody>
                  <a:tcPr marL="29128" marR="29128" marT="14564" marB="1456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dirty="0"/>
                        <a:t>0.000</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a:t>4.72</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a:t>6.77</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231379191"/>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dirty="0"/>
                        <a:t>Linear Regression</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a:t>0.685</a:t>
                      </a:r>
                    </a:p>
                  </a:txBody>
                  <a:tcPr marL="29128" marR="29128" marT="14564" marB="14564" anchor="ctr">
                    <a:lnL>
                      <a:noFill/>
                    </a:lnL>
                    <a:lnR>
                      <a:noFill/>
                    </a:lnR>
                    <a:lnT>
                      <a:noFill/>
                    </a:lnT>
                    <a:lnB>
                      <a:noFill/>
                    </a:lnB>
                    <a:noFill/>
                  </a:tcPr>
                </a:tc>
                <a:tc>
                  <a:txBody>
                    <a:bodyPr/>
                    <a:lstStyle/>
                    <a:p>
                      <a:pPr algn="ctr">
                        <a:buNone/>
                      </a:pPr>
                      <a:r>
                        <a:rPr lang="en-AE" sz="1400" dirty="0"/>
                        <a:t>2.59</a:t>
                      </a:r>
                    </a:p>
                  </a:txBody>
                  <a:tcPr marL="29128" marR="29128" marT="14564" marB="14564" anchor="ctr">
                    <a:lnL>
                      <a:noFill/>
                    </a:lnL>
                    <a:lnR>
                      <a:noFill/>
                    </a:lnR>
                    <a:lnT>
                      <a:noFill/>
                    </a:lnT>
                    <a:lnB>
                      <a:noFill/>
                    </a:lnB>
                    <a:noFill/>
                  </a:tcPr>
                </a:tc>
                <a:tc>
                  <a:txBody>
                    <a:bodyPr/>
                    <a:lstStyle/>
                    <a:p>
                      <a:pPr algn="ctr">
                        <a:buNone/>
                      </a:pPr>
                      <a:r>
                        <a:rPr lang="en-AE" sz="1400"/>
                        <a:t>3.80</a:t>
                      </a:r>
                    </a:p>
                  </a:txBody>
                  <a:tcPr marL="29128" marR="29128" marT="14564" marB="14564" anchor="ctr">
                    <a:lnL>
                      <a:noFill/>
                    </a:lnL>
                    <a:lnR>
                      <a:noFill/>
                    </a:lnR>
                    <a:lnT>
                      <a:noFill/>
                    </a:lnT>
                    <a:lnB>
                      <a:noFill/>
                    </a:lnB>
                    <a:noFill/>
                  </a:tcPr>
                </a:tc>
                <a:extLst>
                  <a:ext uri="{0D108BD9-81ED-4DB2-BD59-A6C34878D82A}">
                    <a16:rowId xmlns:a16="http://schemas.microsoft.com/office/drawing/2014/main" val="2069791888"/>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b="1" dirty="0"/>
                        <a:t>Gradient Boosting / RF</a:t>
                      </a:r>
                      <a:endParaRPr lang="en-AE" sz="1400" dirty="0"/>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b="1"/>
                        <a:t>0.792</a:t>
                      </a:r>
                      <a:endParaRPr lang="en-AE" sz="1400"/>
                    </a:p>
                  </a:txBody>
                  <a:tcPr marL="29128" marR="29128" marT="14564" marB="14564" anchor="ctr">
                    <a:lnL>
                      <a:noFill/>
                    </a:lnL>
                    <a:lnR>
                      <a:noFill/>
                    </a:lnR>
                    <a:lnT>
                      <a:noFill/>
                    </a:lnT>
                    <a:lnB>
                      <a:noFill/>
                    </a:lnB>
                    <a:noFill/>
                  </a:tcPr>
                </a:tc>
                <a:tc>
                  <a:txBody>
                    <a:bodyPr/>
                    <a:lstStyle/>
                    <a:p>
                      <a:pPr algn="ctr">
                        <a:buNone/>
                      </a:pPr>
                      <a:r>
                        <a:rPr lang="en-AE" sz="1400" b="1" dirty="0"/>
                        <a:t>1.95</a:t>
                      </a:r>
                      <a:endParaRPr lang="en-AE" sz="1400" dirty="0"/>
                    </a:p>
                  </a:txBody>
                  <a:tcPr marL="29128" marR="29128" marT="14564" marB="14564" anchor="ctr">
                    <a:lnL>
                      <a:noFill/>
                    </a:lnL>
                    <a:lnR>
                      <a:noFill/>
                    </a:lnR>
                    <a:lnT>
                      <a:noFill/>
                    </a:lnT>
                    <a:lnB>
                      <a:noFill/>
                    </a:lnB>
                    <a:noFill/>
                  </a:tcPr>
                </a:tc>
                <a:tc>
                  <a:txBody>
                    <a:bodyPr/>
                    <a:lstStyle/>
                    <a:p>
                      <a:pPr algn="ctr">
                        <a:buNone/>
                      </a:pPr>
                      <a:r>
                        <a:rPr lang="en-AE" sz="1400" b="1"/>
                        <a:t>3.09</a:t>
                      </a:r>
                      <a:endParaRPr lang="en-AE" sz="1400"/>
                    </a:p>
                  </a:txBody>
                  <a:tcPr marL="29128" marR="29128" marT="14564" marB="14564" anchor="ctr">
                    <a:lnL>
                      <a:noFill/>
                    </a:lnL>
                    <a:lnR>
                      <a:noFill/>
                    </a:lnR>
                    <a:lnT>
                      <a:noFill/>
                    </a:lnT>
                    <a:lnB>
                      <a:noFill/>
                    </a:lnB>
                    <a:noFill/>
                  </a:tcPr>
                </a:tc>
                <a:extLst>
                  <a:ext uri="{0D108BD9-81ED-4DB2-BD59-A6C34878D82A}">
                    <a16:rowId xmlns:a16="http://schemas.microsoft.com/office/drawing/2014/main" val="3892257458"/>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dirty="0"/>
                        <a:t>LSTM Sequential</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dirty="0"/>
                        <a:t>0.669</a:t>
                      </a:r>
                    </a:p>
                  </a:txBody>
                  <a:tcPr marL="29128" marR="29128" marT="14564" marB="14564" anchor="ctr">
                    <a:lnL>
                      <a:noFill/>
                    </a:lnL>
                    <a:lnR>
                      <a:noFill/>
                    </a:lnR>
                    <a:lnT>
                      <a:noFill/>
                    </a:lnT>
                    <a:lnB>
                      <a:noFill/>
                    </a:lnB>
                    <a:noFill/>
                  </a:tcPr>
                </a:tc>
                <a:tc>
                  <a:txBody>
                    <a:bodyPr/>
                    <a:lstStyle/>
                    <a:p>
                      <a:pPr algn="ctr">
                        <a:buNone/>
                      </a:pPr>
                      <a:r>
                        <a:rPr lang="en-AE" sz="1400"/>
                        <a:t>2.42</a:t>
                      </a:r>
                    </a:p>
                  </a:txBody>
                  <a:tcPr marL="29128" marR="29128" marT="14564" marB="14564" anchor="ctr">
                    <a:lnL>
                      <a:noFill/>
                    </a:lnL>
                    <a:lnR>
                      <a:noFill/>
                    </a:lnR>
                    <a:lnT>
                      <a:noFill/>
                    </a:lnT>
                    <a:lnB>
                      <a:noFill/>
                    </a:lnB>
                    <a:noFill/>
                  </a:tcPr>
                </a:tc>
                <a:tc>
                  <a:txBody>
                    <a:bodyPr/>
                    <a:lstStyle/>
                    <a:p>
                      <a:pPr algn="ctr">
                        <a:buNone/>
                      </a:pPr>
                      <a:r>
                        <a:rPr lang="en-AE" sz="1400"/>
                        <a:t>3.91</a:t>
                      </a:r>
                    </a:p>
                  </a:txBody>
                  <a:tcPr marL="29128" marR="29128" marT="14564" marB="14564" anchor="ctr">
                    <a:lnL>
                      <a:noFill/>
                    </a:lnL>
                    <a:lnR>
                      <a:noFill/>
                    </a:lnR>
                    <a:lnT>
                      <a:noFill/>
                    </a:lnT>
                    <a:lnB>
                      <a:noFill/>
                    </a:lnB>
                    <a:noFill/>
                  </a:tcPr>
                </a:tc>
                <a:extLst>
                  <a:ext uri="{0D108BD9-81ED-4DB2-BD59-A6C34878D82A}">
                    <a16:rowId xmlns:a16="http://schemas.microsoft.com/office/drawing/2014/main" val="3307975566"/>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AE" sz="1400" dirty="0"/>
                        <a:t>Spatiotemporal Graph</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0.720</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2.45</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3.59</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2394281"/>
                  </a:ext>
                </a:extLst>
              </a:tr>
              <a:tr h="212117">
                <a:tc>
                  <a:txBody>
                    <a:bodyPr/>
                    <a:lstStyle/>
                    <a:p>
                      <a:pPr>
                        <a:buNone/>
                      </a:pPr>
                      <a:r>
                        <a:rPr lang="en-AE" sz="1400" b="1" dirty="0"/>
                        <a:t>+3 hours</a:t>
                      </a: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tc>
                  <a:txBody>
                    <a:bodyPr/>
                    <a:lstStyle/>
                    <a:p>
                      <a:pPr>
                        <a:buNone/>
                      </a:pPr>
                      <a:r>
                        <a:rPr lang="en-AE" sz="1400" dirty="0"/>
                        <a:t>Historical Average</a:t>
                      </a:r>
                    </a:p>
                  </a:txBody>
                  <a:tcPr marL="29128" marR="29128" marT="14564" marB="14564"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dirty="0"/>
                        <a:t>0.000</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dirty="0"/>
                        <a:t>4.72</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ctr">
                        <a:buNone/>
                      </a:pPr>
                      <a:r>
                        <a:rPr lang="en-AE" sz="1400" dirty="0"/>
                        <a:t>6.77</a:t>
                      </a:r>
                    </a:p>
                  </a:txBody>
                  <a:tcPr marL="29128" marR="29128" marT="14564" marB="14564"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343145533"/>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dirty="0"/>
                        <a:t>Linear Regression</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dirty="0"/>
                        <a:t>0.603</a:t>
                      </a:r>
                    </a:p>
                  </a:txBody>
                  <a:tcPr marL="29128" marR="29128" marT="14564" marB="14564" anchor="ctr">
                    <a:lnL>
                      <a:noFill/>
                    </a:lnL>
                    <a:lnR>
                      <a:noFill/>
                    </a:lnR>
                    <a:lnT>
                      <a:noFill/>
                    </a:lnT>
                    <a:lnB>
                      <a:noFill/>
                    </a:lnB>
                    <a:noFill/>
                  </a:tcPr>
                </a:tc>
                <a:tc>
                  <a:txBody>
                    <a:bodyPr/>
                    <a:lstStyle/>
                    <a:p>
                      <a:pPr algn="ctr">
                        <a:buNone/>
                      </a:pPr>
                      <a:r>
                        <a:rPr lang="en-AE" sz="1400"/>
                        <a:t>2.92</a:t>
                      </a:r>
                    </a:p>
                  </a:txBody>
                  <a:tcPr marL="29128" marR="29128" marT="14564" marB="14564" anchor="ctr">
                    <a:lnL>
                      <a:noFill/>
                    </a:lnL>
                    <a:lnR>
                      <a:noFill/>
                    </a:lnR>
                    <a:lnT>
                      <a:noFill/>
                    </a:lnT>
                    <a:lnB>
                      <a:noFill/>
                    </a:lnB>
                    <a:noFill/>
                  </a:tcPr>
                </a:tc>
                <a:tc>
                  <a:txBody>
                    <a:bodyPr/>
                    <a:lstStyle/>
                    <a:p>
                      <a:pPr algn="ctr">
                        <a:buNone/>
                      </a:pPr>
                      <a:r>
                        <a:rPr lang="en-AE" sz="1400" dirty="0"/>
                        <a:t>4.27</a:t>
                      </a:r>
                    </a:p>
                  </a:txBody>
                  <a:tcPr marL="29128" marR="29128" marT="14564" marB="14564" anchor="ctr">
                    <a:lnL>
                      <a:noFill/>
                    </a:lnL>
                    <a:lnR>
                      <a:noFill/>
                    </a:lnR>
                    <a:lnT>
                      <a:noFill/>
                    </a:lnT>
                    <a:lnB>
                      <a:noFill/>
                    </a:lnB>
                    <a:noFill/>
                  </a:tcPr>
                </a:tc>
                <a:extLst>
                  <a:ext uri="{0D108BD9-81ED-4DB2-BD59-A6C34878D82A}">
                    <a16:rowId xmlns:a16="http://schemas.microsoft.com/office/drawing/2014/main" val="92002071"/>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b="1" dirty="0"/>
                        <a:t>Gradient Boosting / RF</a:t>
                      </a:r>
                      <a:endParaRPr lang="en-AE" sz="1400" dirty="0"/>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b="1"/>
                        <a:t>0.663</a:t>
                      </a:r>
                      <a:endParaRPr lang="en-AE" sz="1400"/>
                    </a:p>
                  </a:txBody>
                  <a:tcPr marL="29128" marR="29128" marT="14564" marB="14564" anchor="ctr">
                    <a:lnL>
                      <a:noFill/>
                    </a:lnL>
                    <a:lnR>
                      <a:noFill/>
                    </a:lnR>
                    <a:lnT>
                      <a:noFill/>
                    </a:lnT>
                    <a:lnB>
                      <a:noFill/>
                    </a:lnB>
                    <a:noFill/>
                  </a:tcPr>
                </a:tc>
                <a:tc>
                  <a:txBody>
                    <a:bodyPr/>
                    <a:lstStyle/>
                    <a:p>
                      <a:pPr algn="ctr">
                        <a:buNone/>
                      </a:pPr>
                      <a:r>
                        <a:rPr lang="en-AE" sz="1400" b="1" dirty="0"/>
                        <a:t>2.60</a:t>
                      </a:r>
                      <a:endParaRPr lang="en-AE" sz="1400" dirty="0"/>
                    </a:p>
                  </a:txBody>
                  <a:tcPr marL="29128" marR="29128" marT="14564" marB="14564" anchor="ctr">
                    <a:lnL>
                      <a:noFill/>
                    </a:lnL>
                    <a:lnR>
                      <a:noFill/>
                    </a:lnR>
                    <a:lnT>
                      <a:noFill/>
                    </a:lnT>
                    <a:lnB>
                      <a:noFill/>
                    </a:lnB>
                    <a:noFill/>
                  </a:tcPr>
                </a:tc>
                <a:tc>
                  <a:txBody>
                    <a:bodyPr/>
                    <a:lstStyle/>
                    <a:p>
                      <a:pPr algn="ctr">
                        <a:buNone/>
                      </a:pPr>
                      <a:r>
                        <a:rPr lang="en-AE" sz="1400" b="1" dirty="0"/>
                        <a:t>3.93</a:t>
                      </a:r>
                      <a:endParaRPr lang="en-AE" sz="1400" dirty="0"/>
                    </a:p>
                  </a:txBody>
                  <a:tcPr marL="29128" marR="29128" marT="14564" marB="14564" anchor="ctr">
                    <a:lnL>
                      <a:noFill/>
                    </a:lnL>
                    <a:lnR>
                      <a:noFill/>
                    </a:lnR>
                    <a:lnT>
                      <a:noFill/>
                    </a:lnT>
                    <a:lnB>
                      <a:noFill/>
                    </a:lnB>
                    <a:noFill/>
                  </a:tcPr>
                </a:tc>
                <a:extLst>
                  <a:ext uri="{0D108BD9-81ED-4DB2-BD59-A6C34878D82A}">
                    <a16:rowId xmlns:a16="http://schemas.microsoft.com/office/drawing/2014/main" val="2409116252"/>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a:noFill/>
                    </a:lnB>
                    <a:noFill/>
                  </a:tcPr>
                </a:tc>
                <a:tc>
                  <a:txBody>
                    <a:bodyPr/>
                    <a:lstStyle/>
                    <a:p>
                      <a:pPr>
                        <a:buNone/>
                      </a:pPr>
                      <a:r>
                        <a:rPr lang="en-AE" sz="1400"/>
                        <a:t>LSTM Sequential</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a:buNone/>
                      </a:pPr>
                      <a:r>
                        <a:rPr lang="en-AE" sz="1400"/>
                        <a:t>0.578</a:t>
                      </a:r>
                    </a:p>
                  </a:txBody>
                  <a:tcPr marL="29128" marR="29128" marT="14564" marB="14564" anchor="ctr">
                    <a:lnL>
                      <a:noFill/>
                    </a:lnL>
                    <a:lnR>
                      <a:noFill/>
                    </a:lnR>
                    <a:lnT>
                      <a:noFill/>
                    </a:lnT>
                    <a:lnB>
                      <a:noFill/>
                    </a:lnB>
                    <a:noFill/>
                  </a:tcPr>
                </a:tc>
                <a:tc>
                  <a:txBody>
                    <a:bodyPr/>
                    <a:lstStyle/>
                    <a:p>
                      <a:pPr algn="ctr">
                        <a:buNone/>
                      </a:pPr>
                      <a:r>
                        <a:rPr lang="en-AE" sz="1400" dirty="0"/>
                        <a:t>2.82</a:t>
                      </a:r>
                    </a:p>
                  </a:txBody>
                  <a:tcPr marL="29128" marR="29128" marT="14564" marB="14564" anchor="ctr">
                    <a:lnL>
                      <a:noFill/>
                    </a:lnL>
                    <a:lnR>
                      <a:noFill/>
                    </a:lnR>
                    <a:lnT>
                      <a:noFill/>
                    </a:lnT>
                    <a:lnB>
                      <a:noFill/>
                    </a:lnB>
                    <a:noFill/>
                  </a:tcPr>
                </a:tc>
                <a:tc>
                  <a:txBody>
                    <a:bodyPr/>
                    <a:lstStyle/>
                    <a:p>
                      <a:pPr algn="ctr">
                        <a:buNone/>
                      </a:pPr>
                      <a:r>
                        <a:rPr lang="en-AE" sz="1400" dirty="0"/>
                        <a:t>4.41</a:t>
                      </a:r>
                    </a:p>
                  </a:txBody>
                  <a:tcPr marL="29128" marR="29128" marT="14564" marB="14564" anchor="ctr">
                    <a:lnL>
                      <a:noFill/>
                    </a:lnL>
                    <a:lnR>
                      <a:noFill/>
                    </a:lnR>
                    <a:lnT>
                      <a:noFill/>
                    </a:lnT>
                    <a:lnB>
                      <a:noFill/>
                    </a:lnB>
                    <a:noFill/>
                  </a:tcPr>
                </a:tc>
                <a:extLst>
                  <a:ext uri="{0D108BD9-81ED-4DB2-BD59-A6C34878D82A}">
                    <a16:rowId xmlns:a16="http://schemas.microsoft.com/office/drawing/2014/main" val="227333010"/>
                  </a:ext>
                </a:extLst>
              </a:tr>
              <a:tr h="212117">
                <a:tc>
                  <a:txBody>
                    <a:bodyPr/>
                    <a:lstStyle/>
                    <a:p>
                      <a:pPr>
                        <a:buNone/>
                      </a:pPr>
                      <a:endParaRPr lang="en-AE" sz="1400" dirty="0"/>
                    </a:p>
                  </a:txBody>
                  <a:tcPr marL="29128" marR="29128" marT="14564" marB="14564"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buNone/>
                      </a:pPr>
                      <a:r>
                        <a:rPr lang="en-AE" sz="1400"/>
                        <a:t>Spatiotemporal Graph</a:t>
                      </a:r>
                    </a:p>
                  </a:txBody>
                  <a:tcPr marL="29128" marR="29128" marT="14564" marB="14564"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a:t>0.582</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2.86</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a:buNone/>
                      </a:pPr>
                      <a:r>
                        <a:rPr lang="en-AE" sz="1400" dirty="0"/>
                        <a:t>4.38</a:t>
                      </a:r>
                    </a:p>
                  </a:txBody>
                  <a:tcPr marL="29128" marR="29128" marT="14564" marB="1456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5473588"/>
                  </a:ext>
                </a:extLst>
              </a:tr>
            </a:tbl>
          </a:graphicData>
        </a:graphic>
      </p:graphicFrame>
      <p:sp>
        <p:nvSpPr>
          <p:cNvPr id="18" name="Text 1">
            <a:extLst>
              <a:ext uri="{FF2B5EF4-FFF2-40B4-BE49-F238E27FC236}">
                <a16:creationId xmlns:a16="http://schemas.microsoft.com/office/drawing/2014/main" id="{1D612B74-F251-B2C5-8A35-F4FE50328D0D}"/>
              </a:ext>
            </a:extLst>
          </p:cNvPr>
          <p:cNvSpPr/>
          <p:nvPr/>
        </p:nvSpPr>
        <p:spPr>
          <a:xfrm>
            <a:off x="320040" y="327595"/>
            <a:ext cx="8503920" cy="548640"/>
          </a:xfrm>
          <a:prstGeom prst="rect">
            <a:avLst/>
          </a:prstGeom>
          <a:noFill/>
          <a:ln/>
        </p:spPr>
        <p:txBody>
          <a:bodyPr wrap="square" lIns="0" tIns="0" rIns="0" bIns="0" rtlCol="0" anchor="ctr"/>
          <a:lstStyle/>
          <a:p>
            <a:r>
              <a:rPr lang="en-US" sz="2200" b="1" dirty="0">
                <a:latin typeface="Calibri" pitchFamily="34" charset="0"/>
                <a:ea typeface="Calibri" pitchFamily="34" charset="-122"/>
                <a:cs typeface="Calibri" pitchFamily="34" charset="-120"/>
              </a:rPr>
              <a:t>Experimental Results - Models</a:t>
            </a:r>
            <a:endParaRPr lang="en-US" sz="2200" dirty="0"/>
          </a:p>
        </p:txBody>
      </p:sp>
    </p:spTree>
    <p:extLst>
      <p:ext uri="{BB962C8B-B14F-4D97-AF65-F5344CB8AC3E}">
        <p14:creationId xmlns:p14="http://schemas.microsoft.com/office/powerpoint/2010/main" val="558678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327595"/>
            <a:ext cx="8503920" cy="548640"/>
          </a:xfrm>
          <a:prstGeom prst="rect">
            <a:avLst/>
          </a:prstGeom>
          <a:noFill/>
          <a:ln/>
        </p:spPr>
        <p:txBody>
          <a:bodyPr wrap="square" lIns="0" tIns="0" rIns="0" bIns="0" rtlCol="0" anchor="ctr"/>
          <a:lstStyle/>
          <a:p>
            <a:r>
              <a:rPr lang="en-AE" sz="2200" b="1" dirty="0">
                <a:latin typeface="Calibri" pitchFamily="34" charset="0"/>
                <a:ea typeface="Calibri" pitchFamily="34" charset="-122"/>
                <a:cs typeface="Calibri" pitchFamily="34" charset="-120"/>
              </a:rPr>
              <a:t>Feature Ablation Study</a:t>
            </a:r>
            <a:endParaRPr lang="en-US" sz="2200" b="1" dirty="0">
              <a:latin typeface="Calibri" pitchFamily="34" charset="0"/>
              <a:ea typeface="Calibri" pitchFamily="34" charset="-122"/>
              <a:cs typeface="Calibri" pitchFamily="34" charset="-120"/>
            </a:endParaRPr>
          </a:p>
        </p:txBody>
      </p:sp>
      <p:sp>
        <p:nvSpPr>
          <p:cNvPr id="4" name="Text 2"/>
          <p:cNvSpPr/>
          <p:nvPr/>
        </p:nvSpPr>
        <p:spPr>
          <a:xfrm>
            <a:off x="320040" y="923939"/>
            <a:ext cx="8503920" cy="329184"/>
          </a:xfrm>
          <a:prstGeom prst="rect">
            <a:avLst/>
          </a:prstGeom>
          <a:noFill/>
          <a:ln/>
        </p:spPr>
        <p:txBody>
          <a:bodyPr wrap="square" lIns="0" tIns="0" rIns="0" bIns="0" rtlCol="0" anchor="ctr"/>
          <a:lstStyle/>
          <a:p>
            <a:pPr marL="0" indent="0">
              <a:buNone/>
            </a:pPr>
            <a:r>
              <a:rPr lang="en-US" sz="1200" dirty="0">
                <a:solidFill>
                  <a:srgbClr val="00A8E8"/>
                </a:solidFill>
                <a:latin typeface="Calibri" pitchFamily="34" charset="0"/>
                <a:ea typeface="Calibri" pitchFamily="34" charset="-122"/>
                <a:cs typeface="Calibri" pitchFamily="34" charset="-120"/>
              </a:rPr>
              <a:t>Five feature layers used for the ablation study</a:t>
            </a:r>
            <a:endParaRPr lang="en-US" sz="1200" dirty="0"/>
          </a:p>
        </p:txBody>
      </p:sp>
      <p:sp>
        <p:nvSpPr>
          <p:cNvPr id="5" name="Shape 3"/>
          <p:cNvSpPr/>
          <p:nvPr/>
        </p:nvSpPr>
        <p:spPr>
          <a:xfrm>
            <a:off x="365760" y="1170432"/>
            <a:ext cx="8412480" cy="621792"/>
          </a:xfrm>
          <a:prstGeom prst="roundRect">
            <a:avLst>
              <a:gd name="adj" fmla="val 1470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Shape 4"/>
          <p:cNvSpPr/>
          <p:nvPr/>
        </p:nvSpPr>
        <p:spPr>
          <a:xfrm>
            <a:off x="502920" y="1261872"/>
            <a:ext cx="438912" cy="438912"/>
          </a:xfrm>
          <a:prstGeom prst="ellipse">
            <a:avLst/>
          </a:prstGeom>
          <a:solidFill>
            <a:srgbClr val="1C4E80"/>
          </a:solidFill>
          <a:ln w="12700">
            <a:solidFill>
              <a:srgbClr val="1C4E80"/>
            </a:solidFill>
            <a:prstDash val="solid"/>
          </a:ln>
        </p:spPr>
        <p:txBody>
          <a:bodyPr/>
          <a:lstStyle/>
          <a:p>
            <a:endParaRPr lang="en-AE"/>
          </a:p>
        </p:txBody>
      </p:sp>
      <p:sp>
        <p:nvSpPr>
          <p:cNvPr id="7" name="Text 5"/>
          <p:cNvSpPr/>
          <p:nvPr/>
        </p:nvSpPr>
        <p:spPr>
          <a:xfrm>
            <a:off x="502920" y="1261872"/>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44880" y="1397508"/>
            <a:ext cx="2377440" cy="292608"/>
          </a:xfrm>
          <a:prstGeom prst="rect">
            <a:avLst/>
          </a:prstGeom>
          <a:noFill/>
          <a:ln/>
        </p:spPr>
        <p:txBody>
          <a:bodyPr wrap="square" rtlCol="0" anchor="ctr"/>
          <a:lstStyle/>
          <a:p>
            <a:r>
              <a:rPr lang="en-US" sz="1200" b="1" dirty="0">
                <a:latin typeface="Calibri" pitchFamily="34" charset="0"/>
                <a:ea typeface="Calibri" pitchFamily="34" charset="-122"/>
                <a:cs typeface="Calibri" pitchFamily="34" charset="-120"/>
              </a:rPr>
              <a:t>Core base features (6)</a:t>
            </a:r>
            <a:endParaRPr lang="en-US" sz="1200" dirty="0"/>
          </a:p>
          <a:p>
            <a:pPr marL="0" indent="0">
              <a:buNone/>
            </a:pPr>
            <a:endParaRPr lang="en-US" sz="1200" dirty="0"/>
          </a:p>
        </p:txBody>
      </p:sp>
      <p:sp>
        <p:nvSpPr>
          <p:cNvPr id="11" name="Text 9"/>
          <p:cNvSpPr/>
          <p:nvPr/>
        </p:nvSpPr>
        <p:spPr>
          <a:xfrm>
            <a:off x="3520440" y="1216152"/>
            <a:ext cx="5074920" cy="274320"/>
          </a:xfrm>
          <a:prstGeom prst="rect">
            <a:avLst/>
          </a:prstGeom>
          <a:noFill/>
          <a:ln/>
        </p:spPr>
        <p:txBody>
          <a:bodyPr wrap="square" rtlCol="0" anchor="ctr"/>
          <a:lstStyle/>
          <a:p>
            <a:pPr marL="0" indent="0">
              <a:buNone/>
            </a:pPr>
            <a:r>
              <a:rPr lang="en-US" sz="1000" i="1" dirty="0">
                <a:solidFill>
                  <a:srgbClr val="0A2342"/>
                </a:solidFill>
                <a:latin typeface="Courier New" pitchFamily="34" charset="0"/>
                <a:ea typeface="Courier New" pitchFamily="34" charset="-122"/>
                <a:cs typeface="Courier New" pitchFamily="34" charset="-120"/>
              </a:rPr>
              <a:t>temp, dew point, humidity, wind_u, wind_v, pm25</a:t>
            </a:r>
            <a:endParaRPr lang="en-US" sz="1000" dirty="0"/>
          </a:p>
        </p:txBody>
      </p:sp>
      <p:sp>
        <p:nvSpPr>
          <p:cNvPr id="12" name="Text 10"/>
          <p:cNvSpPr/>
          <p:nvPr/>
        </p:nvSpPr>
        <p:spPr>
          <a:xfrm>
            <a:off x="3520440" y="1499616"/>
            <a:ext cx="5074920" cy="2560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Current meteorological conditions + raw target variable</a:t>
            </a:r>
            <a:endParaRPr lang="en-US" sz="950" dirty="0"/>
          </a:p>
        </p:txBody>
      </p:sp>
      <p:sp>
        <p:nvSpPr>
          <p:cNvPr id="13" name="Shape 11"/>
          <p:cNvSpPr/>
          <p:nvPr/>
        </p:nvSpPr>
        <p:spPr>
          <a:xfrm>
            <a:off x="365760" y="1883664"/>
            <a:ext cx="8412480" cy="621792"/>
          </a:xfrm>
          <a:prstGeom prst="roundRect">
            <a:avLst>
              <a:gd name="adj" fmla="val 1470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4" name="Shape 12"/>
          <p:cNvSpPr/>
          <p:nvPr/>
        </p:nvSpPr>
        <p:spPr>
          <a:xfrm>
            <a:off x="502920" y="1975104"/>
            <a:ext cx="438912" cy="438912"/>
          </a:xfrm>
          <a:prstGeom prst="ellipse">
            <a:avLst/>
          </a:prstGeom>
          <a:solidFill>
            <a:srgbClr val="0D7377"/>
          </a:solidFill>
          <a:ln w="12700">
            <a:solidFill>
              <a:srgbClr val="0D7377"/>
            </a:solidFill>
            <a:prstDash val="solid"/>
          </a:ln>
        </p:spPr>
        <p:txBody>
          <a:bodyPr/>
          <a:lstStyle/>
          <a:p>
            <a:endParaRPr lang="en-AE"/>
          </a:p>
        </p:txBody>
      </p:sp>
      <p:sp>
        <p:nvSpPr>
          <p:cNvPr id="15" name="Text 13"/>
          <p:cNvSpPr/>
          <p:nvPr/>
        </p:nvSpPr>
        <p:spPr>
          <a:xfrm>
            <a:off x="502920" y="1975104"/>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963930" y="2059940"/>
            <a:ext cx="2503170" cy="292608"/>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Diurnal / weekly cyclic time (4)</a:t>
            </a:r>
          </a:p>
        </p:txBody>
      </p:sp>
      <p:sp>
        <p:nvSpPr>
          <p:cNvPr id="19" name="Text 17"/>
          <p:cNvSpPr/>
          <p:nvPr/>
        </p:nvSpPr>
        <p:spPr>
          <a:xfrm>
            <a:off x="3520440" y="1929384"/>
            <a:ext cx="5074920" cy="274320"/>
          </a:xfrm>
          <a:prstGeom prst="rect">
            <a:avLst/>
          </a:prstGeom>
          <a:noFill/>
          <a:ln/>
        </p:spPr>
        <p:txBody>
          <a:bodyPr wrap="square" rtlCol="0" anchor="ctr"/>
          <a:lstStyle/>
          <a:p>
            <a:pPr marL="0" indent="0">
              <a:buNone/>
            </a:pPr>
            <a:r>
              <a:rPr lang="en-US" sz="1000" i="1" dirty="0">
                <a:solidFill>
                  <a:srgbClr val="0A2342"/>
                </a:solidFill>
                <a:latin typeface="Courier New" pitchFamily="34" charset="0"/>
                <a:ea typeface="Courier New" pitchFamily="34" charset="-122"/>
                <a:cs typeface="Courier New" pitchFamily="34" charset="-120"/>
              </a:rPr>
              <a:t>hour_sin, hour_cos, dow_sin, dow_cos</a:t>
            </a:r>
            <a:endParaRPr lang="en-US" sz="1000" dirty="0"/>
          </a:p>
        </p:txBody>
      </p:sp>
      <p:sp>
        <p:nvSpPr>
          <p:cNvPr id="20" name="Text 18"/>
          <p:cNvSpPr/>
          <p:nvPr/>
        </p:nvSpPr>
        <p:spPr>
          <a:xfrm>
            <a:off x="3520440" y="2212848"/>
            <a:ext cx="5074920" cy="2560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Captures diurnal/weekly traffic and ambient temperature patterns</a:t>
            </a:r>
            <a:endParaRPr lang="en-US" sz="950" dirty="0"/>
          </a:p>
        </p:txBody>
      </p:sp>
      <p:sp>
        <p:nvSpPr>
          <p:cNvPr id="21" name="Shape 19"/>
          <p:cNvSpPr/>
          <p:nvPr/>
        </p:nvSpPr>
        <p:spPr>
          <a:xfrm>
            <a:off x="365760" y="2596896"/>
            <a:ext cx="8412480" cy="621792"/>
          </a:xfrm>
          <a:prstGeom prst="roundRect">
            <a:avLst>
              <a:gd name="adj" fmla="val 1470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2" name="Shape 20"/>
          <p:cNvSpPr/>
          <p:nvPr/>
        </p:nvSpPr>
        <p:spPr>
          <a:xfrm>
            <a:off x="502920" y="2688336"/>
            <a:ext cx="438912" cy="438912"/>
          </a:xfrm>
          <a:prstGeom prst="ellipse">
            <a:avLst/>
          </a:prstGeom>
          <a:solidFill>
            <a:srgbClr val="D97706"/>
          </a:solidFill>
          <a:ln w="12700">
            <a:solidFill>
              <a:srgbClr val="D97706"/>
            </a:solidFill>
            <a:prstDash val="solid"/>
          </a:ln>
        </p:spPr>
        <p:txBody>
          <a:bodyPr/>
          <a:lstStyle/>
          <a:p>
            <a:endParaRPr lang="en-AE"/>
          </a:p>
        </p:txBody>
      </p:sp>
      <p:sp>
        <p:nvSpPr>
          <p:cNvPr id="23" name="Text 21"/>
          <p:cNvSpPr/>
          <p:nvPr/>
        </p:nvSpPr>
        <p:spPr>
          <a:xfrm>
            <a:off x="502920" y="2688336"/>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2"/>
          <p:cNvSpPr/>
          <p:nvPr/>
        </p:nvSpPr>
        <p:spPr>
          <a:xfrm>
            <a:off x="976630" y="2773172"/>
            <a:ext cx="2377440" cy="292608"/>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Gases (4)</a:t>
            </a:r>
          </a:p>
        </p:txBody>
      </p:sp>
      <p:sp>
        <p:nvSpPr>
          <p:cNvPr id="27" name="Text 25"/>
          <p:cNvSpPr/>
          <p:nvPr/>
        </p:nvSpPr>
        <p:spPr>
          <a:xfrm>
            <a:off x="3520440" y="2642616"/>
            <a:ext cx="5074920" cy="274320"/>
          </a:xfrm>
          <a:prstGeom prst="rect">
            <a:avLst/>
          </a:prstGeom>
          <a:noFill/>
          <a:ln/>
        </p:spPr>
        <p:txBody>
          <a:bodyPr wrap="square" rtlCol="0" anchor="ctr"/>
          <a:lstStyle/>
          <a:p>
            <a:pPr marL="0" indent="0">
              <a:buNone/>
            </a:pPr>
            <a:r>
              <a:rPr lang="en-US" sz="1000" i="1" dirty="0">
                <a:solidFill>
                  <a:srgbClr val="0A2342"/>
                </a:solidFill>
                <a:latin typeface="Courier New" pitchFamily="34" charset="0"/>
                <a:ea typeface="Courier New" pitchFamily="34" charset="-122"/>
                <a:cs typeface="Courier New" pitchFamily="34" charset="-120"/>
              </a:rPr>
              <a:t>no, no2, nox, o3</a:t>
            </a:r>
            <a:endParaRPr lang="en-US" sz="1000" dirty="0"/>
          </a:p>
        </p:txBody>
      </p:sp>
      <p:sp>
        <p:nvSpPr>
          <p:cNvPr id="28" name="Text 26"/>
          <p:cNvSpPr/>
          <p:nvPr/>
        </p:nvSpPr>
        <p:spPr>
          <a:xfrm>
            <a:off x="3520440" y="2926080"/>
            <a:ext cx="5074920" cy="2560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Multi-pollutant precursors/correlates to particulate matter</a:t>
            </a:r>
            <a:endParaRPr lang="en-US" sz="950" dirty="0"/>
          </a:p>
        </p:txBody>
      </p:sp>
      <p:sp>
        <p:nvSpPr>
          <p:cNvPr id="29" name="Shape 27"/>
          <p:cNvSpPr/>
          <p:nvPr/>
        </p:nvSpPr>
        <p:spPr>
          <a:xfrm>
            <a:off x="365760" y="3310128"/>
            <a:ext cx="8412480" cy="621792"/>
          </a:xfrm>
          <a:prstGeom prst="roundRect">
            <a:avLst>
              <a:gd name="adj" fmla="val 1470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0" name="Shape 28"/>
          <p:cNvSpPr/>
          <p:nvPr/>
        </p:nvSpPr>
        <p:spPr>
          <a:xfrm>
            <a:off x="502920" y="3401568"/>
            <a:ext cx="438912" cy="438912"/>
          </a:xfrm>
          <a:prstGeom prst="ellipse">
            <a:avLst/>
          </a:prstGeom>
          <a:solidFill>
            <a:srgbClr val="C75B39"/>
          </a:solidFill>
          <a:ln w="12700">
            <a:solidFill>
              <a:srgbClr val="C75B39"/>
            </a:solidFill>
            <a:prstDash val="solid"/>
          </a:ln>
        </p:spPr>
        <p:txBody>
          <a:bodyPr/>
          <a:lstStyle/>
          <a:p>
            <a:endParaRPr lang="en-AE"/>
          </a:p>
        </p:txBody>
      </p:sp>
      <p:sp>
        <p:nvSpPr>
          <p:cNvPr id="31" name="Text 29"/>
          <p:cNvSpPr/>
          <p:nvPr/>
        </p:nvSpPr>
        <p:spPr>
          <a:xfrm>
            <a:off x="502920" y="3401568"/>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963930" y="3473704"/>
            <a:ext cx="2556510" cy="292608"/>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Autoregressive lags &amp; rolling avg. (7)</a:t>
            </a:r>
          </a:p>
        </p:txBody>
      </p:sp>
      <p:sp>
        <p:nvSpPr>
          <p:cNvPr id="35" name="Text 33"/>
          <p:cNvSpPr/>
          <p:nvPr/>
        </p:nvSpPr>
        <p:spPr>
          <a:xfrm>
            <a:off x="3520440" y="3355848"/>
            <a:ext cx="5074920" cy="274320"/>
          </a:xfrm>
          <a:prstGeom prst="rect">
            <a:avLst/>
          </a:prstGeom>
          <a:noFill/>
          <a:ln/>
        </p:spPr>
        <p:txBody>
          <a:bodyPr wrap="square" rtlCol="0" anchor="ctr"/>
          <a:lstStyle/>
          <a:p>
            <a:pPr marL="0" indent="0">
              <a:buNone/>
            </a:pPr>
            <a:r>
              <a:rPr lang="en-US" sz="1000" i="1" dirty="0">
                <a:solidFill>
                  <a:srgbClr val="0A2342"/>
                </a:solidFill>
                <a:latin typeface="Courier New" pitchFamily="34" charset="0"/>
                <a:ea typeface="Courier New" pitchFamily="34" charset="-122"/>
                <a:cs typeface="Courier New" pitchFamily="34" charset="-120"/>
              </a:rPr>
              <a:t>pm25_lag1–lag12, pm25_roll3_mean, pm25_roll6_mean</a:t>
            </a:r>
            <a:endParaRPr lang="en-US" sz="1000" dirty="0"/>
          </a:p>
        </p:txBody>
      </p:sp>
      <p:sp>
        <p:nvSpPr>
          <p:cNvPr id="36" name="Text 34"/>
          <p:cNvSpPr/>
          <p:nvPr/>
        </p:nvSpPr>
        <p:spPr>
          <a:xfrm>
            <a:off x="3520440" y="3639312"/>
            <a:ext cx="5074920" cy="2560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Models persistence in PM₂.₅ concentration</a:t>
            </a:r>
            <a:endParaRPr lang="en-US" sz="950" dirty="0"/>
          </a:p>
        </p:txBody>
      </p:sp>
      <p:sp>
        <p:nvSpPr>
          <p:cNvPr id="37" name="Shape 35"/>
          <p:cNvSpPr/>
          <p:nvPr/>
        </p:nvSpPr>
        <p:spPr>
          <a:xfrm>
            <a:off x="365760" y="4023360"/>
            <a:ext cx="8412480" cy="621792"/>
          </a:xfrm>
          <a:prstGeom prst="roundRect">
            <a:avLst>
              <a:gd name="adj" fmla="val 1470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8" name="Shape 36"/>
          <p:cNvSpPr/>
          <p:nvPr/>
        </p:nvSpPr>
        <p:spPr>
          <a:xfrm>
            <a:off x="502920" y="4114800"/>
            <a:ext cx="438912" cy="438912"/>
          </a:xfrm>
          <a:prstGeom prst="ellipse">
            <a:avLst/>
          </a:prstGeom>
          <a:solidFill>
            <a:srgbClr val="5B4FA8"/>
          </a:solidFill>
          <a:ln w="12700">
            <a:solidFill>
              <a:srgbClr val="5B4FA8"/>
            </a:solidFill>
            <a:prstDash val="solid"/>
          </a:ln>
        </p:spPr>
        <p:txBody>
          <a:bodyPr/>
          <a:lstStyle/>
          <a:p>
            <a:endParaRPr lang="en-AE"/>
          </a:p>
        </p:txBody>
      </p:sp>
      <p:sp>
        <p:nvSpPr>
          <p:cNvPr id="39" name="Text 37"/>
          <p:cNvSpPr/>
          <p:nvPr/>
        </p:nvSpPr>
        <p:spPr>
          <a:xfrm>
            <a:off x="502920" y="411480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0" name="Text 38"/>
          <p:cNvSpPr/>
          <p:nvPr/>
        </p:nvSpPr>
        <p:spPr>
          <a:xfrm>
            <a:off x="938530" y="4180586"/>
            <a:ext cx="2377440" cy="292608"/>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Spatiotemporal diffusion (3)</a:t>
            </a:r>
          </a:p>
        </p:txBody>
      </p:sp>
      <p:sp>
        <p:nvSpPr>
          <p:cNvPr id="43" name="Text 41"/>
          <p:cNvSpPr/>
          <p:nvPr/>
        </p:nvSpPr>
        <p:spPr>
          <a:xfrm>
            <a:off x="3520440" y="4069080"/>
            <a:ext cx="5074920" cy="274320"/>
          </a:xfrm>
          <a:prstGeom prst="rect">
            <a:avLst/>
          </a:prstGeom>
          <a:noFill/>
          <a:ln/>
        </p:spPr>
        <p:txBody>
          <a:bodyPr wrap="square" rtlCol="0" anchor="ctr"/>
          <a:lstStyle/>
          <a:p>
            <a:pPr marL="0" indent="0">
              <a:buNone/>
            </a:pPr>
            <a:r>
              <a:rPr lang="en-US" sz="1000" i="1" dirty="0">
                <a:solidFill>
                  <a:srgbClr val="0A2342"/>
                </a:solidFill>
                <a:latin typeface="Courier New" pitchFamily="34" charset="0"/>
                <a:ea typeface="Courier New" pitchFamily="34" charset="-122"/>
                <a:cs typeface="Courier New" pitchFamily="34" charset="-120"/>
              </a:rPr>
              <a:t>upwind_pm25, transport_potential, wind_alignment</a:t>
            </a:r>
            <a:endParaRPr lang="en-US" sz="1000" dirty="0"/>
          </a:p>
        </p:txBody>
      </p:sp>
      <p:sp>
        <p:nvSpPr>
          <p:cNvPr id="44" name="Text 42"/>
          <p:cNvSpPr/>
          <p:nvPr/>
        </p:nvSpPr>
        <p:spPr>
          <a:xfrm>
            <a:off x="3520440" y="4352544"/>
            <a:ext cx="5074920" cy="2560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Physics-informed: how pollutants disperse based on wind velocity</a:t>
            </a:r>
            <a:endParaRPr lang="en-US" sz="950" dirty="0"/>
          </a:p>
        </p:txBody>
      </p:sp>
      <p:sp>
        <p:nvSpPr>
          <p:cNvPr id="45" name="Shape 43"/>
          <p:cNvSpPr/>
          <p:nvPr/>
        </p:nvSpPr>
        <p:spPr>
          <a:xfrm>
            <a:off x="604299" y="4736592"/>
            <a:ext cx="8046720" cy="310896"/>
          </a:xfrm>
          <a:prstGeom prst="roundRect">
            <a:avLst>
              <a:gd name="adj" fmla="val 29412"/>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46" name="Text 44"/>
          <p:cNvSpPr/>
          <p:nvPr/>
        </p:nvSpPr>
        <p:spPr>
          <a:xfrm>
            <a:off x="548640" y="4745736"/>
            <a:ext cx="8046720" cy="292608"/>
          </a:xfrm>
          <a:prstGeom prst="rect">
            <a:avLst/>
          </a:prstGeom>
          <a:noFill/>
          <a:ln/>
        </p:spPr>
        <p:txBody>
          <a:bodyPr wrap="square" lIns="0" tIns="0" rIns="0" bIns="0" rtlCol="0" anchor="ctr"/>
          <a:lstStyle/>
          <a:p>
            <a:pPr marL="0" indent="0" algn="ctr">
              <a:buNone/>
            </a:pPr>
            <a:r>
              <a:rPr lang="en-US" sz="1050" i="1" dirty="0">
                <a:solidFill>
                  <a:srgbClr val="00A8E8"/>
                </a:solidFill>
                <a:latin typeface="Calibri" pitchFamily="34" charset="0"/>
                <a:ea typeface="Calibri" pitchFamily="34" charset="-122"/>
                <a:cs typeface="Calibri" pitchFamily="34" charset="-120"/>
              </a:rPr>
              <a:t>Total: 24 engineered features  —  ablation recipes add layers cumulatively to isolate each layer's contribution</a:t>
            </a:r>
            <a:endParaRPr lang="en-US" sz="1050" dirty="0"/>
          </a:p>
        </p:txBody>
      </p:sp>
      <p:pic>
        <p:nvPicPr>
          <p:cNvPr id="47" name="image1.png" descr="University of Ontario Institute of Technology logo">
            <a:extLst>
              <a:ext uri="{FF2B5EF4-FFF2-40B4-BE49-F238E27FC236}">
                <a16:creationId xmlns:a16="http://schemas.microsoft.com/office/drawing/2014/main" id="{9DD57842-AA9A-FA28-8150-D3CDAD179424}"/>
              </a:ext>
            </a:extLst>
          </p:cNvPr>
          <p:cNvPicPr/>
          <p:nvPr/>
        </p:nvPicPr>
        <p:blipFill>
          <a:blip r:embed="rId3"/>
          <a:srcRect/>
          <a:stretch>
            <a:fillRect/>
          </a:stretch>
        </p:blipFill>
        <p:spPr>
          <a:xfrm>
            <a:off x="7570692" y="98790"/>
            <a:ext cx="1416424" cy="404310"/>
          </a:xfrm>
          <a:prstGeom prst="rect">
            <a:avLst/>
          </a:prstGeom>
          <a:ln/>
        </p:spPr>
      </p:pic>
      <p:sp>
        <p:nvSpPr>
          <p:cNvPr id="48" name="Text 6">
            <a:extLst>
              <a:ext uri="{FF2B5EF4-FFF2-40B4-BE49-F238E27FC236}">
                <a16:creationId xmlns:a16="http://schemas.microsoft.com/office/drawing/2014/main" id="{11D76A03-AEAA-EAEC-153F-F6E6DE1FA39E}"/>
              </a:ext>
            </a:extLst>
          </p:cNvPr>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BFF"/>
        </a:solidFill>
        <a:effectLst/>
      </p:bgPr>
    </p:bg>
    <p:spTree>
      <p:nvGrpSpPr>
        <p:cNvPr id="1" name=""/>
        <p:cNvGrpSpPr/>
        <p:nvPr/>
      </p:nvGrpSpPr>
      <p:grpSpPr>
        <a:xfrm>
          <a:off x="0" y="0"/>
          <a:ext cx="0" cy="0"/>
          <a:chOff x="0" y="0"/>
          <a:chExt cx="0" cy="0"/>
        </a:xfrm>
      </p:grpSpPr>
      <p:sp>
        <p:nvSpPr>
          <p:cNvPr id="3" name="Text 1"/>
          <p:cNvSpPr/>
          <p:nvPr/>
        </p:nvSpPr>
        <p:spPr>
          <a:xfrm>
            <a:off x="320040" y="316632"/>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System Performance Under Load</a:t>
            </a:r>
            <a:endParaRPr lang="en-US" sz="2200" dirty="0"/>
          </a:p>
        </p:txBody>
      </p:sp>
      <p:sp>
        <p:nvSpPr>
          <p:cNvPr id="4" name="Text 2"/>
          <p:cNvSpPr/>
          <p:nvPr/>
        </p:nvSpPr>
        <p:spPr>
          <a:xfrm>
            <a:off x="320040" y="897742"/>
            <a:ext cx="8503920" cy="329184"/>
          </a:xfrm>
          <a:prstGeom prst="rect">
            <a:avLst/>
          </a:prstGeom>
          <a:noFill/>
          <a:ln/>
        </p:spPr>
        <p:txBody>
          <a:bodyPr wrap="square" lIns="0" tIns="0" rIns="0" bIns="0" rtlCol="0" anchor="ctr"/>
          <a:lstStyle/>
          <a:p>
            <a:pPr marL="0" indent="0">
              <a:buNone/>
            </a:pPr>
            <a:r>
              <a:rPr lang="en-US" sz="1200" dirty="0">
                <a:solidFill>
                  <a:srgbClr val="00A8E8"/>
                </a:solidFill>
                <a:latin typeface="Calibri" pitchFamily="34" charset="0"/>
                <a:ea typeface="Calibri" pitchFamily="34" charset="-122"/>
                <a:cs typeface="Calibri" pitchFamily="34" charset="-120"/>
              </a:rPr>
              <a:t>Kafka pipeline reliability and scalability</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1188720"/>
          <a:ext cx="5120640" cy="2194560"/>
        </p:xfrm>
        <a:graphic>
          <a:graphicData uri="http://schemas.openxmlformats.org/drawingml/2006/table">
            <a:tbl>
              <a:tblPr/>
              <a:tblGrid>
                <a:gridCol w="1024128">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gridCol w="1024128">
                  <a:extLst>
                    <a:ext uri="{9D8B030D-6E8A-4147-A177-3AD203B41FA5}">
                      <a16:colId xmlns:a16="http://schemas.microsoft.com/office/drawing/2014/main" val="20003"/>
                    </a:ext>
                  </a:extLst>
                </a:gridCol>
                <a:gridCol w="1024128">
                  <a:extLst>
                    <a:ext uri="{9D8B030D-6E8A-4147-A177-3AD203B41FA5}">
                      <a16:colId xmlns:a16="http://schemas.microsoft.com/office/drawing/2014/main" val="20004"/>
                    </a:ext>
                  </a:extLst>
                </a:gridCol>
              </a:tblGrid>
              <a:tr h="365760">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Users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Avg Latency</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P95 Latency</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Throughput</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Success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5760">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2,086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2,121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0.48 req/s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2,132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2,349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2.34 req/s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2,489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2,833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3.85 req/s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3,196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3,631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5.96 req/s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5,298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5,943 ms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8.91 req/s</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1E293B"/>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577840" y="1188720"/>
            <a:ext cx="3291840" cy="2286000"/>
          </a:xfrm>
          <a:prstGeom prst="roundRect">
            <a:avLst>
              <a:gd name="adj" fmla="val 4800"/>
            </a:avLst>
          </a:prstGeom>
          <a:solidFill>
            <a:srgbClr val="0A2342"/>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7" name="Text 4"/>
          <p:cNvSpPr/>
          <p:nvPr/>
        </p:nvSpPr>
        <p:spPr>
          <a:xfrm>
            <a:off x="5760720" y="1280160"/>
            <a:ext cx="2926080" cy="320040"/>
          </a:xfrm>
          <a:prstGeom prst="rect">
            <a:avLst/>
          </a:prstGeom>
          <a:noFill/>
          <a:ln/>
        </p:spPr>
        <p:txBody>
          <a:bodyPr wrap="square" rtlCol="0" anchor="ctr"/>
          <a:lstStyle/>
          <a:p>
            <a:pPr marL="0" indent="0">
              <a:buNone/>
            </a:pPr>
            <a:r>
              <a:rPr lang="en-US" sz="1400" b="1" dirty="0">
                <a:solidFill>
                  <a:srgbClr val="00A8E8"/>
                </a:solidFill>
                <a:latin typeface="Calibri" pitchFamily="34" charset="0"/>
                <a:ea typeface="Calibri" pitchFamily="34" charset="-122"/>
                <a:cs typeface="Calibri" pitchFamily="34" charset="-120"/>
              </a:rPr>
              <a:t>Reliability</a:t>
            </a:r>
            <a:endParaRPr lang="en-US" sz="1400" dirty="0"/>
          </a:p>
        </p:txBody>
      </p:sp>
      <p:sp>
        <p:nvSpPr>
          <p:cNvPr id="8" name="Text 5"/>
          <p:cNvSpPr/>
          <p:nvPr/>
        </p:nvSpPr>
        <p:spPr>
          <a:xfrm>
            <a:off x="5760720" y="1600200"/>
            <a:ext cx="2926080" cy="64008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100%</a:t>
            </a:r>
            <a:endParaRPr lang="en-US" sz="3600" dirty="0"/>
          </a:p>
        </p:txBody>
      </p:sp>
      <p:sp>
        <p:nvSpPr>
          <p:cNvPr id="9" name="Text 6"/>
          <p:cNvSpPr/>
          <p:nvPr/>
        </p:nvSpPr>
        <p:spPr>
          <a:xfrm>
            <a:off x="5760720" y="2240280"/>
            <a:ext cx="2926080" cy="54864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request success rate</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across 1–50 concurrent users</a:t>
            </a:r>
            <a:endParaRPr lang="en-US" sz="1100" dirty="0"/>
          </a:p>
        </p:txBody>
      </p:sp>
      <p:sp>
        <p:nvSpPr>
          <p:cNvPr id="5" name="Text 7"/>
          <p:cNvSpPr/>
          <p:nvPr/>
        </p:nvSpPr>
        <p:spPr>
          <a:xfrm>
            <a:off x="5760720" y="2834640"/>
            <a:ext cx="2926080" cy="594360"/>
          </a:xfrm>
          <a:prstGeom prst="rect">
            <a:avLst/>
          </a:prstGeom>
          <a:noFill/>
          <a:ln/>
        </p:spPr>
        <p:txBody>
          <a:bodyPr wrap="square" rtlCol="0" anchor="ctr"/>
          <a:lstStyle/>
          <a:p>
            <a:pPr marL="0" indent="0">
              <a:buNone/>
            </a:pPr>
            <a:r>
              <a:rPr lang="en-US" sz="1050" dirty="0">
                <a:solidFill>
                  <a:srgbClr val="CBD5E1"/>
                </a:solidFill>
                <a:latin typeface="Calibri" pitchFamily="34" charset="0"/>
                <a:ea typeface="Calibri" pitchFamily="34" charset="-122"/>
                <a:cs typeface="Calibri" pitchFamily="34" charset="-120"/>
              </a:rPr>
              <a:t>Throughput scaled 0.48 → 8.91 req/s as concurrency increased, confirming the architecture supports real-time operational deployment.</a:t>
            </a:r>
            <a:endParaRPr lang="en-US" sz="1050" dirty="0"/>
          </a:p>
        </p:txBody>
      </p:sp>
      <p:sp>
        <p:nvSpPr>
          <p:cNvPr id="11" name="Shape 8"/>
          <p:cNvSpPr/>
          <p:nvPr/>
        </p:nvSpPr>
        <p:spPr>
          <a:xfrm>
            <a:off x="274320" y="3657600"/>
            <a:ext cx="8595360" cy="1005840"/>
          </a:xfrm>
          <a:prstGeom prst="roundRect">
            <a:avLst>
              <a:gd name="adj" fmla="val 10909"/>
            </a:avLst>
          </a:prstGeom>
          <a:solidFill>
            <a:srgbClr val="E8F4FD"/>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2" name="Text 9"/>
          <p:cNvSpPr/>
          <p:nvPr/>
        </p:nvSpPr>
        <p:spPr>
          <a:xfrm>
            <a:off x="502920" y="3822192"/>
            <a:ext cx="8138160" cy="685800"/>
          </a:xfrm>
          <a:prstGeom prst="rect">
            <a:avLst/>
          </a:prstGeom>
          <a:noFill/>
          <a:ln/>
        </p:spPr>
        <p:txBody>
          <a:bodyPr wrap="square" rtlCol="0" anchor="ctr"/>
          <a:lstStyle/>
          <a:p>
            <a:pPr marL="0" indent="0">
              <a:buNone/>
            </a:pPr>
            <a:r>
              <a:rPr lang="en-US" sz="1250" i="1" dirty="0">
                <a:solidFill>
                  <a:srgbClr val="1C4E80"/>
                </a:solidFill>
                <a:latin typeface="Calibri" pitchFamily="34" charset="0"/>
                <a:ea typeface="Calibri" pitchFamily="34" charset="-122"/>
                <a:cs typeface="Calibri" pitchFamily="34" charset="-120"/>
              </a:rPr>
              <a:t>Takeaway: latency grows with concurrency (2.1s → 5.3s) but the system never fails a request — stable degradation, not collapse, under increasing load.</a:t>
            </a:r>
            <a:endParaRPr lang="en-US" sz="1250" dirty="0"/>
          </a:p>
        </p:txBody>
      </p:sp>
      <p:sp>
        <p:nvSpPr>
          <p:cNvPr id="14" name="Text 10"/>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pic>
        <p:nvPicPr>
          <p:cNvPr id="13" name="image1.png" descr="University of Ontario Institute of Technology logo">
            <a:extLst>
              <a:ext uri="{FF2B5EF4-FFF2-40B4-BE49-F238E27FC236}">
                <a16:creationId xmlns:a16="http://schemas.microsoft.com/office/drawing/2014/main" id="{DE5F40EC-5CB4-25A0-E517-116E65F4DEE2}"/>
              </a:ext>
            </a:extLst>
          </p:cNvPr>
          <p:cNvPicPr/>
          <p:nvPr/>
        </p:nvPicPr>
        <p:blipFill>
          <a:blip r:embed="rId3"/>
          <a:srcRect/>
          <a:stretch>
            <a:fillRect/>
          </a:stretch>
        </p:blipFill>
        <p:spPr>
          <a:xfrm>
            <a:off x="7570692" y="98790"/>
            <a:ext cx="1416424" cy="404310"/>
          </a:xfrm>
          <a:prstGeom prst="rect">
            <a:avLst/>
          </a:prstGeo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E7829-343A-7F23-AEDF-296F1FC12D1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56BE010-C642-7F2F-4B51-6FAF687AE152}"/>
              </a:ext>
            </a:extLst>
          </p:cNvPr>
          <p:cNvSpPr/>
          <p:nvPr/>
        </p:nvSpPr>
        <p:spPr>
          <a:xfrm>
            <a:off x="320040" y="338276"/>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Alerts</a:t>
            </a:r>
            <a:endParaRPr lang="en-US" sz="2200" dirty="0"/>
          </a:p>
        </p:txBody>
      </p:sp>
      <p:sp>
        <p:nvSpPr>
          <p:cNvPr id="14" name="Text 10">
            <a:extLst>
              <a:ext uri="{FF2B5EF4-FFF2-40B4-BE49-F238E27FC236}">
                <a16:creationId xmlns:a16="http://schemas.microsoft.com/office/drawing/2014/main" id="{F896316A-29C1-66A5-870D-132F41636658}"/>
              </a:ext>
            </a:extLst>
          </p:cNvPr>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pic>
        <p:nvPicPr>
          <p:cNvPr id="13" name="image1.png" descr="University of Ontario Institute of Technology logo">
            <a:extLst>
              <a:ext uri="{FF2B5EF4-FFF2-40B4-BE49-F238E27FC236}">
                <a16:creationId xmlns:a16="http://schemas.microsoft.com/office/drawing/2014/main" id="{C287D6B7-B744-C40E-1E96-5DE671573724}"/>
              </a:ext>
            </a:extLst>
          </p:cNvPr>
          <p:cNvPicPr/>
          <p:nvPr/>
        </p:nvPicPr>
        <p:blipFill>
          <a:blip r:embed="rId3"/>
          <a:srcRect/>
          <a:stretch>
            <a:fillRect/>
          </a:stretch>
        </p:blipFill>
        <p:spPr>
          <a:xfrm>
            <a:off x="7570692" y="98790"/>
            <a:ext cx="1416424" cy="404310"/>
          </a:xfrm>
          <a:prstGeom prst="rect">
            <a:avLst/>
          </a:prstGeom>
          <a:ln/>
        </p:spPr>
      </p:pic>
      <p:pic>
        <p:nvPicPr>
          <p:cNvPr id="5" name="Picture 4">
            <a:extLst>
              <a:ext uri="{FF2B5EF4-FFF2-40B4-BE49-F238E27FC236}">
                <a16:creationId xmlns:a16="http://schemas.microsoft.com/office/drawing/2014/main" id="{92F133A1-9A9E-D75E-A6D4-3EBFC37D7F17}"/>
              </a:ext>
            </a:extLst>
          </p:cNvPr>
          <p:cNvPicPr>
            <a:picLocks noChangeAspect="1"/>
          </p:cNvPicPr>
          <p:nvPr/>
        </p:nvPicPr>
        <p:blipFill>
          <a:blip r:embed="rId4"/>
          <a:stretch>
            <a:fillRect/>
          </a:stretch>
        </p:blipFill>
        <p:spPr>
          <a:xfrm>
            <a:off x="1822370" y="1343282"/>
            <a:ext cx="5278145" cy="3649342"/>
          </a:xfrm>
          <a:prstGeom prst="rect">
            <a:avLst/>
          </a:prstGeom>
        </p:spPr>
      </p:pic>
      <p:sp>
        <p:nvSpPr>
          <p:cNvPr id="7" name="Shape 13">
            <a:extLst>
              <a:ext uri="{FF2B5EF4-FFF2-40B4-BE49-F238E27FC236}">
                <a16:creationId xmlns:a16="http://schemas.microsoft.com/office/drawing/2014/main" id="{730E0D5C-7031-3471-B403-E7B3B89976F3}"/>
              </a:ext>
            </a:extLst>
          </p:cNvPr>
          <p:cNvSpPr/>
          <p:nvPr/>
        </p:nvSpPr>
        <p:spPr>
          <a:xfrm>
            <a:off x="1802312" y="694722"/>
            <a:ext cx="2628083" cy="582724"/>
          </a:xfrm>
          <a:prstGeom prst="roundRect">
            <a:avLst>
              <a:gd name="adj" fmla="val 10909"/>
            </a:avLst>
          </a:prstGeom>
          <a:solidFill>
            <a:schemeClr val="accent4">
              <a:lumMod val="40000"/>
              <a:lumOff val="60000"/>
            </a:schemeClr>
          </a:solidFill>
          <a:ln/>
        </p:spPr>
        <p:style>
          <a:lnRef idx="2">
            <a:schemeClr val="accent4"/>
          </a:lnRef>
          <a:fillRef idx="1">
            <a:schemeClr val="lt1"/>
          </a:fillRef>
          <a:effectRef idx="0">
            <a:schemeClr val="accent4"/>
          </a:effectRef>
          <a:fontRef idx="minor">
            <a:schemeClr val="dk1"/>
          </a:fontRef>
        </p:style>
        <p:txBody>
          <a:bodyPr/>
          <a:lstStyle/>
          <a:p>
            <a:endParaRPr lang="en-CA" sz="500" dirty="0">
              <a:solidFill>
                <a:schemeClr val="accent2">
                  <a:lumMod val="50000"/>
                </a:schemeClr>
              </a:solidFill>
            </a:endParaRPr>
          </a:p>
          <a:p>
            <a:pPr algn="ctr"/>
            <a:r>
              <a:rPr lang="en-CA" dirty="0">
                <a:solidFill>
                  <a:schemeClr val="accent2">
                    <a:lumMod val="50000"/>
                  </a:schemeClr>
                </a:solidFill>
              </a:rPr>
              <a:t>Warning = 35.5 </a:t>
            </a:r>
            <a:r>
              <a:rPr lang="en-AE" dirty="0">
                <a:solidFill>
                  <a:schemeClr val="accent2">
                    <a:lumMod val="50000"/>
                  </a:schemeClr>
                </a:solidFill>
              </a:rPr>
              <a:t>μ g/m³</a:t>
            </a:r>
          </a:p>
        </p:txBody>
      </p:sp>
      <p:sp>
        <p:nvSpPr>
          <p:cNvPr id="9" name="Shape 13">
            <a:extLst>
              <a:ext uri="{FF2B5EF4-FFF2-40B4-BE49-F238E27FC236}">
                <a16:creationId xmlns:a16="http://schemas.microsoft.com/office/drawing/2014/main" id="{E5B31663-D5FD-08C3-454B-DA649E040891}"/>
              </a:ext>
            </a:extLst>
          </p:cNvPr>
          <p:cNvSpPr/>
          <p:nvPr/>
        </p:nvSpPr>
        <p:spPr>
          <a:xfrm>
            <a:off x="4472432" y="688004"/>
            <a:ext cx="2628083" cy="582724"/>
          </a:xfrm>
          <a:prstGeom prst="roundRect">
            <a:avLst>
              <a:gd name="adj" fmla="val 10909"/>
            </a:avLst>
          </a:prstGeom>
          <a:solidFill>
            <a:srgbClr val="D3300F"/>
          </a:solidFill>
          <a:ln w="6350">
            <a:solidFill>
              <a:srgbClr val="C00000"/>
            </a:solidFill>
            <a:prstDash val="solid"/>
          </a:ln>
          <a:effectLst>
            <a:outerShdw blurRad="101600" dist="25400" dir="2700000" algn="bl" rotWithShape="0">
              <a:srgbClr val="000000">
                <a:alpha val="10000"/>
              </a:srgbClr>
            </a:outerShdw>
          </a:effectLst>
        </p:spPr>
        <p:txBody>
          <a:bodyPr/>
          <a:lstStyle/>
          <a:p>
            <a:endParaRPr lang="en-CA" sz="600" dirty="0">
              <a:solidFill>
                <a:schemeClr val="bg1"/>
              </a:solidFill>
            </a:endParaRPr>
          </a:p>
          <a:p>
            <a:pPr algn="ctr"/>
            <a:r>
              <a:rPr lang="en-CA" sz="2000" dirty="0">
                <a:solidFill>
                  <a:schemeClr val="bg1"/>
                </a:solidFill>
              </a:rPr>
              <a:t>Critical = 125.5 </a:t>
            </a:r>
            <a:r>
              <a:rPr lang="en-AE" sz="2000" dirty="0">
                <a:solidFill>
                  <a:schemeClr val="bg1"/>
                </a:solidFill>
              </a:rPr>
              <a:t>μ g/m³</a:t>
            </a:r>
          </a:p>
        </p:txBody>
      </p:sp>
    </p:spTree>
    <p:extLst>
      <p:ext uri="{BB962C8B-B14F-4D97-AF65-F5344CB8AC3E}">
        <p14:creationId xmlns:p14="http://schemas.microsoft.com/office/powerpoint/2010/main" val="2513530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2EE719CA-AD33-25C2-9280-6CA360BAB847}"/>
              </a:ext>
            </a:extLst>
          </p:cNvPr>
          <p:cNvSpPr/>
          <p:nvPr/>
        </p:nvSpPr>
        <p:spPr>
          <a:xfrm>
            <a:off x="320040" y="338276"/>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Dashboard</a:t>
            </a:r>
            <a:endParaRPr lang="en-US" sz="2200" dirty="0"/>
          </a:p>
        </p:txBody>
      </p:sp>
      <p:sp>
        <p:nvSpPr>
          <p:cNvPr id="3" name="Text 10">
            <a:extLst>
              <a:ext uri="{FF2B5EF4-FFF2-40B4-BE49-F238E27FC236}">
                <a16:creationId xmlns:a16="http://schemas.microsoft.com/office/drawing/2014/main" id="{13EB7181-B064-286C-E09A-7532C214D012}"/>
              </a:ext>
            </a:extLst>
          </p:cNvPr>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pic>
        <p:nvPicPr>
          <p:cNvPr id="4" name="image1.png" descr="University of Ontario Institute of Technology logo">
            <a:extLst>
              <a:ext uri="{FF2B5EF4-FFF2-40B4-BE49-F238E27FC236}">
                <a16:creationId xmlns:a16="http://schemas.microsoft.com/office/drawing/2014/main" id="{9F220938-A9A1-5185-0386-A081296A6BA4}"/>
              </a:ext>
            </a:extLst>
          </p:cNvPr>
          <p:cNvPicPr/>
          <p:nvPr/>
        </p:nvPicPr>
        <p:blipFill>
          <a:blip r:embed="rId2"/>
          <a:srcRect/>
          <a:stretch>
            <a:fillRect/>
          </a:stretch>
        </p:blipFill>
        <p:spPr>
          <a:xfrm>
            <a:off x="7570692" y="98790"/>
            <a:ext cx="1416424" cy="404310"/>
          </a:xfrm>
          <a:prstGeom prst="rect">
            <a:avLst/>
          </a:prstGeom>
          <a:ln/>
        </p:spPr>
      </p:pic>
      <p:pic>
        <p:nvPicPr>
          <p:cNvPr id="7" name="Picture 6">
            <a:extLst>
              <a:ext uri="{FF2B5EF4-FFF2-40B4-BE49-F238E27FC236}">
                <a16:creationId xmlns:a16="http://schemas.microsoft.com/office/drawing/2014/main" id="{2FE98870-3E9C-2D53-AACD-91E8A4B10AA0}"/>
              </a:ext>
            </a:extLst>
          </p:cNvPr>
          <p:cNvPicPr>
            <a:picLocks noChangeAspect="1"/>
          </p:cNvPicPr>
          <p:nvPr/>
        </p:nvPicPr>
        <p:blipFill>
          <a:blip r:embed="rId3"/>
          <a:stretch>
            <a:fillRect/>
          </a:stretch>
        </p:blipFill>
        <p:spPr>
          <a:xfrm>
            <a:off x="707666" y="877506"/>
            <a:ext cx="7728668" cy="4148121"/>
          </a:xfrm>
          <a:prstGeom prst="rect">
            <a:avLst/>
          </a:prstGeom>
        </p:spPr>
      </p:pic>
    </p:spTree>
    <p:extLst>
      <p:ext uri="{BB962C8B-B14F-4D97-AF65-F5344CB8AC3E}">
        <p14:creationId xmlns:p14="http://schemas.microsoft.com/office/powerpoint/2010/main" val="2015218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7FBFF"/>
        </a:solidFill>
        <a:effectLst/>
      </p:bgPr>
    </p:bg>
    <p:spTree>
      <p:nvGrpSpPr>
        <p:cNvPr id="1" name=""/>
        <p:cNvGrpSpPr/>
        <p:nvPr/>
      </p:nvGrpSpPr>
      <p:grpSpPr>
        <a:xfrm>
          <a:off x="0" y="0"/>
          <a:ext cx="0" cy="0"/>
          <a:chOff x="0" y="0"/>
          <a:chExt cx="0" cy="0"/>
        </a:xfrm>
      </p:grpSpPr>
      <p:sp>
        <p:nvSpPr>
          <p:cNvPr id="3" name="Text 1"/>
          <p:cNvSpPr/>
          <p:nvPr/>
        </p:nvSpPr>
        <p:spPr>
          <a:xfrm>
            <a:off x="320040" y="397793"/>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Analysis &amp; Discussion</a:t>
            </a:r>
            <a:endParaRPr lang="en-US" sz="2200" dirty="0"/>
          </a:p>
        </p:txBody>
      </p:sp>
      <p:sp>
        <p:nvSpPr>
          <p:cNvPr id="5" name="Shape 3"/>
          <p:cNvSpPr/>
          <p:nvPr/>
        </p:nvSpPr>
        <p:spPr>
          <a:xfrm>
            <a:off x="274320" y="1188720"/>
            <a:ext cx="4160520" cy="1691640"/>
          </a:xfrm>
          <a:prstGeom prst="roundRect">
            <a:avLst>
              <a:gd name="adj" fmla="val 648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Shape 4"/>
          <p:cNvSpPr/>
          <p:nvPr/>
        </p:nvSpPr>
        <p:spPr>
          <a:xfrm>
            <a:off x="438912" y="1371600"/>
            <a:ext cx="548640" cy="548640"/>
          </a:xfrm>
          <a:prstGeom prst="ellipse">
            <a:avLst/>
          </a:prstGeom>
          <a:solidFill>
            <a:srgbClr val="059669"/>
          </a:solidFill>
          <a:ln w="12700">
            <a:solidFill>
              <a:srgbClr val="059669"/>
            </a:solidFill>
            <a:prstDash val="solid"/>
          </a:ln>
        </p:spPr>
        <p:txBody>
          <a:bodyPr/>
          <a:lstStyle/>
          <a:p>
            <a:endParaRPr lang="en-AE"/>
          </a:p>
        </p:txBody>
      </p:sp>
      <p:sp>
        <p:nvSpPr>
          <p:cNvPr id="7" name="Text 5"/>
          <p:cNvSpPr/>
          <p:nvPr/>
        </p:nvSpPr>
        <p:spPr>
          <a:xfrm>
            <a:off x="438912" y="137160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8" name="Text 6"/>
          <p:cNvSpPr/>
          <p:nvPr/>
        </p:nvSpPr>
        <p:spPr>
          <a:xfrm>
            <a:off x="1097280" y="1389888"/>
            <a:ext cx="3154680" cy="365760"/>
          </a:xfrm>
          <a:prstGeom prst="rect">
            <a:avLst/>
          </a:prstGeom>
          <a:noFill/>
          <a:ln/>
        </p:spPr>
        <p:txBody>
          <a:bodyPr wrap="square" lIns="0" tIns="0" rIns="0" bIns="0"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Features &gt; Architecture</a:t>
            </a:r>
            <a:endParaRPr lang="en-US" sz="1300" dirty="0"/>
          </a:p>
        </p:txBody>
      </p:sp>
      <p:sp>
        <p:nvSpPr>
          <p:cNvPr id="9" name="Text 7"/>
          <p:cNvSpPr/>
          <p:nvPr/>
        </p:nvSpPr>
        <p:spPr>
          <a:xfrm>
            <a:off x="438912" y="1993392"/>
            <a:ext cx="3840480" cy="7772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Given identical diffusion features, Random Forest performed best at every horizon: R²=0.908, 0.792, 0.663, with the lowest MAE and RMSE</a:t>
            </a:r>
            <a:endParaRPr lang="en-US" sz="1100" dirty="0"/>
          </a:p>
        </p:txBody>
      </p:sp>
      <p:sp>
        <p:nvSpPr>
          <p:cNvPr id="10" name="Shape 8"/>
          <p:cNvSpPr/>
          <p:nvPr/>
        </p:nvSpPr>
        <p:spPr>
          <a:xfrm>
            <a:off x="4709160" y="1188720"/>
            <a:ext cx="4160520" cy="1691640"/>
          </a:xfrm>
          <a:prstGeom prst="roundRect">
            <a:avLst>
              <a:gd name="adj" fmla="val 648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1" name="Shape 9"/>
          <p:cNvSpPr/>
          <p:nvPr/>
        </p:nvSpPr>
        <p:spPr>
          <a:xfrm>
            <a:off x="4873752" y="1371600"/>
            <a:ext cx="548640" cy="548640"/>
          </a:xfrm>
          <a:prstGeom prst="ellipse">
            <a:avLst/>
          </a:prstGeom>
          <a:solidFill>
            <a:srgbClr val="1C4E80"/>
          </a:solidFill>
          <a:ln w="12700">
            <a:solidFill>
              <a:srgbClr val="1C4E80"/>
            </a:solidFill>
            <a:prstDash val="solid"/>
          </a:ln>
        </p:spPr>
        <p:txBody>
          <a:bodyPr/>
          <a:lstStyle/>
          <a:p>
            <a:endParaRPr lang="en-AE"/>
          </a:p>
        </p:txBody>
      </p:sp>
      <p:sp>
        <p:nvSpPr>
          <p:cNvPr id="12" name="Text 10"/>
          <p:cNvSpPr/>
          <p:nvPr/>
        </p:nvSpPr>
        <p:spPr>
          <a:xfrm>
            <a:off x="4873752" y="137160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3" name="Text 11"/>
          <p:cNvSpPr/>
          <p:nvPr/>
        </p:nvSpPr>
        <p:spPr>
          <a:xfrm>
            <a:off x="5532120" y="1389888"/>
            <a:ext cx="3154680" cy="365760"/>
          </a:xfrm>
          <a:prstGeom prst="rect">
            <a:avLst/>
          </a:prstGeom>
          <a:noFill/>
          <a:ln/>
        </p:spPr>
        <p:txBody>
          <a:bodyPr wrap="square" lIns="0" tIns="0" rIns="0" bIns="0" rtlCol="0" anchor="ctr"/>
          <a:lstStyle/>
          <a:p>
            <a:pPr marL="0" indent="0">
              <a:buNone/>
            </a:pPr>
            <a:r>
              <a:rPr lang="en-US" sz="1300" b="1" dirty="0">
                <a:solidFill>
                  <a:srgbClr val="1C4E80"/>
                </a:solidFill>
                <a:latin typeface="Calibri" pitchFamily="34" charset="0"/>
                <a:ea typeface="Calibri" pitchFamily="34" charset="-122"/>
                <a:cs typeface="Calibri" pitchFamily="34" charset="-120"/>
              </a:rPr>
              <a:t>All Models Beat the Baseline</a:t>
            </a:r>
            <a:endParaRPr lang="en-US" sz="1300" dirty="0"/>
          </a:p>
        </p:txBody>
      </p:sp>
      <p:sp>
        <p:nvSpPr>
          <p:cNvPr id="14" name="Text 12"/>
          <p:cNvSpPr/>
          <p:nvPr/>
        </p:nvSpPr>
        <p:spPr>
          <a:xfrm>
            <a:off x="4873752" y="1993392"/>
            <a:ext cx="3840480" cy="7772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Historical Average (R²≈ 0) is dramatically outperformed by every ML/DL model — confirming meteorological and diffusion features carry real predictive signal.</a:t>
            </a:r>
            <a:endParaRPr lang="en-US" sz="1100" dirty="0"/>
          </a:p>
        </p:txBody>
      </p:sp>
      <p:sp>
        <p:nvSpPr>
          <p:cNvPr id="15" name="Shape 13"/>
          <p:cNvSpPr/>
          <p:nvPr/>
        </p:nvSpPr>
        <p:spPr>
          <a:xfrm>
            <a:off x="274320" y="3200400"/>
            <a:ext cx="4160520" cy="1691640"/>
          </a:xfrm>
          <a:prstGeom prst="roundRect">
            <a:avLst>
              <a:gd name="adj" fmla="val 648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6" name="Shape 14"/>
          <p:cNvSpPr/>
          <p:nvPr/>
        </p:nvSpPr>
        <p:spPr>
          <a:xfrm>
            <a:off x="438912" y="3383280"/>
            <a:ext cx="548640" cy="548640"/>
          </a:xfrm>
          <a:prstGeom prst="ellipse">
            <a:avLst/>
          </a:prstGeom>
          <a:solidFill>
            <a:srgbClr val="D97706"/>
          </a:solidFill>
          <a:ln w="12700">
            <a:solidFill>
              <a:srgbClr val="D97706"/>
            </a:solidFill>
            <a:prstDash val="solid"/>
          </a:ln>
        </p:spPr>
        <p:txBody>
          <a:bodyPr/>
          <a:lstStyle/>
          <a:p>
            <a:endParaRPr lang="en-AE"/>
          </a:p>
        </p:txBody>
      </p:sp>
      <p:sp>
        <p:nvSpPr>
          <p:cNvPr id="17" name="Text 15"/>
          <p:cNvSpPr/>
          <p:nvPr/>
        </p:nvSpPr>
        <p:spPr>
          <a:xfrm>
            <a:off x="438912" y="338328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8" name="Text 16"/>
          <p:cNvSpPr/>
          <p:nvPr/>
        </p:nvSpPr>
        <p:spPr>
          <a:xfrm>
            <a:off x="1097280" y="3401568"/>
            <a:ext cx="3154680" cy="36576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Simple Models Stay Competitive</a:t>
            </a:r>
            <a:endParaRPr lang="en-US" sz="1300" dirty="0"/>
          </a:p>
        </p:txBody>
      </p:sp>
      <p:sp>
        <p:nvSpPr>
          <p:cNvPr id="19" name="Text 17"/>
          <p:cNvSpPr/>
          <p:nvPr/>
        </p:nvSpPr>
        <p:spPr>
          <a:xfrm>
            <a:off x="438912" y="4005072"/>
            <a:ext cx="3840480" cy="7772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Linear Regression remains strong, especially at +1 and +3h, while STGNN only slightly exceeds LR at +2h – so higher complexity does not consistently dominate.</a:t>
            </a:r>
            <a:endParaRPr lang="en-US" sz="1100" dirty="0"/>
          </a:p>
        </p:txBody>
      </p:sp>
      <p:sp>
        <p:nvSpPr>
          <p:cNvPr id="20" name="Shape 18"/>
          <p:cNvSpPr/>
          <p:nvPr/>
        </p:nvSpPr>
        <p:spPr>
          <a:xfrm>
            <a:off x="4709160" y="3200400"/>
            <a:ext cx="4160520" cy="1691640"/>
          </a:xfrm>
          <a:prstGeom prst="roundRect">
            <a:avLst>
              <a:gd name="adj" fmla="val 648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1" name="Shape 19"/>
          <p:cNvSpPr/>
          <p:nvPr/>
        </p:nvSpPr>
        <p:spPr>
          <a:xfrm>
            <a:off x="4873752" y="3383280"/>
            <a:ext cx="548640" cy="548640"/>
          </a:xfrm>
          <a:prstGeom prst="ellipse">
            <a:avLst/>
          </a:prstGeom>
          <a:solidFill>
            <a:srgbClr val="0D7377"/>
          </a:solidFill>
          <a:ln w="12700">
            <a:solidFill>
              <a:srgbClr val="0D7377"/>
            </a:solidFill>
            <a:prstDash val="solid"/>
          </a:ln>
        </p:spPr>
        <p:txBody>
          <a:bodyPr/>
          <a:lstStyle/>
          <a:p>
            <a:endParaRPr lang="en-AE"/>
          </a:p>
        </p:txBody>
      </p:sp>
      <p:sp>
        <p:nvSpPr>
          <p:cNvPr id="22" name="Text 20"/>
          <p:cNvSpPr/>
          <p:nvPr/>
        </p:nvSpPr>
        <p:spPr>
          <a:xfrm>
            <a:off x="4873752" y="3383280"/>
            <a:ext cx="54864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3" name="Text 21"/>
          <p:cNvSpPr/>
          <p:nvPr/>
        </p:nvSpPr>
        <p:spPr>
          <a:xfrm>
            <a:off x="5532120" y="3401568"/>
            <a:ext cx="3154680" cy="365760"/>
          </a:xfrm>
          <a:prstGeom prst="rect">
            <a:avLst/>
          </a:prstGeom>
          <a:noFill/>
          <a:ln/>
        </p:spPr>
        <p:txBody>
          <a:bodyPr wrap="square" lIns="0" tIns="0" rIns="0" bIns="0" rtlCol="0" anchor="ctr"/>
          <a:lstStyle/>
          <a:p>
            <a:pPr marL="0" indent="0">
              <a:buNone/>
            </a:pPr>
            <a:r>
              <a:rPr lang="en-US" sz="1300" b="1" dirty="0">
                <a:solidFill>
                  <a:srgbClr val="0D7377"/>
                </a:solidFill>
                <a:latin typeface="Calibri" pitchFamily="34" charset="0"/>
                <a:ea typeface="Calibri" pitchFamily="34" charset="-122"/>
                <a:cs typeface="Calibri" pitchFamily="34" charset="-120"/>
              </a:rPr>
              <a:t>Practical Implication</a:t>
            </a:r>
            <a:endParaRPr lang="en-US" sz="1300" dirty="0"/>
          </a:p>
        </p:txBody>
      </p:sp>
      <p:sp>
        <p:nvSpPr>
          <p:cNvPr id="24" name="Text 22"/>
          <p:cNvSpPr/>
          <p:nvPr/>
        </p:nvSpPr>
        <p:spPr>
          <a:xfrm>
            <a:off x="4873752" y="4005072"/>
            <a:ext cx="3840480" cy="77724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Because the tree-based model gives the best accuracy with lower deployment complexity than LSTM and STGNN, it is the preferred choice for real-time forecasting.</a:t>
            </a:r>
            <a:endParaRPr lang="en-US" sz="1100" dirty="0"/>
          </a:p>
        </p:txBody>
      </p:sp>
      <p:sp>
        <p:nvSpPr>
          <p:cNvPr id="26" name="Text 23"/>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pic>
        <p:nvPicPr>
          <p:cNvPr id="25" name="image1.png" descr="University of Ontario Institute of Technology logo">
            <a:extLst>
              <a:ext uri="{FF2B5EF4-FFF2-40B4-BE49-F238E27FC236}">
                <a16:creationId xmlns:a16="http://schemas.microsoft.com/office/drawing/2014/main" id="{285F0ECA-4614-ED2B-2709-81F8CE7A7AF4}"/>
              </a:ext>
            </a:extLst>
          </p:cNvPr>
          <p:cNvPicPr/>
          <p:nvPr/>
        </p:nvPicPr>
        <p:blipFill>
          <a:blip r:embed="rId3"/>
          <a:srcRect/>
          <a:stretch>
            <a:fillRect/>
          </a:stretch>
        </p:blipFill>
        <p:spPr>
          <a:xfrm>
            <a:off x="7570692" y="98790"/>
            <a:ext cx="1416424" cy="404310"/>
          </a:xfrm>
          <a:prstGeom prst="rect">
            <a:avLst/>
          </a:prstGeo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7FBFF"/>
        </a:solidFill>
        <a:effectLst/>
      </p:bgPr>
    </p:bg>
    <p:spTree>
      <p:nvGrpSpPr>
        <p:cNvPr id="1" name=""/>
        <p:cNvGrpSpPr/>
        <p:nvPr/>
      </p:nvGrpSpPr>
      <p:grpSpPr>
        <a:xfrm>
          <a:off x="0" y="0"/>
          <a:ext cx="0" cy="0"/>
          <a:chOff x="0" y="0"/>
          <a:chExt cx="0" cy="0"/>
        </a:xfrm>
      </p:grpSpPr>
      <p:sp>
        <p:nvSpPr>
          <p:cNvPr id="3" name="Text 1"/>
          <p:cNvSpPr/>
          <p:nvPr/>
        </p:nvSpPr>
        <p:spPr>
          <a:xfrm>
            <a:off x="320040" y="414022"/>
            <a:ext cx="8503920" cy="548640"/>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Challenges Encountered</a:t>
            </a:r>
            <a:endParaRPr lang="en-US" sz="2200" dirty="0"/>
          </a:p>
        </p:txBody>
      </p:sp>
      <p:sp>
        <p:nvSpPr>
          <p:cNvPr id="5" name="Shape 3"/>
          <p:cNvSpPr/>
          <p:nvPr/>
        </p:nvSpPr>
        <p:spPr>
          <a:xfrm>
            <a:off x="274320" y="1188720"/>
            <a:ext cx="4160520" cy="1115568"/>
          </a:xfrm>
          <a:prstGeom prst="roundRect">
            <a:avLst>
              <a:gd name="adj" fmla="val 983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6" name="Shape 4"/>
          <p:cNvSpPr/>
          <p:nvPr/>
        </p:nvSpPr>
        <p:spPr>
          <a:xfrm>
            <a:off x="384048" y="1325880"/>
            <a:ext cx="457200" cy="457200"/>
          </a:xfrm>
          <a:prstGeom prst="roundRect">
            <a:avLst>
              <a:gd name="adj" fmla="val 16000"/>
            </a:avLst>
          </a:prstGeom>
          <a:solidFill>
            <a:srgbClr val="D97706">
              <a:alpha val="85000"/>
            </a:srgbClr>
          </a:solidFill>
          <a:ln w="12700">
            <a:solidFill>
              <a:srgbClr val="D97706"/>
            </a:solidFill>
            <a:prstDash val="solid"/>
          </a:ln>
        </p:spPr>
        <p:txBody>
          <a:bodyPr/>
          <a:lstStyle/>
          <a:p>
            <a:endParaRPr lang="en-AE"/>
          </a:p>
        </p:txBody>
      </p:sp>
      <p:pic>
        <p:nvPicPr>
          <p:cNvPr id="7" name="Image 0" descr="preencoded.png"/>
          <p:cNvPicPr>
            <a:picLocks noChangeAspect="1"/>
          </p:cNvPicPr>
          <p:nvPr/>
        </p:nvPicPr>
        <p:blipFill>
          <a:blip r:embed="rId3"/>
          <a:stretch>
            <a:fillRect/>
          </a:stretch>
        </p:blipFill>
        <p:spPr>
          <a:xfrm>
            <a:off x="438912" y="1380744"/>
            <a:ext cx="347472" cy="347472"/>
          </a:xfrm>
          <a:prstGeom prst="rect">
            <a:avLst/>
          </a:prstGeom>
        </p:spPr>
      </p:pic>
      <p:sp>
        <p:nvSpPr>
          <p:cNvPr id="8" name="Text 5"/>
          <p:cNvSpPr/>
          <p:nvPr/>
        </p:nvSpPr>
        <p:spPr>
          <a:xfrm>
            <a:off x="960120" y="1316736"/>
            <a:ext cx="3291840" cy="32004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Missing Sensor Data</a:t>
            </a:r>
            <a:endParaRPr lang="en-US" sz="1200" dirty="0"/>
          </a:p>
        </p:txBody>
      </p:sp>
      <p:sp>
        <p:nvSpPr>
          <p:cNvPr id="9" name="Text 6"/>
          <p:cNvSpPr/>
          <p:nvPr/>
        </p:nvSpPr>
        <p:spPr>
          <a:xfrm>
            <a:off x="960120" y="1645920"/>
            <a:ext cx="3291840" cy="5943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PM₂.₅ and meteorological gaps required forward-only interpolation and nearest-station matching to avoid leakage while maintaining continuity.</a:t>
            </a:r>
            <a:endParaRPr lang="en-US" sz="1050" dirty="0"/>
          </a:p>
        </p:txBody>
      </p:sp>
      <p:sp>
        <p:nvSpPr>
          <p:cNvPr id="10" name="Shape 7"/>
          <p:cNvSpPr/>
          <p:nvPr/>
        </p:nvSpPr>
        <p:spPr>
          <a:xfrm>
            <a:off x="4709160" y="1188720"/>
            <a:ext cx="4160520" cy="1115568"/>
          </a:xfrm>
          <a:prstGeom prst="roundRect">
            <a:avLst>
              <a:gd name="adj" fmla="val 983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1" name="Shape 8"/>
          <p:cNvSpPr/>
          <p:nvPr/>
        </p:nvSpPr>
        <p:spPr>
          <a:xfrm>
            <a:off x="4818888" y="1325880"/>
            <a:ext cx="457200" cy="457200"/>
          </a:xfrm>
          <a:prstGeom prst="roundRect">
            <a:avLst>
              <a:gd name="adj" fmla="val 16000"/>
            </a:avLst>
          </a:prstGeom>
          <a:solidFill>
            <a:srgbClr val="D97706">
              <a:alpha val="85000"/>
            </a:srgbClr>
          </a:solidFill>
          <a:ln w="12700">
            <a:solidFill>
              <a:srgbClr val="D97706"/>
            </a:solidFill>
            <a:prstDash val="solid"/>
          </a:ln>
        </p:spPr>
        <p:txBody>
          <a:bodyPr/>
          <a:lstStyle/>
          <a:p>
            <a:endParaRPr lang="en-AE"/>
          </a:p>
        </p:txBody>
      </p:sp>
      <p:pic>
        <p:nvPicPr>
          <p:cNvPr id="12" name="Image 1" descr="preencoded.png"/>
          <p:cNvPicPr>
            <a:picLocks noChangeAspect="1"/>
          </p:cNvPicPr>
          <p:nvPr/>
        </p:nvPicPr>
        <p:blipFill>
          <a:blip r:embed="rId3"/>
          <a:stretch>
            <a:fillRect/>
          </a:stretch>
        </p:blipFill>
        <p:spPr>
          <a:xfrm>
            <a:off x="4873752" y="1380744"/>
            <a:ext cx="347472" cy="347472"/>
          </a:xfrm>
          <a:prstGeom prst="rect">
            <a:avLst/>
          </a:prstGeom>
        </p:spPr>
      </p:pic>
      <p:sp>
        <p:nvSpPr>
          <p:cNvPr id="13" name="Text 9"/>
          <p:cNvSpPr/>
          <p:nvPr/>
        </p:nvSpPr>
        <p:spPr>
          <a:xfrm>
            <a:off x="5394960" y="1316736"/>
            <a:ext cx="3291840" cy="32004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Circular Wind Direction</a:t>
            </a:r>
            <a:endParaRPr lang="en-US" sz="1200" dirty="0"/>
          </a:p>
        </p:txBody>
      </p:sp>
      <p:sp>
        <p:nvSpPr>
          <p:cNvPr id="14" name="Text 10"/>
          <p:cNvSpPr/>
          <p:nvPr/>
        </p:nvSpPr>
        <p:spPr>
          <a:xfrm>
            <a:off x="5394960" y="1645920"/>
            <a:ext cx="3291840" cy="5943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Raw wind direction (0–360°) has a discontinuity at the wrap-around point; resolved via u/v Cartesian decomposition before modelling.</a:t>
            </a:r>
            <a:endParaRPr lang="en-US" sz="1050" dirty="0"/>
          </a:p>
        </p:txBody>
      </p:sp>
      <p:sp>
        <p:nvSpPr>
          <p:cNvPr id="15" name="Shape 11"/>
          <p:cNvSpPr/>
          <p:nvPr/>
        </p:nvSpPr>
        <p:spPr>
          <a:xfrm>
            <a:off x="274320" y="2487168"/>
            <a:ext cx="4160520" cy="1115568"/>
          </a:xfrm>
          <a:prstGeom prst="roundRect">
            <a:avLst>
              <a:gd name="adj" fmla="val 983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16" name="Shape 12"/>
          <p:cNvSpPr/>
          <p:nvPr/>
        </p:nvSpPr>
        <p:spPr>
          <a:xfrm>
            <a:off x="384048" y="2624328"/>
            <a:ext cx="457200" cy="457200"/>
          </a:xfrm>
          <a:prstGeom prst="roundRect">
            <a:avLst>
              <a:gd name="adj" fmla="val 16000"/>
            </a:avLst>
          </a:prstGeom>
          <a:solidFill>
            <a:srgbClr val="1C4E80">
              <a:alpha val="85000"/>
            </a:srgbClr>
          </a:solidFill>
          <a:ln w="12700">
            <a:solidFill>
              <a:srgbClr val="1C4E80"/>
            </a:solidFill>
            <a:prstDash val="solid"/>
          </a:ln>
        </p:spPr>
        <p:txBody>
          <a:bodyPr/>
          <a:lstStyle/>
          <a:p>
            <a:endParaRPr lang="en-AE"/>
          </a:p>
        </p:txBody>
      </p:sp>
      <p:pic>
        <p:nvPicPr>
          <p:cNvPr id="17" name="Image 2" descr="preencoded.png"/>
          <p:cNvPicPr>
            <a:picLocks noChangeAspect="1"/>
          </p:cNvPicPr>
          <p:nvPr/>
        </p:nvPicPr>
        <p:blipFill>
          <a:blip r:embed="rId3"/>
          <a:stretch>
            <a:fillRect/>
          </a:stretch>
        </p:blipFill>
        <p:spPr>
          <a:xfrm>
            <a:off x="438912" y="2679192"/>
            <a:ext cx="347472" cy="347472"/>
          </a:xfrm>
          <a:prstGeom prst="rect">
            <a:avLst/>
          </a:prstGeom>
        </p:spPr>
      </p:pic>
      <p:sp>
        <p:nvSpPr>
          <p:cNvPr id="18" name="Text 13"/>
          <p:cNvSpPr/>
          <p:nvPr/>
        </p:nvSpPr>
        <p:spPr>
          <a:xfrm>
            <a:off x="960120" y="2615184"/>
            <a:ext cx="3291840" cy="320040"/>
          </a:xfrm>
          <a:prstGeom prst="rect">
            <a:avLst/>
          </a:prstGeom>
          <a:noFill/>
          <a:ln/>
        </p:spPr>
        <p:txBody>
          <a:bodyPr wrap="square" lIns="0" tIns="0" rIns="0" bIns="0"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Fair Multi-Model Comparison</a:t>
            </a:r>
            <a:endParaRPr lang="en-US" sz="1200" dirty="0"/>
          </a:p>
        </p:txBody>
      </p:sp>
      <p:sp>
        <p:nvSpPr>
          <p:cNvPr id="19" name="Text 14"/>
          <p:cNvSpPr/>
          <p:nvPr/>
        </p:nvSpPr>
        <p:spPr>
          <a:xfrm>
            <a:off x="960120" y="2944368"/>
            <a:ext cx="3291840" cy="5943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Ensuring Linear Regression, RF, LSTM, and STGNN all received an identical, leakage-free feature set required a decoupled feature-extraction design.</a:t>
            </a:r>
            <a:endParaRPr lang="en-US" sz="1050" dirty="0"/>
          </a:p>
        </p:txBody>
      </p:sp>
      <p:sp>
        <p:nvSpPr>
          <p:cNvPr id="20" name="Shape 15"/>
          <p:cNvSpPr/>
          <p:nvPr/>
        </p:nvSpPr>
        <p:spPr>
          <a:xfrm>
            <a:off x="4709160" y="2487168"/>
            <a:ext cx="4160520" cy="1115568"/>
          </a:xfrm>
          <a:prstGeom prst="roundRect">
            <a:avLst>
              <a:gd name="adj" fmla="val 983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1" name="Shape 16"/>
          <p:cNvSpPr/>
          <p:nvPr/>
        </p:nvSpPr>
        <p:spPr>
          <a:xfrm>
            <a:off x="4818888" y="2624328"/>
            <a:ext cx="457200" cy="457200"/>
          </a:xfrm>
          <a:prstGeom prst="roundRect">
            <a:avLst>
              <a:gd name="adj" fmla="val 16000"/>
            </a:avLst>
          </a:prstGeom>
          <a:solidFill>
            <a:srgbClr val="1C4E80">
              <a:alpha val="85000"/>
            </a:srgbClr>
          </a:solidFill>
          <a:ln w="12700">
            <a:solidFill>
              <a:srgbClr val="1C4E80"/>
            </a:solidFill>
            <a:prstDash val="solid"/>
          </a:ln>
        </p:spPr>
        <p:txBody>
          <a:bodyPr/>
          <a:lstStyle/>
          <a:p>
            <a:endParaRPr lang="en-AE"/>
          </a:p>
        </p:txBody>
      </p:sp>
      <p:pic>
        <p:nvPicPr>
          <p:cNvPr id="22" name="Image 3" descr="preencoded.png"/>
          <p:cNvPicPr>
            <a:picLocks noChangeAspect="1"/>
          </p:cNvPicPr>
          <p:nvPr/>
        </p:nvPicPr>
        <p:blipFill>
          <a:blip r:embed="rId3"/>
          <a:stretch>
            <a:fillRect/>
          </a:stretch>
        </p:blipFill>
        <p:spPr>
          <a:xfrm>
            <a:off x="4873752" y="2679192"/>
            <a:ext cx="347472" cy="347472"/>
          </a:xfrm>
          <a:prstGeom prst="rect">
            <a:avLst/>
          </a:prstGeom>
        </p:spPr>
      </p:pic>
      <p:sp>
        <p:nvSpPr>
          <p:cNvPr id="23" name="Text 17"/>
          <p:cNvSpPr/>
          <p:nvPr/>
        </p:nvSpPr>
        <p:spPr>
          <a:xfrm>
            <a:off x="5394960" y="2615184"/>
            <a:ext cx="3291840" cy="320040"/>
          </a:xfrm>
          <a:prstGeom prst="rect">
            <a:avLst/>
          </a:prstGeom>
          <a:noFill/>
          <a:ln/>
        </p:spPr>
        <p:txBody>
          <a:bodyPr wrap="square" lIns="0" tIns="0" rIns="0" bIns="0" rtlCol="0" anchor="ctr"/>
          <a:lstStyle/>
          <a:p>
            <a:pPr marL="0" indent="0">
              <a:buNone/>
            </a:pPr>
            <a:r>
              <a:rPr lang="en-US" sz="1200" b="1" dirty="0">
                <a:solidFill>
                  <a:srgbClr val="1C4E80"/>
                </a:solidFill>
                <a:latin typeface="Calibri" pitchFamily="34" charset="0"/>
                <a:ea typeface="Calibri" pitchFamily="34" charset="-122"/>
                <a:cs typeface="Calibri" pitchFamily="34" charset="-120"/>
              </a:rPr>
              <a:t>Sequence Model Complexity</a:t>
            </a:r>
            <a:endParaRPr lang="en-US" sz="1200" dirty="0"/>
          </a:p>
        </p:txBody>
      </p:sp>
      <p:sp>
        <p:nvSpPr>
          <p:cNvPr id="24" name="Text 18"/>
          <p:cNvSpPr/>
          <p:nvPr/>
        </p:nvSpPr>
        <p:spPr>
          <a:xfrm>
            <a:off x="5394960" y="2944368"/>
            <a:ext cx="3291840" cy="5943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LSTM and STGNN required careful 12-hour lookback window construction and graph edge recomputation at every timestep</a:t>
            </a:r>
            <a:endParaRPr lang="en-US" sz="1050" dirty="0"/>
          </a:p>
        </p:txBody>
      </p:sp>
      <p:sp>
        <p:nvSpPr>
          <p:cNvPr id="25" name="Shape 19"/>
          <p:cNvSpPr/>
          <p:nvPr/>
        </p:nvSpPr>
        <p:spPr>
          <a:xfrm>
            <a:off x="274320" y="3785616"/>
            <a:ext cx="4160520" cy="1115568"/>
          </a:xfrm>
          <a:prstGeom prst="roundRect">
            <a:avLst>
              <a:gd name="adj" fmla="val 983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26" name="Shape 20"/>
          <p:cNvSpPr/>
          <p:nvPr/>
        </p:nvSpPr>
        <p:spPr>
          <a:xfrm>
            <a:off x="384048" y="3922776"/>
            <a:ext cx="457200" cy="457200"/>
          </a:xfrm>
          <a:prstGeom prst="roundRect">
            <a:avLst>
              <a:gd name="adj" fmla="val 16000"/>
            </a:avLst>
          </a:prstGeom>
          <a:solidFill>
            <a:srgbClr val="64748B">
              <a:alpha val="85000"/>
            </a:srgbClr>
          </a:solidFill>
          <a:ln w="12700">
            <a:solidFill>
              <a:srgbClr val="64748B"/>
            </a:solidFill>
            <a:prstDash val="solid"/>
          </a:ln>
        </p:spPr>
        <p:txBody>
          <a:bodyPr/>
          <a:lstStyle/>
          <a:p>
            <a:endParaRPr lang="en-AE"/>
          </a:p>
        </p:txBody>
      </p:sp>
      <p:pic>
        <p:nvPicPr>
          <p:cNvPr id="27" name="Image 4" descr="preencoded.png"/>
          <p:cNvPicPr>
            <a:picLocks noChangeAspect="1"/>
          </p:cNvPicPr>
          <p:nvPr/>
        </p:nvPicPr>
        <p:blipFill>
          <a:blip r:embed="rId3"/>
          <a:stretch>
            <a:fillRect/>
          </a:stretch>
        </p:blipFill>
        <p:spPr>
          <a:xfrm>
            <a:off x="438912" y="3977640"/>
            <a:ext cx="347472" cy="347472"/>
          </a:xfrm>
          <a:prstGeom prst="rect">
            <a:avLst/>
          </a:prstGeom>
        </p:spPr>
      </p:pic>
      <p:sp>
        <p:nvSpPr>
          <p:cNvPr id="28" name="Text 21"/>
          <p:cNvSpPr/>
          <p:nvPr/>
        </p:nvSpPr>
        <p:spPr>
          <a:xfrm>
            <a:off x="960120" y="3913632"/>
            <a:ext cx="3291840" cy="32004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Real-Time Latency Constraints</a:t>
            </a:r>
            <a:endParaRPr lang="en-US" sz="1200" dirty="0"/>
          </a:p>
        </p:txBody>
      </p:sp>
      <p:sp>
        <p:nvSpPr>
          <p:cNvPr id="29" name="Text 22"/>
          <p:cNvSpPr/>
          <p:nvPr/>
        </p:nvSpPr>
        <p:spPr>
          <a:xfrm>
            <a:off x="960120" y="4242816"/>
            <a:ext cx="3291840" cy="5943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Balancing the 60-minute OpenAQ polling interval against the goal of “near-real-time” forecasting required careful staging across Kafka topics.</a:t>
            </a:r>
            <a:endParaRPr lang="en-US" sz="1050" dirty="0"/>
          </a:p>
        </p:txBody>
      </p:sp>
      <p:sp>
        <p:nvSpPr>
          <p:cNvPr id="30" name="Shape 23"/>
          <p:cNvSpPr/>
          <p:nvPr/>
        </p:nvSpPr>
        <p:spPr>
          <a:xfrm>
            <a:off x="4709160" y="3785616"/>
            <a:ext cx="4160520" cy="1115568"/>
          </a:xfrm>
          <a:prstGeom prst="roundRect">
            <a:avLst>
              <a:gd name="adj" fmla="val 9836"/>
            </a:avLst>
          </a:prstGeom>
          <a:solidFill>
            <a:srgbClr val="FFFFFF"/>
          </a:solidFill>
          <a:ln w="6350">
            <a:solidFill>
              <a:srgbClr val="CBD5E1"/>
            </a:solidFill>
            <a:prstDash val="solid"/>
          </a:ln>
          <a:effectLst>
            <a:outerShdw blurRad="101600" dist="25400" dir="2700000" algn="bl" rotWithShape="0">
              <a:srgbClr val="000000">
                <a:alpha val="10000"/>
              </a:srgbClr>
            </a:outerShdw>
          </a:effectLst>
        </p:spPr>
        <p:txBody>
          <a:bodyPr/>
          <a:lstStyle/>
          <a:p>
            <a:endParaRPr lang="en-AE"/>
          </a:p>
        </p:txBody>
      </p:sp>
      <p:sp>
        <p:nvSpPr>
          <p:cNvPr id="31" name="Shape 24"/>
          <p:cNvSpPr/>
          <p:nvPr/>
        </p:nvSpPr>
        <p:spPr>
          <a:xfrm>
            <a:off x="4818888" y="3922776"/>
            <a:ext cx="457200" cy="457200"/>
          </a:xfrm>
          <a:prstGeom prst="roundRect">
            <a:avLst>
              <a:gd name="adj" fmla="val 16000"/>
            </a:avLst>
          </a:prstGeom>
          <a:solidFill>
            <a:srgbClr val="64748B">
              <a:alpha val="85000"/>
            </a:srgbClr>
          </a:solidFill>
          <a:ln w="12700">
            <a:solidFill>
              <a:srgbClr val="64748B"/>
            </a:solidFill>
            <a:prstDash val="solid"/>
          </a:ln>
        </p:spPr>
        <p:txBody>
          <a:bodyPr/>
          <a:lstStyle/>
          <a:p>
            <a:endParaRPr lang="en-AE"/>
          </a:p>
        </p:txBody>
      </p:sp>
      <p:pic>
        <p:nvPicPr>
          <p:cNvPr id="32" name="Image 5" descr="preencoded.png"/>
          <p:cNvPicPr>
            <a:picLocks noChangeAspect="1"/>
          </p:cNvPicPr>
          <p:nvPr/>
        </p:nvPicPr>
        <p:blipFill>
          <a:blip r:embed="rId3"/>
          <a:stretch>
            <a:fillRect/>
          </a:stretch>
        </p:blipFill>
        <p:spPr>
          <a:xfrm>
            <a:off x="4873752" y="3977640"/>
            <a:ext cx="347472" cy="347472"/>
          </a:xfrm>
          <a:prstGeom prst="rect">
            <a:avLst/>
          </a:prstGeom>
        </p:spPr>
      </p:pic>
      <p:sp>
        <p:nvSpPr>
          <p:cNvPr id="33" name="Text 25"/>
          <p:cNvSpPr/>
          <p:nvPr/>
        </p:nvSpPr>
        <p:spPr>
          <a:xfrm>
            <a:off x="5394960" y="3913632"/>
            <a:ext cx="3291840" cy="32004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Limited Station Network</a:t>
            </a:r>
            <a:endParaRPr lang="en-US" sz="1200" dirty="0"/>
          </a:p>
        </p:txBody>
      </p:sp>
      <p:sp>
        <p:nvSpPr>
          <p:cNvPr id="34" name="Text 26"/>
          <p:cNvSpPr/>
          <p:nvPr/>
        </p:nvSpPr>
        <p:spPr>
          <a:xfrm>
            <a:off x="5394960" y="4242816"/>
            <a:ext cx="3291840" cy="5943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Only 3 active Toronto stations restrict the density of the wind-aware graph, limiting how richly spatial transport can be modelled.</a:t>
            </a:r>
            <a:endParaRPr lang="en-US" sz="1050" dirty="0"/>
          </a:p>
        </p:txBody>
      </p:sp>
      <p:sp>
        <p:nvSpPr>
          <p:cNvPr id="36" name="Text 27"/>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pic>
        <p:nvPicPr>
          <p:cNvPr id="35" name="image1.png" descr="University of Ontario Institute of Technology logo">
            <a:extLst>
              <a:ext uri="{FF2B5EF4-FFF2-40B4-BE49-F238E27FC236}">
                <a16:creationId xmlns:a16="http://schemas.microsoft.com/office/drawing/2014/main" id="{79510F29-A850-3114-7D00-662BC2E99D19}"/>
              </a:ext>
            </a:extLst>
          </p:cNvPr>
          <p:cNvPicPr/>
          <p:nvPr/>
        </p:nvPicPr>
        <p:blipFill>
          <a:blip r:embed="rId4"/>
          <a:srcRect/>
          <a:stretch>
            <a:fillRect/>
          </a:stretch>
        </p:blipFill>
        <p:spPr>
          <a:xfrm>
            <a:off x="7570692" y="98790"/>
            <a:ext cx="1416424" cy="404310"/>
          </a:xfrm>
          <a:prstGeom prst="rect">
            <a:avLst/>
          </a:prstGeo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5" name="Text 3"/>
          <p:cNvSpPr/>
          <p:nvPr/>
        </p:nvSpPr>
        <p:spPr>
          <a:xfrm>
            <a:off x="960120" y="896112"/>
            <a:ext cx="7680960" cy="3200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Linear Regression with wind-aware diffusion features reaches R²=0.913 — virtually identical to STGNN's R²=0.912 at 1-hour horizon</a:t>
            </a:r>
            <a:endParaRPr lang="en-US" sz="1150" dirty="0"/>
          </a:p>
        </p:txBody>
      </p:sp>
      <p:sp>
        <p:nvSpPr>
          <p:cNvPr id="7" name="Text 5"/>
          <p:cNvSpPr/>
          <p:nvPr/>
        </p:nvSpPr>
        <p:spPr>
          <a:xfrm>
            <a:off x="960120" y="1280160"/>
            <a:ext cx="7680960" cy="3200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gap between LR and STGNN remains negligible at 2h and 3h horizons too, holding across all tested forecast windows</a:t>
            </a:r>
            <a:endParaRPr lang="en-US" sz="1150" dirty="0"/>
          </a:p>
        </p:txBody>
      </p:sp>
      <p:sp>
        <p:nvSpPr>
          <p:cNvPr id="9" name="Text 7"/>
          <p:cNvSpPr/>
          <p:nvPr/>
        </p:nvSpPr>
        <p:spPr>
          <a:xfrm>
            <a:off x="960120" y="1664208"/>
            <a:ext cx="7680960" cy="3200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The Kafka-based pipeline sustained 100% request success rate from 1 to 50 concurrent users, confirming real-time viability</a:t>
            </a:r>
            <a:endParaRPr lang="en-US" sz="1150" dirty="0"/>
          </a:p>
        </p:txBody>
      </p:sp>
      <p:sp>
        <p:nvSpPr>
          <p:cNvPr id="11" name="Text 9"/>
          <p:cNvSpPr/>
          <p:nvPr/>
        </p:nvSpPr>
        <p:spPr>
          <a:xfrm>
            <a:off x="960120" y="2048256"/>
            <a:ext cx="7680960" cy="32004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Physically informed feature engineering can substitute for architectural complexity in short-term PM₂.₅ forecasting</a:t>
            </a:r>
            <a:endParaRPr lang="en-US" sz="1150" dirty="0"/>
          </a:p>
        </p:txBody>
      </p:sp>
      <p:sp>
        <p:nvSpPr>
          <p:cNvPr id="12" name="Text 10"/>
          <p:cNvSpPr/>
          <p:nvPr/>
        </p:nvSpPr>
        <p:spPr>
          <a:xfrm>
            <a:off x="457200" y="412750"/>
            <a:ext cx="8229600" cy="365760"/>
          </a:xfrm>
          <a:prstGeom prst="rect">
            <a:avLst/>
          </a:prstGeom>
          <a:noFill/>
          <a:ln/>
        </p:spPr>
        <p:txBody>
          <a:bodyPr wrap="square" rtlCol="0" anchor="ctr"/>
          <a:lstStyle/>
          <a:p>
            <a:pPr marL="0" indent="0">
              <a:buNone/>
            </a:pPr>
            <a:r>
              <a:rPr lang="en-US" sz="2200" b="1" dirty="0">
                <a:latin typeface="Calibri" pitchFamily="34" charset="0"/>
                <a:ea typeface="Calibri" pitchFamily="34" charset="-122"/>
                <a:cs typeface="Calibri" pitchFamily="34" charset="-120"/>
              </a:rPr>
              <a:t>Future Work</a:t>
            </a:r>
            <a:endParaRPr lang="en-US" sz="2200" dirty="0"/>
          </a:p>
        </p:txBody>
      </p:sp>
      <p:sp>
        <p:nvSpPr>
          <p:cNvPr id="13" name="Shape 11"/>
          <p:cNvSpPr/>
          <p:nvPr/>
        </p:nvSpPr>
        <p:spPr>
          <a:xfrm>
            <a:off x="1545336" y="1028700"/>
            <a:ext cx="2854960" cy="1508760"/>
          </a:xfrm>
          <a:prstGeom prst="roundRect">
            <a:avLst>
              <a:gd name="adj" fmla="val 7273"/>
            </a:avLst>
          </a:prstGeom>
          <a:solidFill>
            <a:srgbClr val="162D50"/>
          </a:solidFill>
          <a:ln w="6350">
            <a:solidFill>
              <a:srgbClr val="1C4E80"/>
            </a:solidFill>
            <a:prstDash val="solid"/>
          </a:ln>
        </p:spPr>
        <p:txBody>
          <a:bodyPr/>
          <a:lstStyle/>
          <a:p>
            <a:endParaRPr lang="en-AE"/>
          </a:p>
        </p:txBody>
      </p:sp>
      <p:sp>
        <p:nvSpPr>
          <p:cNvPr id="14" name="Text 12"/>
          <p:cNvSpPr/>
          <p:nvPr/>
        </p:nvSpPr>
        <p:spPr>
          <a:xfrm>
            <a:off x="1972310" y="1120140"/>
            <a:ext cx="1810512" cy="329184"/>
          </a:xfrm>
          <a:prstGeom prst="rect">
            <a:avLst/>
          </a:prstGeom>
          <a:noFill/>
          <a:ln/>
        </p:spPr>
        <p:txBody>
          <a:bodyPr wrap="square" rtlCol="0" anchor="ctr"/>
          <a:lstStyle/>
          <a:p>
            <a:pPr marL="0" indent="0" algn="ctr">
              <a:buNone/>
            </a:pPr>
            <a:r>
              <a:rPr lang="en-US" sz="1700" b="1" dirty="0">
                <a:solidFill>
                  <a:srgbClr val="00A8E8"/>
                </a:solidFill>
                <a:latin typeface="Calibri" pitchFamily="34" charset="0"/>
                <a:ea typeface="Calibri" pitchFamily="34" charset="-122"/>
                <a:cs typeface="Calibri" pitchFamily="34" charset="-120"/>
              </a:rPr>
              <a:t>01</a:t>
            </a:r>
            <a:endParaRPr lang="en-US" sz="1700" dirty="0"/>
          </a:p>
        </p:txBody>
      </p:sp>
      <p:sp>
        <p:nvSpPr>
          <p:cNvPr id="15" name="Text 13"/>
          <p:cNvSpPr/>
          <p:nvPr/>
        </p:nvSpPr>
        <p:spPr>
          <a:xfrm>
            <a:off x="1972310" y="1467612"/>
            <a:ext cx="1810512"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Terrain &amp; Elevation</a:t>
            </a:r>
            <a:endParaRPr lang="en-US" sz="1200" dirty="0"/>
          </a:p>
        </p:txBody>
      </p:sp>
      <p:sp>
        <p:nvSpPr>
          <p:cNvPr id="16" name="Text 14"/>
          <p:cNvSpPr/>
          <p:nvPr/>
        </p:nvSpPr>
        <p:spPr>
          <a:xfrm>
            <a:off x="1972310" y="1778508"/>
            <a:ext cx="1810512" cy="685800"/>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Add topography-aware features inspired by TopoFlow</a:t>
            </a:r>
            <a:endParaRPr lang="en-US" sz="1200" dirty="0"/>
          </a:p>
        </p:txBody>
      </p:sp>
      <p:sp>
        <p:nvSpPr>
          <p:cNvPr id="21" name="Shape 19"/>
          <p:cNvSpPr/>
          <p:nvPr/>
        </p:nvSpPr>
        <p:spPr>
          <a:xfrm>
            <a:off x="1567180" y="2876550"/>
            <a:ext cx="2854960" cy="1508760"/>
          </a:xfrm>
          <a:prstGeom prst="roundRect">
            <a:avLst>
              <a:gd name="adj" fmla="val 7273"/>
            </a:avLst>
          </a:prstGeom>
          <a:solidFill>
            <a:srgbClr val="162D50"/>
          </a:solidFill>
          <a:ln w="6350">
            <a:solidFill>
              <a:srgbClr val="1C4E80"/>
            </a:solidFill>
            <a:prstDash val="solid"/>
          </a:ln>
        </p:spPr>
        <p:txBody>
          <a:bodyPr/>
          <a:lstStyle/>
          <a:p>
            <a:endParaRPr lang="en-AE"/>
          </a:p>
        </p:txBody>
      </p:sp>
      <p:sp>
        <p:nvSpPr>
          <p:cNvPr id="22" name="Text 20"/>
          <p:cNvSpPr/>
          <p:nvPr/>
        </p:nvSpPr>
        <p:spPr>
          <a:xfrm>
            <a:off x="2013204" y="2967990"/>
            <a:ext cx="1810512" cy="329184"/>
          </a:xfrm>
          <a:prstGeom prst="rect">
            <a:avLst/>
          </a:prstGeom>
          <a:noFill/>
          <a:ln/>
        </p:spPr>
        <p:txBody>
          <a:bodyPr wrap="square" rtlCol="0" anchor="ctr"/>
          <a:lstStyle/>
          <a:p>
            <a:pPr marL="0" indent="0" algn="ctr">
              <a:buNone/>
            </a:pPr>
            <a:r>
              <a:rPr lang="en-US" sz="1700" b="1" dirty="0">
                <a:solidFill>
                  <a:srgbClr val="00A8E8"/>
                </a:solidFill>
                <a:latin typeface="Calibri" pitchFamily="34" charset="0"/>
                <a:ea typeface="Calibri" pitchFamily="34" charset="-122"/>
                <a:cs typeface="Calibri" pitchFamily="34" charset="-120"/>
              </a:rPr>
              <a:t>03</a:t>
            </a:r>
            <a:endParaRPr lang="en-US" sz="1700" dirty="0"/>
          </a:p>
        </p:txBody>
      </p:sp>
      <p:sp>
        <p:nvSpPr>
          <p:cNvPr id="23" name="Text 21"/>
          <p:cNvSpPr/>
          <p:nvPr/>
        </p:nvSpPr>
        <p:spPr>
          <a:xfrm>
            <a:off x="2013204" y="3315462"/>
            <a:ext cx="1810512"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Larger Networks</a:t>
            </a:r>
            <a:endParaRPr lang="en-US" sz="1200" dirty="0"/>
          </a:p>
        </p:txBody>
      </p:sp>
      <p:sp>
        <p:nvSpPr>
          <p:cNvPr id="24" name="Text 22"/>
          <p:cNvSpPr/>
          <p:nvPr/>
        </p:nvSpPr>
        <p:spPr>
          <a:xfrm>
            <a:off x="2013204" y="3626358"/>
            <a:ext cx="1810512" cy="685800"/>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More stations, broader geographic regions</a:t>
            </a:r>
            <a:endParaRPr lang="en-US" sz="1200" dirty="0"/>
          </a:p>
        </p:txBody>
      </p:sp>
      <p:sp>
        <p:nvSpPr>
          <p:cNvPr id="25" name="Shape 23"/>
          <p:cNvSpPr/>
          <p:nvPr/>
        </p:nvSpPr>
        <p:spPr>
          <a:xfrm>
            <a:off x="4905502" y="2876550"/>
            <a:ext cx="2854960" cy="1508760"/>
          </a:xfrm>
          <a:prstGeom prst="roundRect">
            <a:avLst>
              <a:gd name="adj" fmla="val 7273"/>
            </a:avLst>
          </a:prstGeom>
          <a:solidFill>
            <a:srgbClr val="162D50"/>
          </a:solidFill>
          <a:ln w="6350">
            <a:solidFill>
              <a:srgbClr val="1C4E80"/>
            </a:solidFill>
            <a:prstDash val="solid"/>
          </a:ln>
        </p:spPr>
        <p:txBody>
          <a:bodyPr/>
          <a:lstStyle/>
          <a:p>
            <a:endParaRPr lang="en-AE"/>
          </a:p>
        </p:txBody>
      </p:sp>
      <p:sp>
        <p:nvSpPr>
          <p:cNvPr id="26" name="Text 24"/>
          <p:cNvSpPr/>
          <p:nvPr/>
        </p:nvSpPr>
        <p:spPr>
          <a:xfrm>
            <a:off x="5383276" y="2967990"/>
            <a:ext cx="1810512" cy="329184"/>
          </a:xfrm>
          <a:prstGeom prst="rect">
            <a:avLst/>
          </a:prstGeom>
          <a:noFill/>
          <a:ln/>
        </p:spPr>
        <p:txBody>
          <a:bodyPr wrap="square" rtlCol="0" anchor="ctr"/>
          <a:lstStyle/>
          <a:p>
            <a:pPr marL="0" indent="0" algn="ctr">
              <a:buNone/>
            </a:pPr>
            <a:r>
              <a:rPr lang="en-US" sz="1700" b="1" dirty="0">
                <a:solidFill>
                  <a:srgbClr val="00A8E8"/>
                </a:solidFill>
                <a:latin typeface="Calibri" pitchFamily="34" charset="0"/>
                <a:ea typeface="Calibri" pitchFamily="34" charset="-122"/>
                <a:cs typeface="Calibri" pitchFamily="34" charset="-120"/>
              </a:rPr>
              <a:t>04</a:t>
            </a:r>
            <a:endParaRPr lang="en-US" sz="1700" dirty="0"/>
          </a:p>
        </p:txBody>
      </p:sp>
      <p:sp>
        <p:nvSpPr>
          <p:cNvPr id="27" name="Text 25"/>
          <p:cNvSpPr/>
          <p:nvPr/>
        </p:nvSpPr>
        <p:spPr>
          <a:xfrm>
            <a:off x="5383276" y="3315462"/>
            <a:ext cx="1810512"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Hybrid Architectures</a:t>
            </a:r>
            <a:endParaRPr lang="en-US" sz="1200" dirty="0"/>
          </a:p>
        </p:txBody>
      </p:sp>
      <p:sp>
        <p:nvSpPr>
          <p:cNvPr id="28" name="Text 26"/>
          <p:cNvSpPr/>
          <p:nvPr/>
        </p:nvSpPr>
        <p:spPr>
          <a:xfrm>
            <a:off x="5383276" y="3626358"/>
            <a:ext cx="1810512" cy="685800"/>
          </a:xfrm>
          <a:prstGeom prst="rect">
            <a:avLst/>
          </a:prstGeom>
          <a:noFill/>
          <a:ln/>
        </p:spPr>
        <p:txBody>
          <a:bodyPr wrap="square"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Combine diffusion features with GNN/Transformer models</a:t>
            </a:r>
            <a:endParaRPr lang="en-US" sz="1200" dirty="0"/>
          </a:p>
        </p:txBody>
      </p:sp>
      <p:sp>
        <p:nvSpPr>
          <p:cNvPr id="30" name="Text 27"/>
          <p:cNvSpPr/>
          <p:nvPr/>
        </p:nvSpPr>
        <p:spPr>
          <a:xfrm>
            <a:off x="8732520" y="4864608"/>
            <a:ext cx="365760" cy="256032"/>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pic>
        <p:nvPicPr>
          <p:cNvPr id="29" name="image1.png" descr="University of Ontario Institute of Technology logo">
            <a:extLst>
              <a:ext uri="{FF2B5EF4-FFF2-40B4-BE49-F238E27FC236}">
                <a16:creationId xmlns:a16="http://schemas.microsoft.com/office/drawing/2014/main" id="{53F61C06-CBE3-8F13-AF9E-F49DA8816401}"/>
              </a:ext>
            </a:extLst>
          </p:cNvPr>
          <p:cNvPicPr/>
          <p:nvPr/>
        </p:nvPicPr>
        <p:blipFill>
          <a:blip r:embed="rId3"/>
          <a:srcRect/>
          <a:stretch>
            <a:fillRect/>
          </a:stretch>
        </p:blipFill>
        <p:spPr>
          <a:xfrm>
            <a:off x="7570692" y="98790"/>
            <a:ext cx="1416424" cy="404310"/>
          </a:xfrm>
          <a:prstGeom prst="rect">
            <a:avLst/>
          </a:prstGeom>
          <a:ln/>
        </p:spPr>
      </p:pic>
      <p:sp>
        <p:nvSpPr>
          <p:cNvPr id="31" name="Shape 15">
            <a:extLst>
              <a:ext uri="{FF2B5EF4-FFF2-40B4-BE49-F238E27FC236}">
                <a16:creationId xmlns:a16="http://schemas.microsoft.com/office/drawing/2014/main" id="{BCACFC84-2B8A-31F0-4006-6F942B77BB5B}"/>
              </a:ext>
            </a:extLst>
          </p:cNvPr>
          <p:cNvSpPr/>
          <p:nvPr/>
        </p:nvSpPr>
        <p:spPr>
          <a:xfrm>
            <a:off x="4879340" y="1089406"/>
            <a:ext cx="2854960" cy="1508760"/>
          </a:xfrm>
          <a:prstGeom prst="roundRect">
            <a:avLst>
              <a:gd name="adj" fmla="val 7273"/>
            </a:avLst>
          </a:prstGeom>
          <a:solidFill>
            <a:srgbClr val="162D50"/>
          </a:solidFill>
          <a:ln w="6350">
            <a:solidFill>
              <a:srgbClr val="1C4E80"/>
            </a:solidFill>
            <a:prstDash val="solid"/>
          </a:ln>
        </p:spPr>
        <p:txBody>
          <a:bodyPr/>
          <a:lstStyle/>
          <a:p>
            <a:endParaRPr lang="en-AE"/>
          </a:p>
        </p:txBody>
      </p:sp>
      <p:sp>
        <p:nvSpPr>
          <p:cNvPr id="32" name="Text 16">
            <a:extLst>
              <a:ext uri="{FF2B5EF4-FFF2-40B4-BE49-F238E27FC236}">
                <a16:creationId xmlns:a16="http://schemas.microsoft.com/office/drawing/2014/main" id="{4FD5E6AE-20BB-0AAB-B59D-98703A4C0538}"/>
              </a:ext>
            </a:extLst>
          </p:cNvPr>
          <p:cNvSpPr/>
          <p:nvPr/>
        </p:nvSpPr>
        <p:spPr>
          <a:xfrm>
            <a:off x="5382514" y="1180846"/>
            <a:ext cx="1810512" cy="329184"/>
          </a:xfrm>
          <a:prstGeom prst="rect">
            <a:avLst/>
          </a:prstGeom>
          <a:noFill/>
          <a:ln/>
        </p:spPr>
        <p:txBody>
          <a:bodyPr wrap="square" rtlCol="0" anchor="ctr"/>
          <a:lstStyle/>
          <a:p>
            <a:pPr marL="0" indent="0" algn="ctr">
              <a:buNone/>
            </a:pPr>
            <a:r>
              <a:rPr lang="en-US" sz="1700" b="1" dirty="0">
                <a:solidFill>
                  <a:srgbClr val="00A8E8"/>
                </a:solidFill>
                <a:latin typeface="Calibri" pitchFamily="34" charset="0"/>
                <a:ea typeface="Calibri" pitchFamily="34" charset="-122"/>
                <a:cs typeface="Calibri" pitchFamily="34" charset="-120"/>
              </a:rPr>
              <a:t>02</a:t>
            </a:r>
            <a:endParaRPr lang="en-US" sz="1700" dirty="0"/>
          </a:p>
        </p:txBody>
      </p:sp>
      <p:sp>
        <p:nvSpPr>
          <p:cNvPr id="33" name="Text 17">
            <a:extLst>
              <a:ext uri="{FF2B5EF4-FFF2-40B4-BE49-F238E27FC236}">
                <a16:creationId xmlns:a16="http://schemas.microsoft.com/office/drawing/2014/main" id="{982CCC2D-CC82-B330-B63B-84DA817A4E4F}"/>
              </a:ext>
            </a:extLst>
          </p:cNvPr>
          <p:cNvSpPr/>
          <p:nvPr/>
        </p:nvSpPr>
        <p:spPr>
          <a:xfrm>
            <a:off x="5382514" y="1528318"/>
            <a:ext cx="1810512"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Forecasting  for Smaller Horizon</a:t>
            </a:r>
            <a:endParaRPr lang="en-US" sz="1200" dirty="0"/>
          </a:p>
        </p:txBody>
      </p:sp>
      <p:sp>
        <p:nvSpPr>
          <p:cNvPr id="34" name="Text 18">
            <a:extLst>
              <a:ext uri="{FF2B5EF4-FFF2-40B4-BE49-F238E27FC236}">
                <a16:creationId xmlns:a16="http://schemas.microsoft.com/office/drawing/2014/main" id="{E383E944-46BA-8FD2-5775-A3AC98580F2A}"/>
              </a:ext>
            </a:extLst>
          </p:cNvPr>
          <p:cNvSpPr/>
          <p:nvPr/>
        </p:nvSpPr>
        <p:spPr>
          <a:xfrm>
            <a:off x="5382514" y="1839214"/>
            <a:ext cx="1810512" cy="685800"/>
          </a:xfrm>
          <a:prstGeom prst="rect">
            <a:avLst/>
          </a:prstGeom>
          <a:noFill/>
          <a:ln/>
        </p:spPr>
        <p:txBody>
          <a:bodyPr wrap="square" rtlCol="0" anchor="ctr"/>
          <a:lstStyle/>
          <a:p>
            <a:pPr algn="ctr">
              <a:lnSpc>
                <a:spcPct val="115000"/>
              </a:lnSpc>
              <a:spcAft>
                <a:spcPts val="1400"/>
              </a:spcAft>
              <a:buSzPct val="100000"/>
            </a:pPr>
            <a:r>
              <a:rPr lang="en-US" sz="1200" dirty="0">
                <a:solidFill>
                  <a:srgbClr val="CBD5E1"/>
                </a:solidFill>
                <a:latin typeface="Calibri" pitchFamily="34" charset="0"/>
                <a:ea typeface="Calibri" pitchFamily="34" charset="-122"/>
                <a:cs typeface="Calibri" pitchFamily="34" charset="-120"/>
              </a:rPr>
              <a:t>Forecast for the lower polling cycle, like 15 min, 30min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icons/team_white.png"/>
          <p:cNvPicPr>
            <a:picLocks noChangeAspect="1"/>
          </p:cNvPicPr>
          <p:nvPr/>
        </p:nvPicPr>
        <p:blipFill>
          <a:blip r:embed="rId3"/>
          <a:stretch>
            <a:fillRect/>
          </a:stretch>
        </p:blipFill>
        <p:spPr>
          <a:xfrm>
            <a:off x="497891" y="395021"/>
            <a:ext cx="211226" cy="211226"/>
          </a:xfrm>
          <a:prstGeom prst="rect">
            <a:avLst/>
          </a:prstGeom>
        </p:spPr>
      </p:pic>
      <p:sp>
        <p:nvSpPr>
          <p:cNvPr id="5" name="Text 2"/>
          <p:cNvSpPr/>
          <p:nvPr/>
        </p:nvSpPr>
        <p:spPr>
          <a:xfrm>
            <a:off x="418039" y="445770"/>
            <a:ext cx="7406640" cy="377190"/>
          </a:xfrm>
          <a:prstGeom prst="rect">
            <a:avLst/>
          </a:prstGeom>
          <a:noFill/>
          <a:ln/>
        </p:spPr>
        <p:txBody>
          <a:bodyPr wrap="square" lIns="0" tIns="0" rIns="0" bIns="0" rtlCol="0" anchor="ctr"/>
          <a:lstStyle/>
          <a:p>
            <a:r>
              <a:rPr lang="en-US" sz="2200" b="1" dirty="0">
                <a:solidFill>
                  <a:srgbClr val="16243B"/>
                </a:solidFill>
                <a:latin typeface="Calibri" panose="020F0502020204030204" pitchFamily="34" charset="0"/>
                <a:ea typeface="Calibri" panose="020F0502020204030204" pitchFamily="34" charset="0"/>
                <a:cs typeface="Calibri" panose="020F0502020204030204" pitchFamily="34" charset="0"/>
              </a:rPr>
              <a:t>Team Contributions</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6" name="Shape 3"/>
          <p:cNvSpPr/>
          <p:nvPr/>
        </p:nvSpPr>
        <p:spPr>
          <a:xfrm>
            <a:off x="411480" y="1165860"/>
            <a:ext cx="2567178" cy="3223260"/>
          </a:xfrm>
          <a:prstGeom prst="roundRect">
            <a:avLst>
              <a:gd name="adj" fmla="val 2137"/>
            </a:avLst>
          </a:prstGeom>
          <a:solidFill>
            <a:srgbClr val="F4F8FB"/>
          </a:solidFill>
          <a:ln/>
          <a:effectLst>
            <a:outerShdw blurRad="177800" dist="38100" dir="5400000" algn="bl" rotWithShape="0">
              <a:srgbClr val="1B2A3D">
                <a:alpha val="14000"/>
              </a:srgbClr>
            </a:outerShdw>
          </a:effectLst>
        </p:spPr>
        <p:txBody>
          <a:bodyPr/>
          <a:lstStyle/>
          <a:p>
            <a:endParaRPr lang="en-AE" sz="1350"/>
          </a:p>
        </p:txBody>
      </p:sp>
      <p:sp>
        <p:nvSpPr>
          <p:cNvPr id="7" name="Shape 4"/>
          <p:cNvSpPr/>
          <p:nvPr/>
        </p:nvSpPr>
        <p:spPr>
          <a:xfrm>
            <a:off x="1420749" y="1405890"/>
            <a:ext cx="548640" cy="548640"/>
          </a:xfrm>
          <a:prstGeom prst="ellipse">
            <a:avLst/>
          </a:prstGeom>
          <a:solidFill>
            <a:srgbClr val="2E9CCA"/>
          </a:solidFill>
          <a:ln/>
        </p:spPr>
        <p:txBody>
          <a:bodyPr/>
          <a:lstStyle/>
          <a:p>
            <a:endParaRPr lang="en-AE" sz="1350"/>
          </a:p>
        </p:txBody>
      </p:sp>
      <p:pic>
        <p:nvPicPr>
          <p:cNvPr id="8" name="Image 1" descr="icons/team_white.png"/>
          <p:cNvPicPr>
            <a:picLocks noChangeAspect="1"/>
          </p:cNvPicPr>
          <p:nvPr/>
        </p:nvPicPr>
        <p:blipFill>
          <a:blip r:embed="rId3"/>
          <a:stretch>
            <a:fillRect/>
          </a:stretch>
        </p:blipFill>
        <p:spPr>
          <a:xfrm>
            <a:off x="1557909" y="1543050"/>
            <a:ext cx="274320" cy="274320"/>
          </a:xfrm>
          <a:prstGeom prst="rect">
            <a:avLst/>
          </a:prstGeom>
        </p:spPr>
      </p:pic>
      <p:sp>
        <p:nvSpPr>
          <p:cNvPr id="9" name="Text 5"/>
          <p:cNvSpPr/>
          <p:nvPr/>
        </p:nvSpPr>
        <p:spPr>
          <a:xfrm>
            <a:off x="548640" y="2091690"/>
            <a:ext cx="2292858" cy="274320"/>
          </a:xfrm>
          <a:prstGeom prst="rect">
            <a:avLst/>
          </a:prstGeom>
          <a:noFill/>
          <a:ln/>
        </p:spPr>
        <p:txBody>
          <a:bodyPr wrap="square" lIns="0" tIns="0" rIns="0" bIns="0" rtlCol="0" anchor="ctr"/>
          <a:lstStyle/>
          <a:p>
            <a:pPr algn="ctr"/>
            <a:r>
              <a:rPr lang="en-US" b="1" dirty="0">
                <a:solidFill>
                  <a:srgbClr val="0F4C75"/>
                </a:solidFill>
                <a:latin typeface="Cambria" pitchFamily="34" charset="0"/>
                <a:ea typeface="Cambria" pitchFamily="34" charset="-122"/>
                <a:cs typeface="Cambria" pitchFamily="34" charset="-120"/>
              </a:rPr>
              <a:t>Reza </a:t>
            </a:r>
            <a:r>
              <a:rPr lang="en-US" b="1" dirty="0" err="1">
                <a:solidFill>
                  <a:srgbClr val="0F4C75"/>
                </a:solidFill>
                <a:latin typeface="Cambria" pitchFamily="34" charset="0"/>
                <a:ea typeface="Cambria" pitchFamily="34" charset="-122"/>
                <a:cs typeface="Cambria" pitchFamily="34" charset="-120"/>
              </a:rPr>
              <a:t>Alavian</a:t>
            </a:r>
            <a:endParaRPr lang="en-US" dirty="0"/>
          </a:p>
        </p:txBody>
      </p:sp>
      <p:sp>
        <p:nvSpPr>
          <p:cNvPr id="11" name="Shape 7"/>
          <p:cNvSpPr/>
          <p:nvPr/>
        </p:nvSpPr>
        <p:spPr>
          <a:xfrm>
            <a:off x="617220" y="2674620"/>
            <a:ext cx="2155698" cy="0"/>
          </a:xfrm>
          <a:prstGeom prst="line">
            <a:avLst/>
          </a:prstGeom>
          <a:noFill/>
          <a:ln w="12700">
            <a:solidFill>
              <a:srgbClr val="E2E8F0"/>
            </a:solidFill>
            <a:prstDash val="solid"/>
          </a:ln>
        </p:spPr>
        <p:txBody>
          <a:bodyPr/>
          <a:lstStyle/>
          <a:p>
            <a:endParaRPr lang="en-AE" sz="1350"/>
          </a:p>
        </p:txBody>
      </p:sp>
      <p:sp>
        <p:nvSpPr>
          <p:cNvPr id="12" name="Text 8"/>
          <p:cNvSpPr/>
          <p:nvPr/>
        </p:nvSpPr>
        <p:spPr>
          <a:xfrm>
            <a:off x="617220" y="2846070"/>
            <a:ext cx="2189988" cy="1440180"/>
          </a:xfrm>
          <a:prstGeom prst="rect">
            <a:avLst/>
          </a:prstGeom>
          <a:noFill/>
          <a:ln/>
        </p:spPr>
        <p:txBody>
          <a:bodyPr wrap="square" rtlCol="0" anchor="t"/>
          <a:lstStyle/>
          <a:p>
            <a:pPr>
              <a:lnSpc>
                <a:spcPct val="115000"/>
              </a:lnSpc>
              <a:spcAft>
                <a:spcPts val="750"/>
              </a:spcAft>
              <a:buSzPct val="100000"/>
            </a:pPr>
            <a:r>
              <a:rPr lang="en-US" sz="1200" dirty="0">
                <a:solidFill>
                  <a:srgbClr val="16243B"/>
                </a:solidFill>
                <a:latin typeface="Calibri" pitchFamily="34" charset="0"/>
                <a:ea typeface="Calibri" pitchFamily="34" charset="-122"/>
                <a:cs typeface="Calibri" pitchFamily="34" charset="-120"/>
              </a:rPr>
              <a:t>Model Training and Deployment</a:t>
            </a:r>
            <a:endParaRPr lang="en-US" sz="1200" dirty="0"/>
          </a:p>
        </p:txBody>
      </p:sp>
      <p:sp>
        <p:nvSpPr>
          <p:cNvPr id="13" name="Shape 9"/>
          <p:cNvSpPr/>
          <p:nvPr/>
        </p:nvSpPr>
        <p:spPr>
          <a:xfrm>
            <a:off x="3287268" y="1165860"/>
            <a:ext cx="2567178" cy="3223260"/>
          </a:xfrm>
          <a:prstGeom prst="roundRect">
            <a:avLst>
              <a:gd name="adj" fmla="val 2137"/>
            </a:avLst>
          </a:prstGeom>
          <a:solidFill>
            <a:srgbClr val="F4F8FB"/>
          </a:solidFill>
          <a:ln/>
          <a:effectLst>
            <a:outerShdw blurRad="177800" dist="38100" dir="5400000" algn="bl" rotWithShape="0">
              <a:srgbClr val="1B2A3D">
                <a:alpha val="14000"/>
              </a:srgbClr>
            </a:outerShdw>
          </a:effectLst>
        </p:spPr>
        <p:txBody>
          <a:bodyPr/>
          <a:lstStyle/>
          <a:p>
            <a:endParaRPr lang="en-AE" sz="1350"/>
          </a:p>
        </p:txBody>
      </p:sp>
      <p:sp>
        <p:nvSpPr>
          <p:cNvPr id="14" name="Shape 10"/>
          <p:cNvSpPr/>
          <p:nvPr/>
        </p:nvSpPr>
        <p:spPr>
          <a:xfrm>
            <a:off x="4296537" y="1405890"/>
            <a:ext cx="548640" cy="548640"/>
          </a:xfrm>
          <a:prstGeom prst="ellipse">
            <a:avLst/>
          </a:prstGeom>
          <a:solidFill>
            <a:srgbClr val="2E9CCA"/>
          </a:solidFill>
          <a:ln/>
        </p:spPr>
        <p:txBody>
          <a:bodyPr/>
          <a:lstStyle/>
          <a:p>
            <a:endParaRPr lang="en-AE" sz="1350"/>
          </a:p>
        </p:txBody>
      </p:sp>
      <p:pic>
        <p:nvPicPr>
          <p:cNvPr id="15" name="Image 2" descr="icons/team_white.png"/>
          <p:cNvPicPr>
            <a:picLocks noChangeAspect="1"/>
          </p:cNvPicPr>
          <p:nvPr/>
        </p:nvPicPr>
        <p:blipFill>
          <a:blip r:embed="rId3"/>
          <a:stretch>
            <a:fillRect/>
          </a:stretch>
        </p:blipFill>
        <p:spPr>
          <a:xfrm>
            <a:off x="4433697" y="1543050"/>
            <a:ext cx="274320" cy="274320"/>
          </a:xfrm>
          <a:prstGeom prst="rect">
            <a:avLst/>
          </a:prstGeom>
        </p:spPr>
      </p:pic>
      <p:sp>
        <p:nvSpPr>
          <p:cNvPr id="16" name="Text 11"/>
          <p:cNvSpPr/>
          <p:nvPr/>
        </p:nvSpPr>
        <p:spPr>
          <a:xfrm>
            <a:off x="3287268" y="2091690"/>
            <a:ext cx="2567178" cy="274320"/>
          </a:xfrm>
          <a:prstGeom prst="rect">
            <a:avLst/>
          </a:prstGeom>
          <a:noFill/>
          <a:ln/>
        </p:spPr>
        <p:txBody>
          <a:bodyPr wrap="square" lIns="0" tIns="0" rIns="0" bIns="0" rtlCol="0" anchor="ctr"/>
          <a:lstStyle/>
          <a:p>
            <a:pPr algn="ctr"/>
            <a:r>
              <a:rPr lang="en-US" b="1" dirty="0">
                <a:solidFill>
                  <a:srgbClr val="0F4C75"/>
                </a:solidFill>
                <a:latin typeface="Cambria" pitchFamily="34" charset="0"/>
                <a:ea typeface="Cambria" pitchFamily="34" charset="-122"/>
              </a:rPr>
              <a:t>Kiran Ahmed Quidwai</a:t>
            </a:r>
          </a:p>
        </p:txBody>
      </p:sp>
      <p:sp>
        <p:nvSpPr>
          <p:cNvPr id="18" name="Shape 13"/>
          <p:cNvSpPr/>
          <p:nvPr/>
        </p:nvSpPr>
        <p:spPr>
          <a:xfrm>
            <a:off x="3493008" y="2674620"/>
            <a:ext cx="2155698" cy="0"/>
          </a:xfrm>
          <a:prstGeom prst="line">
            <a:avLst/>
          </a:prstGeom>
          <a:noFill/>
          <a:ln w="12700">
            <a:solidFill>
              <a:srgbClr val="E2E8F0"/>
            </a:solidFill>
            <a:prstDash val="solid"/>
          </a:ln>
        </p:spPr>
        <p:txBody>
          <a:bodyPr/>
          <a:lstStyle/>
          <a:p>
            <a:endParaRPr lang="en-AE" sz="1350"/>
          </a:p>
        </p:txBody>
      </p:sp>
      <p:sp>
        <p:nvSpPr>
          <p:cNvPr id="19" name="Text 14"/>
          <p:cNvSpPr/>
          <p:nvPr/>
        </p:nvSpPr>
        <p:spPr>
          <a:xfrm>
            <a:off x="3527298" y="2846070"/>
            <a:ext cx="2087118" cy="1440180"/>
          </a:xfrm>
          <a:prstGeom prst="rect">
            <a:avLst/>
          </a:prstGeom>
          <a:noFill/>
          <a:ln/>
        </p:spPr>
        <p:txBody>
          <a:bodyPr wrap="square" rtlCol="0" anchor="t"/>
          <a:lstStyle/>
          <a:p>
            <a:pPr algn="ctr">
              <a:lnSpc>
                <a:spcPct val="115000"/>
              </a:lnSpc>
              <a:spcAft>
                <a:spcPts val="750"/>
              </a:spcAft>
              <a:buSzPct val="100000"/>
            </a:pPr>
            <a:r>
              <a:rPr lang="en-US" sz="1200" dirty="0">
                <a:solidFill>
                  <a:srgbClr val="16243B"/>
                </a:solidFill>
                <a:latin typeface="Calibri" pitchFamily="34" charset="0"/>
                <a:ea typeface="Calibri" pitchFamily="34" charset="-122"/>
                <a:cs typeface="Calibri" pitchFamily="34" charset="-120"/>
              </a:rPr>
              <a:t>Feature Engineering and Research work</a:t>
            </a:r>
          </a:p>
        </p:txBody>
      </p:sp>
      <p:sp>
        <p:nvSpPr>
          <p:cNvPr id="20" name="Shape 15"/>
          <p:cNvSpPr/>
          <p:nvPr/>
        </p:nvSpPr>
        <p:spPr>
          <a:xfrm>
            <a:off x="6163056" y="1165860"/>
            <a:ext cx="2567178" cy="3223260"/>
          </a:xfrm>
          <a:prstGeom prst="roundRect">
            <a:avLst>
              <a:gd name="adj" fmla="val 2137"/>
            </a:avLst>
          </a:prstGeom>
          <a:solidFill>
            <a:srgbClr val="F4F8FB"/>
          </a:solidFill>
          <a:ln/>
          <a:effectLst>
            <a:outerShdw blurRad="177800" dist="38100" dir="5400000" algn="bl" rotWithShape="0">
              <a:srgbClr val="1B2A3D">
                <a:alpha val="14000"/>
              </a:srgbClr>
            </a:outerShdw>
          </a:effectLst>
        </p:spPr>
        <p:txBody>
          <a:bodyPr/>
          <a:lstStyle/>
          <a:p>
            <a:endParaRPr lang="en-CA" sz="1350" dirty="0"/>
          </a:p>
          <a:p>
            <a:endParaRPr lang="en-AE" sz="1350" dirty="0"/>
          </a:p>
          <a:p>
            <a:endParaRPr lang="en-AE" sz="1350" dirty="0"/>
          </a:p>
          <a:p>
            <a:endParaRPr lang="en-AE" sz="1350" dirty="0"/>
          </a:p>
          <a:p>
            <a:endParaRPr lang="en-AE" sz="1350" dirty="0"/>
          </a:p>
          <a:p>
            <a:endParaRPr lang="en-AE" sz="1350" dirty="0"/>
          </a:p>
          <a:p>
            <a:endParaRPr lang="en-AE" sz="1350" dirty="0"/>
          </a:p>
          <a:p>
            <a:endParaRPr lang="en-AE" sz="1350" dirty="0"/>
          </a:p>
          <a:p>
            <a:pPr algn="ctr"/>
            <a:r>
              <a:rPr lang="en-AE" sz="1350" dirty="0"/>
              <a:t>Streaming Process – Kafka and Flink</a:t>
            </a:r>
          </a:p>
        </p:txBody>
      </p:sp>
      <p:sp>
        <p:nvSpPr>
          <p:cNvPr id="21" name="Shape 16"/>
          <p:cNvSpPr/>
          <p:nvPr/>
        </p:nvSpPr>
        <p:spPr>
          <a:xfrm>
            <a:off x="7172325" y="1405890"/>
            <a:ext cx="548640" cy="548640"/>
          </a:xfrm>
          <a:prstGeom prst="ellipse">
            <a:avLst/>
          </a:prstGeom>
          <a:solidFill>
            <a:srgbClr val="2E9CCA"/>
          </a:solidFill>
          <a:ln/>
        </p:spPr>
        <p:txBody>
          <a:bodyPr/>
          <a:lstStyle/>
          <a:p>
            <a:endParaRPr lang="en-AE" sz="1350"/>
          </a:p>
        </p:txBody>
      </p:sp>
      <p:pic>
        <p:nvPicPr>
          <p:cNvPr id="22" name="Image 3" descr="icons/team_white.png"/>
          <p:cNvPicPr>
            <a:picLocks noChangeAspect="1"/>
          </p:cNvPicPr>
          <p:nvPr/>
        </p:nvPicPr>
        <p:blipFill>
          <a:blip r:embed="rId3"/>
          <a:stretch>
            <a:fillRect/>
          </a:stretch>
        </p:blipFill>
        <p:spPr>
          <a:xfrm>
            <a:off x="7309485" y="1543050"/>
            <a:ext cx="274320" cy="274320"/>
          </a:xfrm>
          <a:prstGeom prst="rect">
            <a:avLst/>
          </a:prstGeom>
        </p:spPr>
      </p:pic>
      <p:sp>
        <p:nvSpPr>
          <p:cNvPr id="23" name="Text 17"/>
          <p:cNvSpPr/>
          <p:nvPr/>
        </p:nvSpPr>
        <p:spPr>
          <a:xfrm>
            <a:off x="6300216" y="2091690"/>
            <a:ext cx="2292858" cy="274320"/>
          </a:xfrm>
          <a:prstGeom prst="rect">
            <a:avLst/>
          </a:prstGeom>
          <a:noFill/>
          <a:ln/>
        </p:spPr>
        <p:txBody>
          <a:bodyPr wrap="square" lIns="0" tIns="0" rIns="0" bIns="0" rtlCol="0" anchor="ctr"/>
          <a:lstStyle/>
          <a:p>
            <a:pPr algn="ctr"/>
            <a:r>
              <a:rPr lang="en-US" b="1" dirty="0">
                <a:solidFill>
                  <a:srgbClr val="0F4C75"/>
                </a:solidFill>
                <a:latin typeface="Cambria" pitchFamily="34" charset="0"/>
                <a:ea typeface="Cambria" pitchFamily="34" charset="-122"/>
              </a:rPr>
              <a:t>Emmanuel Omole</a:t>
            </a:r>
          </a:p>
        </p:txBody>
      </p:sp>
      <p:sp>
        <p:nvSpPr>
          <p:cNvPr id="25" name="Shape 19"/>
          <p:cNvSpPr/>
          <p:nvPr/>
        </p:nvSpPr>
        <p:spPr>
          <a:xfrm>
            <a:off x="6368796" y="2674620"/>
            <a:ext cx="2155698" cy="0"/>
          </a:xfrm>
          <a:prstGeom prst="line">
            <a:avLst/>
          </a:prstGeom>
          <a:noFill/>
          <a:ln w="12700">
            <a:solidFill>
              <a:srgbClr val="E2E8F0"/>
            </a:solidFill>
            <a:prstDash val="solid"/>
          </a:ln>
        </p:spPr>
        <p:txBody>
          <a:bodyPr/>
          <a:lstStyle/>
          <a:p>
            <a:endParaRPr lang="en-AE" sz="1350"/>
          </a:p>
        </p:txBody>
      </p:sp>
      <p:sp>
        <p:nvSpPr>
          <p:cNvPr id="26" name="Text 20"/>
          <p:cNvSpPr/>
          <p:nvPr/>
        </p:nvSpPr>
        <p:spPr>
          <a:xfrm>
            <a:off x="6403086" y="2846070"/>
            <a:ext cx="2087118" cy="1440180"/>
          </a:xfrm>
          <a:prstGeom prst="rect">
            <a:avLst/>
          </a:prstGeom>
          <a:noFill/>
          <a:ln/>
        </p:spPr>
        <p:txBody>
          <a:bodyPr wrap="square" rtlCol="0" anchor="t"/>
          <a:lstStyle/>
          <a:p>
            <a:pPr algn="ctr">
              <a:lnSpc>
                <a:spcPct val="115000"/>
              </a:lnSpc>
              <a:spcAft>
                <a:spcPts val="750"/>
              </a:spcAft>
              <a:buSzPct val="100000"/>
            </a:pPr>
            <a:endParaRPr lang="en-US" sz="1200" dirty="0">
              <a:solidFill>
                <a:srgbClr val="16243B"/>
              </a:solidFill>
              <a:latin typeface="Calibri" pitchFamily="34" charset="0"/>
              <a:ea typeface="Calibri" pitchFamily="34" charset="-122"/>
              <a:cs typeface="Calibri" pitchFamily="34" charset="-120"/>
            </a:endParaRPr>
          </a:p>
        </p:txBody>
      </p:sp>
      <p:sp>
        <p:nvSpPr>
          <p:cNvPr id="27" name="Text 21"/>
          <p:cNvSpPr/>
          <p:nvPr/>
        </p:nvSpPr>
        <p:spPr>
          <a:xfrm>
            <a:off x="8524494" y="4834890"/>
            <a:ext cx="342900" cy="205740"/>
          </a:xfrm>
          <a:prstGeom prst="rect">
            <a:avLst/>
          </a:prstGeom>
          <a:noFill/>
          <a:ln/>
        </p:spPr>
        <p:txBody>
          <a:bodyPr wrap="square" lIns="0" tIns="0" rIns="0" bIns="0" rtlCol="0" anchor="ctr"/>
          <a:lstStyle/>
          <a:p>
            <a:pPr algn="r"/>
            <a:r>
              <a:rPr lang="en-US" sz="750" dirty="0">
                <a:solidFill>
                  <a:srgbClr val="5B6B7C"/>
                </a:solidFill>
                <a:latin typeface="Calibri" pitchFamily="34" charset="0"/>
                <a:ea typeface="Calibri" pitchFamily="34" charset="-122"/>
                <a:cs typeface="Calibri" pitchFamily="34" charset="-120"/>
              </a:rPr>
              <a:t>17</a:t>
            </a:r>
            <a:endParaRPr lang="en-US" sz="750" dirty="0"/>
          </a:p>
        </p:txBody>
      </p:sp>
      <p:pic>
        <p:nvPicPr>
          <p:cNvPr id="2" name="image1.png" descr="University of Ontario Institute of Technology logo">
            <a:extLst>
              <a:ext uri="{FF2B5EF4-FFF2-40B4-BE49-F238E27FC236}">
                <a16:creationId xmlns:a16="http://schemas.microsoft.com/office/drawing/2014/main" id="{BF3D1D59-C2CE-DA05-60EC-128CAF039E02}"/>
              </a:ext>
            </a:extLst>
          </p:cNvPr>
          <p:cNvPicPr/>
          <p:nvPr/>
        </p:nvPicPr>
        <p:blipFill>
          <a:blip r:embed="rId4"/>
          <a:srcRect/>
          <a:stretch>
            <a:fillRect/>
          </a:stretch>
        </p:blipFill>
        <p:spPr>
          <a:xfrm>
            <a:off x="7570692" y="98790"/>
            <a:ext cx="1416424" cy="404310"/>
          </a:xfrm>
          <a:prstGeom prst="rect">
            <a:avLst/>
          </a:prstGeo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6" name="Shape 4"/>
          <p:cNvSpPr/>
          <p:nvPr/>
        </p:nvSpPr>
        <p:spPr>
          <a:xfrm>
            <a:off x="4296537" y="1714500"/>
            <a:ext cx="548640" cy="548640"/>
          </a:xfrm>
          <a:prstGeom prst="ellipse">
            <a:avLst/>
          </a:prstGeom>
          <a:solidFill>
            <a:srgbClr val="2E9CCA"/>
          </a:solidFill>
          <a:ln/>
        </p:spPr>
        <p:txBody>
          <a:bodyPr/>
          <a:lstStyle/>
          <a:p>
            <a:endParaRPr lang="en-AE" sz="1350"/>
          </a:p>
        </p:txBody>
      </p:sp>
      <p:pic>
        <p:nvPicPr>
          <p:cNvPr id="7" name="Image 0" descr="icons/question_white.png"/>
          <p:cNvPicPr>
            <a:picLocks noChangeAspect="1"/>
          </p:cNvPicPr>
          <p:nvPr/>
        </p:nvPicPr>
        <p:blipFill>
          <a:blip r:embed="rId3"/>
          <a:stretch>
            <a:fillRect/>
          </a:stretch>
        </p:blipFill>
        <p:spPr>
          <a:xfrm>
            <a:off x="4433697" y="1851660"/>
            <a:ext cx="274320" cy="274320"/>
          </a:xfrm>
          <a:prstGeom prst="rect">
            <a:avLst/>
          </a:prstGeom>
        </p:spPr>
      </p:pic>
      <p:sp>
        <p:nvSpPr>
          <p:cNvPr id="8" name="Text 5"/>
          <p:cNvSpPr/>
          <p:nvPr/>
        </p:nvSpPr>
        <p:spPr>
          <a:xfrm>
            <a:off x="0" y="2434590"/>
            <a:ext cx="9141714" cy="548640"/>
          </a:xfrm>
          <a:prstGeom prst="rect">
            <a:avLst/>
          </a:prstGeom>
          <a:noFill/>
          <a:ln/>
        </p:spPr>
        <p:txBody>
          <a:bodyPr wrap="square" lIns="0" tIns="0" rIns="0" bIns="0" rtlCol="0" anchor="ctr"/>
          <a:lstStyle/>
          <a:p>
            <a:pPr algn="ctr"/>
            <a:r>
              <a:rPr lang="en-US" sz="2850" b="1" dirty="0">
                <a:solidFill>
                  <a:srgbClr val="FFFFFF"/>
                </a:solidFill>
                <a:latin typeface="Cambria" pitchFamily="34" charset="0"/>
                <a:ea typeface="Cambria" pitchFamily="34" charset="-122"/>
                <a:cs typeface="Cambria" pitchFamily="34" charset="-120"/>
              </a:rPr>
              <a:t>Thank You</a:t>
            </a:r>
            <a:endParaRPr lang="en-US" sz="2850" dirty="0"/>
          </a:p>
        </p:txBody>
      </p:sp>
      <p:sp>
        <p:nvSpPr>
          <p:cNvPr id="9" name="Text 6"/>
          <p:cNvSpPr/>
          <p:nvPr/>
        </p:nvSpPr>
        <p:spPr>
          <a:xfrm>
            <a:off x="0" y="3017520"/>
            <a:ext cx="9141714" cy="342900"/>
          </a:xfrm>
          <a:prstGeom prst="rect">
            <a:avLst/>
          </a:prstGeom>
          <a:noFill/>
          <a:ln/>
        </p:spPr>
        <p:txBody>
          <a:bodyPr wrap="square" lIns="0" tIns="0" rIns="0" bIns="0" rtlCol="0" anchor="ctr"/>
          <a:lstStyle/>
          <a:p>
            <a:pPr algn="ctr"/>
            <a:r>
              <a:rPr lang="en-US" sz="3000" dirty="0">
                <a:solidFill>
                  <a:srgbClr val="BFE0EE"/>
                </a:solidFill>
                <a:latin typeface="Calibri" pitchFamily="34" charset="0"/>
                <a:ea typeface="Calibri" pitchFamily="34" charset="-122"/>
                <a:cs typeface="Calibri" pitchFamily="34" charset="-120"/>
              </a:rPr>
              <a:t>Questions &amp; Discussion</a:t>
            </a:r>
            <a:endParaRPr lang="en-US" sz="3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2">
            <a:extLst>
              <a:ext uri="{FF2B5EF4-FFF2-40B4-BE49-F238E27FC236}">
                <a16:creationId xmlns:a16="http://schemas.microsoft.com/office/drawing/2014/main" id="{5B48659E-A46D-B325-417A-FC7A45C9CA95}"/>
              </a:ext>
            </a:extLst>
          </p:cNvPr>
          <p:cNvSpPr/>
          <p:nvPr/>
        </p:nvSpPr>
        <p:spPr>
          <a:xfrm>
            <a:off x="411480" y="533276"/>
            <a:ext cx="7406640" cy="377190"/>
          </a:xfrm>
          <a:prstGeom prst="rect">
            <a:avLst/>
          </a:prstGeom>
          <a:noFill/>
          <a:ln/>
        </p:spPr>
        <p:txBody>
          <a:bodyPr wrap="square" lIns="0" tIns="0" rIns="0" bIns="0" rtlCol="0" anchor="ctr"/>
          <a:lstStyle/>
          <a:p>
            <a:r>
              <a:rPr lang="en-US" sz="2200" b="1" dirty="0">
                <a:latin typeface="Calibri" panose="020F0502020204030204" pitchFamily="34" charset="0"/>
                <a:ea typeface="Calibri" panose="020F0502020204030204" pitchFamily="34" charset="0"/>
                <a:cs typeface="Calibri" panose="020F0502020204030204" pitchFamily="34" charset="0"/>
              </a:rPr>
              <a:t>References</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2">
            <a:extLst>
              <a:ext uri="{FF2B5EF4-FFF2-40B4-BE49-F238E27FC236}">
                <a16:creationId xmlns:a16="http://schemas.microsoft.com/office/drawing/2014/main" id="{0888667C-2354-7FCD-E5A3-88191097DA67}"/>
              </a:ext>
            </a:extLst>
          </p:cNvPr>
          <p:cNvSpPr/>
          <p:nvPr/>
        </p:nvSpPr>
        <p:spPr>
          <a:xfrm>
            <a:off x="461178" y="913333"/>
            <a:ext cx="8277308" cy="3787264"/>
          </a:xfrm>
          <a:prstGeom prst="rect">
            <a:avLst/>
          </a:prstGeom>
          <a:noFill/>
          <a:ln/>
        </p:spPr>
        <p:txBody>
          <a:bodyPr wrap="square" lIns="0" tIns="0" rIns="0" bIns="0" rtlCol="0" anchor="ctr"/>
          <a:lstStyle/>
          <a:p>
            <a:pPr marL="257175" indent="-257175">
              <a:buFont typeface="+mj-lt"/>
              <a:buAutoNum type="arabicPeriod"/>
            </a:pPr>
            <a:r>
              <a:rPr lang="en-AE" sz="1200" dirty="0"/>
              <a:t>Box, G. E. P., Jenkins, G. M., Reinsel, G. C., &amp; Ljung, G. M. (2015). </a:t>
            </a:r>
            <a:r>
              <a:rPr lang="en-AE" sz="1200" i="1" dirty="0"/>
              <a:t>Time Series Analysis: Forecasting and Control</a:t>
            </a:r>
            <a:r>
              <a:rPr lang="en-AE" sz="1200" dirty="0"/>
              <a:t>. Wiley.</a:t>
            </a:r>
          </a:p>
          <a:p>
            <a:pPr marL="257175" indent="-257175">
              <a:buFont typeface="+mj-lt"/>
              <a:buAutoNum type="arabicPeriod"/>
            </a:pPr>
            <a:r>
              <a:rPr lang="en-AE" sz="1200" dirty="0"/>
              <a:t>Hochreiter, S., &amp; </a:t>
            </a:r>
            <a:r>
              <a:rPr lang="en-AE" sz="1200" dirty="0" err="1"/>
              <a:t>Schmidhuber</a:t>
            </a:r>
            <a:r>
              <a:rPr lang="en-AE" sz="1200" dirty="0"/>
              <a:t>, J. (1997). Long Short-Term Memory. </a:t>
            </a:r>
            <a:r>
              <a:rPr lang="en-AE" sz="1200" i="1" dirty="0"/>
              <a:t>Neural Computation</a:t>
            </a:r>
            <a:r>
              <a:rPr lang="en-AE" sz="1200" dirty="0"/>
              <a:t>, 9(8), 1735–1780.</a:t>
            </a:r>
          </a:p>
          <a:p>
            <a:pPr marL="257175" indent="-257175">
              <a:buFont typeface="+mj-lt"/>
              <a:buAutoNum type="arabicPeriod"/>
            </a:pPr>
            <a:r>
              <a:rPr lang="en-AE" sz="1200" dirty="0"/>
              <a:t>Zhang, Y., Bocquet, M., Mallet, V., </a:t>
            </a:r>
            <a:r>
              <a:rPr lang="en-AE" sz="1200" dirty="0" err="1"/>
              <a:t>Seigneur</a:t>
            </a:r>
            <a:r>
              <a:rPr lang="en-AE" sz="1200" dirty="0"/>
              <a:t>, C., &amp; Baklanov, A. (2018). Real-time air quality forecasting, part I: History, techniques, and current status. </a:t>
            </a:r>
            <a:r>
              <a:rPr lang="en-AE" sz="1200" i="1" dirty="0"/>
              <a:t>Atmospheric Environment</a:t>
            </a:r>
            <a:r>
              <a:rPr lang="en-AE" sz="1200" dirty="0"/>
              <a:t>, 60, 632–655.</a:t>
            </a:r>
          </a:p>
          <a:p>
            <a:pPr marL="257175" indent="-257175">
              <a:buFont typeface="+mj-lt"/>
              <a:buAutoNum type="arabicPeriod"/>
            </a:pPr>
            <a:r>
              <a:rPr lang="en-AE" sz="1200" dirty="0"/>
              <a:t>Wu, Z., Pan, S., Chen, F., Long, G., Zhang, C., &amp; Yu, P. S. (2021). A Comprehensive Survey on Graph Neural Networks. </a:t>
            </a:r>
            <a:r>
              <a:rPr lang="en-AE" sz="1200" i="1" dirty="0"/>
              <a:t>IEEE Transactions on Neural Networks and Learning Systems</a:t>
            </a:r>
            <a:r>
              <a:rPr lang="en-AE" sz="1200" dirty="0"/>
              <a:t>, 32(1), 4–24.</a:t>
            </a:r>
          </a:p>
          <a:p>
            <a:pPr marL="257175" indent="-257175">
              <a:buFont typeface="+mj-lt"/>
              <a:buAutoNum type="arabicPeriod"/>
            </a:pPr>
            <a:r>
              <a:rPr lang="en-AE" sz="1200" dirty="0"/>
              <a:t>Nguyen, T., et al. (2023). </a:t>
            </a:r>
            <a:r>
              <a:rPr lang="en-AE" sz="1200" dirty="0" err="1"/>
              <a:t>ClimaX</a:t>
            </a:r>
            <a:r>
              <a:rPr lang="en-AE" sz="1200" dirty="0"/>
              <a:t>: A Foundation Model for Weather and Climate. </a:t>
            </a:r>
            <a:r>
              <a:rPr lang="en-AE" sz="1200" i="1" dirty="0"/>
              <a:t>ICML 2023</a:t>
            </a:r>
            <a:r>
              <a:rPr lang="en-AE" sz="1200" dirty="0"/>
              <a:t>.</a:t>
            </a:r>
          </a:p>
          <a:p>
            <a:pPr marL="257175" indent="-257175">
              <a:buFont typeface="+mj-lt"/>
              <a:buAutoNum type="arabicPeriod"/>
            </a:pPr>
            <a:r>
              <a:rPr lang="en-AE" sz="1200" dirty="0" err="1"/>
              <a:t>Kheder</a:t>
            </a:r>
            <a:r>
              <a:rPr lang="en-AE" sz="1200" dirty="0"/>
              <a:t>, A., Toropainen, H., Peng, W., Antão, S., Chen, J., Boy, M., &amp; Liu, Z. S. (2026). </a:t>
            </a:r>
            <a:r>
              <a:rPr lang="en-AE" sz="1200" dirty="0" err="1"/>
              <a:t>TopoFlow</a:t>
            </a:r>
            <a:r>
              <a:rPr lang="en-AE" sz="1200" dirty="0"/>
              <a:t>: Topography-aware Pollutant Flow Learning for High-Resolution Air Quality Prediction. </a:t>
            </a:r>
            <a:r>
              <a:rPr lang="en-AE" sz="1200" i="1" dirty="0" err="1"/>
              <a:t>npj</a:t>
            </a:r>
            <a:r>
              <a:rPr lang="en-AE" sz="1200" i="1" dirty="0"/>
              <a:t> Clean Air</a:t>
            </a:r>
            <a:r>
              <a:rPr lang="en-AE" sz="1200" dirty="0"/>
              <a:t>, 2, 12.</a:t>
            </a:r>
          </a:p>
          <a:p>
            <a:pPr marL="257175" indent="-257175">
              <a:buFont typeface="+mj-lt"/>
              <a:buAutoNum type="arabicPeriod"/>
            </a:pPr>
            <a:r>
              <a:rPr lang="en-AE" sz="1200" dirty="0"/>
              <a:t>Inness, A., et al. (2019). The CAMS global reanalysis of atmospheric composition. </a:t>
            </a:r>
            <a:r>
              <a:rPr lang="en-AE" sz="1200" i="1" dirty="0"/>
              <a:t>Atmospheric Chemistry and Physics</a:t>
            </a:r>
            <a:r>
              <a:rPr lang="en-AE" sz="1200" dirty="0"/>
              <a:t>, 19, 3515–3556.</a:t>
            </a:r>
          </a:p>
          <a:p>
            <a:pPr marL="257175" indent="-257175">
              <a:buFont typeface="+mj-lt"/>
              <a:buAutoNum type="arabicPeriod"/>
            </a:pPr>
            <a:r>
              <a:rPr lang="en-AE" sz="1200" dirty="0"/>
              <a:t>Dai, T., et al. (2019). CUACE: Operational Air Quality Forecasting System in China. </a:t>
            </a:r>
            <a:r>
              <a:rPr lang="en-AE" sz="1200" i="1" dirty="0"/>
              <a:t>Atmospheric Environment</a:t>
            </a:r>
            <a:r>
              <a:rPr lang="en-AE" sz="1200" dirty="0"/>
              <a:t>.</a:t>
            </a:r>
          </a:p>
          <a:p>
            <a:pPr marL="257175" indent="-257175">
              <a:buFont typeface="+mj-lt"/>
              <a:buAutoNum type="arabicPeriod"/>
            </a:pPr>
            <a:r>
              <a:rPr lang="en-AE" sz="1200" dirty="0" err="1"/>
              <a:t>Dimri</a:t>
            </a:r>
            <a:r>
              <a:rPr lang="en-AE" sz="1200" dirty="0"/>
              <a:t>, R., Choi, Y., Singh, D., &amp; Park, J. (2026). TransNet: A transport-informed graph neural network for forecasting PM2.5 concentrations across South Korea. </a:t>
            </a:r>
            <a:r>
              <a:rPr lang="en-AE" sz="1200" dirty="0" err="1"/>
              <a:t>npj</a:t>
            </a:r>
            <a:r>
              <a:rPr lang="en-AE" sz="1200" dirty="0"/>
              <a:t> Clean Air, 2(1). </a:t>
            </a:r>
            <a:r>
              <a:rPr lang="en-AE" sz="1200" dirty="0">
                <a:hlinkClick r:id="rId2">
                  <a:extLst>
                    <a:ext uri="{A12FA001-AC4F-418D-AE19-62706E023703}">
                      <ahyp:hlinkClr xmlns:ahyp="http://schemas.microsoft.com/office/drawing/2018/hyperlinkcolor" val="tx"/>
                    </a:ext>
                  </a:extLst>
                </a:hlinkClick>
              </a:rPr>
              <a:t>https://doi.org/10.1038/s44407-026-00052-x</a:t>
            </a:r>
            <a:endParaRPr lang="en-AE" sz="1200" dirty="0"/>
          </a:p>
          <a:p>
            <a:pPr marL="257175" indent="-257175">
              <a:buFont typeface="+mj-lt"/>
              <a:buAutoNum type="arabicPeriod"/>
            </a:pPr>
            <a:r>
              <a:rPr lang="en-AE" sz="1200" dirty="0"/>
              <a:t>J. Xu et al., “Dynamic Graph Neural Network with Adaptive Edge Attributes for Air Quality Predictions,” arXiv:2302.09977, 2023.</a:t>
            </a:r>
          </a:p>
          <a:p>
            <a:pPr marL="257175" indent="-257175">
              <a:buFont typeface="+mj-lt"/>
              <a:buAutoNum type="arabicPeriod"/>
            </a:pPr>
            <a:r>
              <a:rPr lang="en-AE" sz="1200" dirty="0"/>
              <a:t>Around 400 000 premature deaths annually linked to air pollution in the Eastern Mediterranean Region. </a:t>
            </a:r>
            <a:r>
              <a:rPr lang="en-CA" sz="1200" dirty="0">
                <a:hlinkClick r:id="rId3">
                  <a:extLst>
                    <a:ext uri="{A12FA001-AC4F-418D-AE19-62706E023703}">
                      <ahyp:hlinkClr xmlns:ahyp="http://schemas.microsoft.com/office/drawing/2018/hyperlinkcolor" val="tx"/>
                    </a:ext>
                  </a:extLst>
                </a:hlinkClick>
              </a:rPr>
              <a:t>https://www.emro.who.int/ceha/ceha-news/air-pollution-deaths.html</a:t>
            </a:r>
            <a:r>
              <a:rPr lang="en-CA" sz="1200" dirty="0"/>
              <a:t> </a:t>
            </a:r>
          </a:p>
          <a:p>
            <a:pPr marL="257175" indent="-257175">
              <a:buFont typeface="+mj-lt"/>
              <a:buAutoNum type="arabicPeriod"/>
            </a:pPr>
            <a:r>
              <a:rPr lang="en-CA" sz="1200" dirty="0"/>
              <a:t>Environmental Protection Agency AQI breakpoints. </a:t>
            </a:r>
            <a:r>
              <a:rPr lang="en-CA" sz="1200" dirty="0">
                <a:hlinkClick r:id="rId4"/>
              </a:rPr>
              <a:t>https://aqs.epa.gov/aqsweb/documents/codetables/aqi_breakpoints.html</a:t>
            </a:r>
            <a:endParaRPr lang="en-CA" sz="1200" dirty="0"/>
          </a:p>
        </p:txBody>
      </p:sp>
      <p:sp>
        <p:nvSpPr>
          <p:cNvPr id="5" name="Text 27">
            <a:extLst>
              <a:ext uri="{FF2B5EF4-FFF2-40B4-BE49-F238E27FC236}">
                <a16:creationId xmlns:a16="http://schemas.microsoft.com/office/drawing/2014/main" id="{16C33E5A-A741-8215-8AD5-68BE67289BAA}"/>
              </a:ext>
            </a:extLst>
          </p:cNvPr>
          <p:cNvSpPr/>
          <p:nvPr/>
        </p:nvSpPr>
        <p:spPr>
          <a:xfrm>
            <a:off x="8524494" y="4834890"/>
            <a:ext cx="342900" cy="205740"/>
          </a:xfrm>
          <a:prstGeom prst="rect">
            <a:avLst/>
          </a:prstGeom>
          <a:noFill/>
          <a:ln/>
        </p:spPr>
        <p:txBody>
          <a:bodyPr wrap="square" lIns="0" tIns="0" rIns="0" bIns="0" rtlCol="0" anchor="ctr"/>
          <a:lstStyle/>
          <a:p>
            <a:pPr algn="r"/>
            <a:r>
              <a:rPr lang="en-US" sz="750" dirty="0">
                <a:solidFill>
                  <a:srgbClr val="5B6B7C"/>
                </a:solidFill>
                <a:latin typeface="Calibri" pitchFamily="34" charset="0"/>
                <a:ea typeface="Calibri" pitchFamily="34" charset="-122"/>
                <a:cs typeface="Calibri" pitchFamily="34" charset="-120"/>
              </a:rPr>
              <a:t>21</a:t>
            </a:r>
            <a:endParaRPr lang="en-US" sz="750" dirty="0"/>
          </a:p>
        </p:txBody>
      </p:sp>
      <p:pic>
        <p:nvPicPr>
          <p:cNvPr id="6" name="image1.png" descr="University of Ontario Institute of Technology logo">
            <a:extLst>
              <a:ext uri="{FF2B5EF4-FFF2-40B4-BE49-F238E27FC236}">
                <a16:creationId xmlns:a16="http://schemas.microsoft.com/office/drawing/2014/main" id="{8949138E-608E-A0AE-4A71-6DBBFEA4F92B}"/>
              </a:ext>
            </a:extLst>
          </p:cNvPr>
          <p:cNvPicPr/>
          <p:nvPr/>
        </p:nvPicPr>
        <p:blipFill>
          <a:blip r:embed="rId5"/>
          <a:srcRect/>
          <a:stretch>
            <a:fillRect/>
          </a:stretch>
        </p:blipFill>
        <p:spPr>
          <a:xfrm>
            <a:off x="7570692" y="98790"/>
            <a:ext cx="1416424" cy="404310"/>
          </a:xfrm>
          <a:prstGeom prst="rect">
            <a:avLst/>
          </a:prstGeom>
          <a:ln/>
        </p:spPr>
      </p:pic>
    </p:spTree>
    <p:extLst>
      <p:ext uri="{BB962C8B-B14F-4D97-AF65-F5344CB8AC3E}">
        <p14:creationId xmlns:p14="http://schemas.microsoft.com/office/powerpoint/2010/main" val="2784841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3658</TotalTime>
  <Words>2515</Words>
  <Application>Microsoft Office PowerPoint</Application>
  <PresentationFormat>On-screen Show (16:9)</PresentationFormat>
  <Paragraphs>425</Paragraphs>
  <Slides>21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Air Quality Forecasting Using Wind-Aware Diffusion Features</dc:title>
  <dc:subject>PptxGenJS Presentation</dc:subject>
  <dc:creator>PptxGenJS</dc:creator>
  <cp:lastModifiedBy>Kiran Ahmed Quidwai</cp:lastModifiedBy>
  <cp:revision>109</cp:revision>
  <dcterms:created xsi:type="dcterms:W3CDTF">2026-06-20T01:58:22Z</dcterms:created>
  <dcterms:modified xsi:type="dcterms:W3CDTF">2026-06-23T00:19:37Z</dcterms:modified>
</cp:coreProperties>
</file>